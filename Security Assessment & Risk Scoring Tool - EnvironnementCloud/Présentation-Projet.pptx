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Aptos" panose="020B0604020202020204" charset="0"/>
      <p:regular r:id="rId27"/>
    </p:embeddedFont>
    <p:embeddedFont>
      <p:font typeface="Aptos Bold" panose="020B0604020202020204" charset="0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Georgia" panose="02040502050405020303" pitchFamily="18" charset="0"/>
      <p:regular r:id="rId33"/>
      <p:bold r:id="rId34"/>
      <p:italic r:id="rId35"/>
      <p:boldItalic r:id="rId36"/>
    </p:embeddedFont>
    <p:embeddedFont>
      <p:font typeface="Georgia Bold" panose="02040802050405020203" pitchFamily="18" charset="0"/>
      <p:regular r:id="rId37"/>
      <p:bold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7" d="100"/>
          <a:sy n="57" d="100"/>
        </p:scale>
        <p:origin x="318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84332" y="665710"/>
            <a:ext cx="3991965" cy="888212"/>
          </a:xfrm>
          <a:custGeom>
            <a:avLst/>
            <a:gdLst/>
            <a:ahLst/>
            <a:cxnLst/>
            <a:rect l="l" t="t" r="r" b="b"/>
            <a:pathLst>
              <a:path w="3991965" h="888212">
                <a:moveTo>
                  <a:pt x="0" y="0"/>
                </a:moveTo>
                <a:lnTo>
                  <a:pt x="3991965" y="0"/>
                </a:lnTo>
                <a:lnTo>
                  <a:pt x="3991965" y="888212"/>
                </a:lnTo>
                <a:lnTo>
                  <a:pt x="0" y="888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05556" y="111683"/>
            <a:ext cx="3553959" cy="1996266"/>
          </a:xfrm>
          <a:custGeom>
            <a:avLst/>
            <a:gdLst/>
            <a:ahLst/>
            <a:cxnLst/>
            <a:rect l="l" t="t" r="r" b="b"/>
            <a:pathLst>
              <a:path w="3553959" h="1996266">
                <a:moveTo>
                  <a:pt x="0" y="0"/>
                </a:moveTo>
                <a:lnTo>
                  <a:pt x="3553959" y="0"/>
                </a:lnTo>
                <a:lnTo>
                  <a:pt x="3553959" y="1996266"/>
                </a:lnTo>
                <a:lnTo>
                  <a:pt x="0" y="1996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86057" y="557279"/>
            <a:ext cx="16911323" cy="594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RAPPORT DE STAGE PFA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6057" y="1188215"/>
            <a:ext cx="16911323" cy="484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BU Offensive Security – DATAPROTECT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6057" y="2222249"/>
            <a:ext cx="16911323" cy="630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1" dirty="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Cloud Risk Assessment Tool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6057" y="3200276"/>
            <a:ext cx="16911323" cy="42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Sujet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00557" y="3721484"/>
            <a:ext cx="13482323" cy="1517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Développement d’un outil de découverte et de scoring</a:t>
            </a:r>
          </a:p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de risque sur un environnement cloud fictif</a:t>
            </a:r>
          </a:p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(AWS/Azure), avec détection des mauvaises</a:t>
            </a:r>
          </a:p>
          <a:p>
            <a:pPr algn="ctr">
              <a:lnSpc>
                <a:spcPts val="3060"/>
              </a:lnSpc>
            </a:pPr>
            <a:r>
              <a:rPr lang="en-US" sz="255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configurations IAM, buckets exposés et assets orphelins.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9017" y="8151752"/>
            <a:ext cx="4114295" cy="3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Réalisé par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09017" y="8590664"/>
            <a:ext cx="4388615" cy="3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KHALED Chahid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70037" y="8151752"/>
            <a:ext cx="4114295" cy="3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Encadré par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70037" y="8572757"/>
            <a:ext cx="5485895" cy="571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M. ABDESSADKI Imad</a:t>
            </a:r>
          </a:p>
          <a:p>
            <a:pPr algn="l">
              <a:lnSpc>
                <a:spcPts val="2250"/>
              </a:lnSpc>
            </a:pPr>
            <a:r>
              <a:rPr lang="en-US" sz="1875" dirty="0" err="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Mme</a:t>
            </a:r>
            <a:r>
              <a:rPr lang="en-US" sz="1875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AKROUT Salma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Introduction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Plan de la présentation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02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40180" y="2263140"/>
            <a:ext cx="7406640" cy="5760720"/>
            <a:chOff x="0" y="0"/>
            <a:chExt cx="9875520" cy="76809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875520" cy="7680960"/>
            </a:xfrm>
            <a:custGeom>
              <a:avLst/>
              <a:gdLst/>
              <a:ahLst/>
              <a:cxnLst/>
              <a:rect l="l" t="t" r="r" b="b"/>
              <a:pathLst>
                <a:path w="9875520" h="7680960">
                  <a:moveTo>
                    <a:pt x="0" y="0"/>
                  </a:moveTo>
                  <a:lnTo>
                    <a:pt x="9875520" y="0"/>
                  </a:lnTo>
                  <a:lnTo>
                    <a:pt x="9875520" y="7680960"/>
                  </a:lnTo>
                  <a:lnTo>
                    <a:pt x="0" y="7680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r="-4979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9875520" cy="7680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80085" lvl="1" indent="-340042" algn="l">
                <a:lnSpc>
                  <a:spcPts val="3779"/>
                </a:lnSpc>
                <a:buFont typeface="Arial"/>
                <a:buChar char="•"/>
              </a:pPr>
              <a:r>
                <a:rPr lang="en-US" sz="31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Sujet et objectifs du projet</a:t>
              </a:r>
            </a:p>
            <a:p>
              <a:pPr algn="l">
                <a:lnSpc>
                  <a:spcPts val="3779"/>
                </a:lnSpc>
              </a:pPr>
              <a:endParaRPr lang="en-US" sz="3150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680085" lvl="1" indent="-340042" algn="l">
                <a:lnSpc>
                  <a:spcPts val="3779"/>
                </a:lnSpc>
                <a:buFont typeface="Arial"/>
                <a:buChar char="•"/>
              </a:pPr>
              <a:r>
                <a:rPr lang="en-US" sz="31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Architecture générale du pipeline</a:t>
              </a:r>
            </a:p>
            <a:p>
              <a:pPr algn="l">
                <a:lnSpc>
                  <a:spcPts val="3779"/>
                </a:lnSpc>
              </a:pPr>
              <a:endParaRPr lang="en-US" sz="3150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680085" lvl="1" indent="-340042" algn="l">
                <a:lnSpc>
                  <a:spcPts val="3779"/>
                </a:lnSpc>
                <a:buFont typeface="Arial"/>
                <a:buChar char="•"/>
              </a:pPr>
              <a:r>
                <a:rPr lang="en-US" sz="31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Implémentation AWS avec LocalStack</a:t>
              </a:r>
            </a:p>
            <a:p>
              <a:pPr algn="l">
                <a:lnSpc>
                  <a:spcPts val="3779"/>
                </a:lnSpc>
              </a:pPr>
              <a:endParaRPr lang="en-US" sz="3150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680085" lvl="1" indent="-340042" algn="l">
                <a:lnSpc>
                  <a:spcPts val="3779"/>
                </a:lnSpc>
                <a:buFont typeface="Arial"/>
                <a:buChar char="•"/>
              </a:pPr>
              <a:r>
                <a:rPr lang="en-US" sz="31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Implémentation Azure avec Topaz</a:t>
              </a:r>
            </a:p>
            <a:p>
              <a:pPr algn="l">
                <a:lnSpc>
                  <a:spcPts val="3779"/>
                </a:lnSpc>
              </a:pPr>
              <a:endParaRPr lang="en-US" sz="3150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680085" lvl="1" indent="-340042" algn="l">
                <a:lnSpc>
                  <a:spcPts val="3779"/>
                </a:lnSpc>
                <a:buFont typeface="Arial"/>
                <a:buChar char="•"/>
              </a:pPr>
              <a:r>
                <a:rPr lang="en-US" sz="31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Tests, résultats et validation</a:t>
              </a:r>
            </a:p>
            <a:p>
              <a:pPr algn="l">
                <a:lnSpc>
                  <a:spcPts val="3779"/>
                </a:lnSpc>
              </a:pPr>
              <a:endParaRPr lang="en-US" sz="3150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680085" lvl="1" indent="-340042" algn="l">
                <a:lnSpc>
                  <a:spcPts val="3779"/>
                </a:lnSpc>
                <a:buFont typeface="Arial"/>
                <a:buChar char="•"/>
              </a:pPr>
              <a:r>
                <a:rPr lang="en-US" sz="31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Conclusion, limites et perspectives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071735" y="2870835"/>
            <a:ext cx="6259830" cy="3379470"/>
            <a:chOff x="0" y="0"/>
            <a:chExt cx="8346440" cy="45059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346440" cy="4505960"/>
            </a:xfrm>
            <a:custGeom>
              <a:avLst/>
              <a:gdLst/>
              <a:ahLst/>
              <a:cxnLst/>
              <a:rect l="l" t="t" r="r" b="b"/>
              <a:pathLst>
                <a:path w="8346440" h="4505960">
                  <a:moveTo>
                    <a:pt x="0" y="91948"/>
                  </a:moveTo>
                  <a:cubicBezTo>
                    <a:pt x="0" y="41148"/>
                    <a:pt x="41148" y="0"/>
                    <a:pt x="91948" y="0"/>
                  </a:cubicBezTo>
                  <a:lnTo>
                    <a:pt x="8254492" y="0"/>
                  </a:lnTo>
                  <a:cubicBezTo>
                    <a:pt x="8305292" y="0"/>
                    <a:pt x="8346440" y="41148"/>
                    <a:pt x="8346440" y="91948"/>
                  </a:cubicBezTo>
                  <a:lnTo>
                    <a:pt x="8346440" y="4414012"/>
                  </a:lnTo>
                  <a:cubicBezTo>
                    <a:pt x="8346440" y="4464812"/>
                    <a:pt x="8305292" y="4505960"/>
                    <a:pt x="8254492" y="4505960"/>
                  </a:cubicBezTo>
                  <a:lnTo>
                    <a:pt x="91948" y="4505960"/>
                  </a:lnTo>
                  <a:cubicBezTo>
                    <a:pt x="41148" y="4505960"/>
                    <a:pt x="0" y="4464812"/>
                    <a:pt x="0" y="44140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56A84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0245852" y="3017520"/>
            <a:ext cx="5911596" cy="3086100"/>
            <a:chOff x="0" y="0"/>
            <a:chExt cx="7882128" cy="4114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882128" cy="4114800"/>
            </a:xfrm>
            <a:custGeom>
              <a:avLst/>
              <a:gdLst/>
              <a:ahLst/>
              <a:cxnLst/>
              <a:rect l="l" t="t" r="r" b="b"/>
              <a:pathLst>
                <a:path w="7882128" h="4114800">
                  <a:moveTo>
                    <a:pt x="0" y="0"/>
                  </a:moveTo>
                  <a:lnTo>
                    <a:pt x="7882128" y="0"/>
                  </a:lnTo>
                  <a:lnTo>
                    <a:pt x="7882128" y="4114800"/>
                  </a:lnTo>
                  <a:lnTo>
                    <a:pt x="0" y="411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79" r="-16979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7882128" cy="411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Fil conducteur de chaque Implementation :</a:t>
              </a:r>
            </a:p>
            <a:p>
              <a:pPr algn="ctr">
                <a:lnSpc>
                  <a:spcPts val="3960"/>
                </a:lnSpc>
              </a:pPr>
              <a:endParaRPr lang="en-US" sz="330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Discovery → Analysis</a:t>
              </a:r>
            </a:p>
            <a:p>
              <a:pPr algn="ctr">
                <a:lnSpc>
                  <a:spcPts val="3960"/>
                </a:lnSpc>
              </a:pPr>
              <a:r>
                <a:rPr lang="en-US" sz="33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→ Scoring → Reporting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Introduction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821773"/>
            <a:chOff x="0" y="0"/>
            <a:chExt cx="21671280" cy="10956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1095697"/>
            </a:xfrm>
            <a:custGeom>
              <a:avLst/>
              <a:gdLst/>
              <a:ahLst/>
              <a:cxnLst/>
              <a:rect l="l" t="t" r="r" b="b"/>
              <a:pathLst>
                <a:path w="21671280" h="1095697">
                  <a:moveTo>
                    <a:pt x="0" y="0"/>
                  </a:moveTo>
                  <a:lnTo>
                    <a:pt x="21671280" y="0"/>
                  </a:lnTo>
                  <a:lnTo>
                    <a:pt x="21671280" y="1095697"/>
                  </a:lnTo>
                  <a:lnTo>
                    <a:pt x="0" y="1095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7831" b="-322939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1114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 Idée générale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03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03277" y="2126237"/>
            <a:ext cx="15498575" cy="1028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rPr>
              <a:t>Le projet propose un outil capable de passer d’un environnement cloud brut à un résultat de sécurité directement exploitable.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93495" y="4173855"/>
            <a:ext cx="2830830" cy="1226058"/>
            <a:chOff x="0" y="0"/>
            <a:chExt cx="3774440" cy="163474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774440" cy="1634744"/>
            </a:xfrm>
            <a:custGeom>
              <a:avLst/>
              <a:gdLst/>
              <a:ahLst/>
              <a:cxnLst/>
              <a:rect l="l" t="t" r="r" b="b"/>
              <a:pathLst>
                <a:path w="3774440" h="1634744">
                  <a:moveTo>
                    <a:pt x="0" y="92837"/>
                  </a:moveTo>
                  <a:cubicBezTo>
                    <a:pt x="0" y="41529"/>
                    <a:pt x="41529" y="0"/>
                    <a:pt x="92837" y="0"/>
                  </a:cubicBezTo>
                  <a:lnTo>
                    <a:pt x="3681603" y="0"/>
                  </a:lnTo>
                  <a:cubicBezTo>
                    <a:pt x="3732911" y="0"/>
                    <a:pt x="3774440" y="41529"/>
                    <a:pt x="3774440" y="92837"/>
                  </a:cubicBezTo>
                  <a:lnTo>
                    <a:pt x="3774440" y="1541907"/>
                  </a:lnTo>
                  <a:cubicBezTo>
                    <a:pt x="3774440" y="1593215"/>
                    <a:pt x="3732911" y="1634744"/>
                    <a:pt x="3681603" y="1634744"/>
                  </a:cubicBezTo>
                  <a:lnTo>
                    <a:pt x="92837" y="1634744"/>
                  </a:lnTo>
                  <a:cubicBezTo>
                    <a:pt x="41529" y="1634744"/>
                    <a:pt x="0" y="1593215"/>
                    <a:pt x="0" y="1541907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467612" y="4320540"/>
            <a:ext cx="2482596" cy="932688"/>
            <a:chOff x="0" y="0"/>
            <a:chExt cx="3310128" cy="124358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10128" cy="1243584"/>
            </a:xfrm>
            <a:custGeom>
              <a:avLst/>
              <a:gdLst/>
              <a:ahLst/>
              <a:cxnLst/>
              <a:rect l="l" t="t" r="r" b="b"/>
              <a:pathLst>
                <a:path w="3310128" h="1243584">
                  <a:moveTo>
                    <a:pt x="0" y="0"/>
                  </a:moveTo>
                  <a:lnTo>
                    <a:pt x="3310128" y="0"/>
                  </a:lnTo>
                  <a:lnTo>
                    <a:pt x="3310128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64" b="-1864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3310128" cy="1243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Cloud fictif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 / Azure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 rot="73740">
            <a:off x="4347248" y="4777359"/>
            <a:ext cx="1331900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2" name="Group 22"/>
          <p:cNvGrpSpPr/>
          <p:nvPr/>
        </p:nvGrpSpPr>
        <p:grpSpPr>
          <a:xfrm>
            <a:off x="5819775" y="4173855"/>
            <a:ext cx="2830830" cy="1226058"/>
            <a:chOff x="0" y="0"/>
            <a:chExt cx="3774440" cy="163474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774440" cy="1634744"/>
            </a:xfrm>
            <a:custGeom>
              <a:avLst/>
              <a:gdLst/>
              <a:ahLst/>
              <a:cxnLst/>
              <a:rect l="l" t="t" r="r" b="b"/>
              <a:pathLst>
                <a:path w="3774440" h="1634744">
                  <a:moveTo>
                    <a:pt x="0" y="92837"/>
                  </a:moveTo>
                  <a:cubicBezTo>
                    <a:pt x="0" y="41529"/>
                    <a:pt x="41529" y="0"/>
                    <a:pt x="92837" y="0"/>
                  </a:cubicBezTo>
                  <a:lnTo>
                    <a:pt x="3681603" y="0"/>
                  </a:lnTo>
                  <a:cubicBezTo>
                    <a:pt x="3732911" y="0"/>
                    <a:pt x="3774440" y="41529"/>
                    <a:pt x="3774440" y="92837"/>
                  </a:cubicBezTo>
                  <a:lnTo>
                    <a:pt x="3774440" y="1541907"/>
                  </a:lnTo>
                  <a:cubicBezTo>
                    <a:pt x="3774440" y="1593215"/>
                    <a:pt x="3732911" y="1634744"/>
                    <a:pt x="3681603" y="1634744"/>
                  </a:cubicBezTo>
                  <a:lnTo>
                    <a:pt x="92837" y="1634744"/>
                  </a:lnTo>
                  <a:cubicBezTo>
                    <a:pt x="41529" y="1634744"/>
                    <a:pt x="0" y="1593215"/>
                    <a:pt x="0" y="1541907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993892" y="4320540"/>
            <a:ext cx="2482596" cy="932688"/>
            <a:chOff x="0" y="0"/>
            <a:chExt cx="3310128" cy="124358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310128" cy="1243584"/>
            </a:xfrm>
            <a:custGeom>
              <a:avLst/>
              <a:gdLst/>
              <a:ahLst/>
              <a:cxnLst/>
              <a:rect l="l" t="t" r="r" b="b"/>
              <a:pathLst>
                <a:path w="3310128" h="1243584">
                  <a:moveTo>
                    <a:pt x="0" y="0"/>
                  </a:moveTo>
                  <a:lnTo>
                    <a:pt x="3310128" y="0"/>
                  </a:lnTo>
                  <a:lnTo>
                    <a:pt x="3310128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64" b="-1864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3310128" cy="1243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Ressources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à découvrir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 rot="73740">
            <a:off x="8873528" y="4777359"/>
            <a:ext cx="1331900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8" name="Group 28"/>
          <p:cNvGrpSpPr/>
          <p:nvPr/>
        </p:nvGrpSpPr>
        <p:grpSpPr>
          <a:xfrm>
            <a:off x="10346055" y="4173855"/>
            <a:ext cx="2830830" cy="1226058"/>
            <a:chOff x="0" y="0"/>
            <a:chExt cx="3774440" cy="163474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774440" cy="1634744"/>
            </a:xfrm>
            <a:custGeom>
              <a:avLst/>
              <a:gdLst/>
              <a:ahLst/>
              <a:cxnLst/>
              <a:rect l="l" t="t" r="r" b="b"/>
              <a:pathLst>
                <a:path w="3774440" h="1634744">
                  <a:moveTo>
                    <a:pt x="0" y="92837"/>
                  </a:moveTo>
                  <a:cubicBezTo>
                    <a:pt x="0" y="41529"/>
                    <a:pt x="41529" y="0"/>
                    <a:pt x="92837" y="0"/>
                  </a:cubicBezTo>
                  <a:lnTo>
                    <a:pt x="3681603" y="0"/>
                  </a:lnTo>
                  <a:cubicBezTo>
                    <a:pt x="3732911" y="0"/>
                    <a:pt x="3774440" y="41529"/>
                    <a:pt x="3774440" y="92837"/>
                  </a:cubicBezTo>
                  <a:lnTo>
                    <a:pt x="3774440" y="1541907"/>
                  </a:lnTo>
                  <a:cubicBezTo>
                    <a:pt x="3774440" y="1593215"/>
                    <a:pt x="3732911" y="1634744"/>
                    <a:pt x="3681603" y="1634744"/>
                  </a:cubicBezTo>
                  <a:lnTo>
                    <a:pt x="92837" y="1634744"/>
                  </a:lnTo>
                  <a:cubicBezTo>
                    <a:pt x="41529" y="1634744"/>
                    <a:pt x="0" y="1593215"/>
                    <a:pt x="0" y="1541907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0520172" y="4320540"/>
            <a:ext cx="2482596" cy="932688"/>
            <a:chOff x="0" y="0"/>
            <a:chExt cx="3310128" cy="124358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310128" cy="1243584"/>
            </a:xfrm>
            <a:custGeom>
              <a:avLst/>
              <a:gdLst/>
              <a:ahLst/>
              <a:cxnLst/>
              <a:rect l="l" t="t" r="r" b="b"/>
              <a:pathLst>
                <a:path w="3310128" h="1243584">
                  <a:moveTo>
                    <a:pt x="0" y="0"/>
                  </a:moveTo>
                  <a:lnTo>
                    <a:pt x="3310128" y="0"/>
                  </a:lnTo>
                  <a:lnTo>
                    <a:pt x="3310128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64" b="-1864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3310128" cy="1243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Règles de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sécurité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 rot="73740">
            <a:off x="13399808" y="4777359"/>
            <a:ext cx="1331900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4" name="Group 34"/>
          <p:cNvGrpSpPr/>
          <p:nvPr/>
        </p:nvGrpSpPr>
        <p:grpSpPr>
          <a:xfrm>
            <a:off x="14872335" y="4173855"/>
            <a:ext cx="2693670" cy="1226058"/>
            <a:chOff x="0" y="0"/>
            <a:chExt cx="3591560" cy="16347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591560" cy="1634744"/>
            </a:xfrm>
            <a:custGeom>
              <a:avLst/>
              <a:gdLst/>
              <a:ahLst/>
              <a:cxnLst/>
              <a:rect l="l" t="t" r="r" b="b"/>
              <a:pathLst>
                <a:path w="3591560" h="1634744">
                  <a:moveTo>
                    <a:pt x="0" y="92837"/>
                  </a:moveTo>
                  <a:cubicBezTo>
                    <a:pt x="0" y="41529"/>
                    <a:pt x="41529" y="0"/>
                    <a:pt x="92837" y="0"/>
                  </a:cubicBezTo>
                  <a:lnTo>
                    <a:pt x="3498723" y="0"/>
                  </a:lnTo>
                  <a:cubicBezTo>
                    <a:pt x="3550031" y="0"/>
                    <a:pt x="3591560" y="41529"/>
                    <a:pt x="3591560" y="92837"/>
                  </a:cubicBezTo>
                  <a:lnTo>
                    <a:pt x="3591560" y="1541907"/>
                  </a:lnTo>
                  <a:cubicBezTo>
                    <a:pt x="3591560" y="1593215"/>
                    <a:pt x="3550031" y="1634744"/>
                    <a:pt x="3498723" y="1634744"/>
                  </a:cubicBezTo>
                  <a:lnTo>
                    <a:pt x="92837" y="1634744"/>
                  </a:lnTo>
                  <a:cubicBezTo>
                    <a:pt x="41529" y="1634744"/>
                    <a:pt x="0" y="1593215"/>
                    <a:pt x="0" y="1541907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5046452" y="4320540"/>
            <a:ext cx="2345436" cy="932688"/>
            <a:chOff x="0" y="0"/>
            <a:chExt cx="3127248" cy="12435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127248" cy="1243584"/>
            </a:xfrm>
            <a:custGeom>
              <a:avLst/>
              <a:gdLst/>
              <a:ahLst/>
              <a:cxnLst/>
              <a:rect l="l" t="t" r="r" b="b"/>
              <a:pathLst>
                <a:path w="3127248" h="1243584">
                  <a:moveTo>
                    <a:pt x="0" y="0"/>
                  </a:moveTo>
                  <a:lnTo>
                    <a:pt x="3127248" y="0"/>
                  </a:lnTo>
                  <a:lnTo>
                    <a:pt x="3127248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21" r="-1021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3127248" cy="1243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rapport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Introduction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Sujet : familles de risques ciblées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04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4915" y="2390775"/>
            <a:ext cx="4613910" cy="3448050"/>
            <a:chOff x="0" y="0"/>
            <a:chExt cx="6151880" cy="4597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151880" cy="4597400"/>
            </a:xfrm>
            <a:custGeom>
              <a:avLst/>
              <a:gdLst/>
              <a:ahLst/>
              <a:cxnLst/>
              <a:rect l="l" t="t" r="r" b="b"/>
              <a:pathLst>
                <a:path w="6151880" h="4597400">
                  <a:moveTo>
                    <a:pt x="0" y="91948"/>
                  </a:moveTo>
                  <a:cubicBezTo>
                    <a:pt x="0" y="41148"/>
                    <a:pt x="41148" y="0"/>
                    <a:pt x="91948" y="0"/>
                  </a:cubicBezTo>
                  <a:lnTo>
                    <a:pt x="6059932" y="0"/>
                  </a:lnTo>
                  <a:cubicBezTo>
                    <a:pt x="6110732" y="0"/>
                    <a:pt x="6151880" y="41148"/>
                    <a:pt x="6151880" y="91948"/>
                  </a:cubicBezTo>
                  <a:lnTo>
                    <a:pt x="6151880" y="4505452"/>
                  </a:lnTo>
                  <a:cubicBezTo>
                    <a:pt x="6151880" y="4556252"/>
                    <a:pt x="6110732" y="4597400"/>
                    <a:pt x="6059932" y="4597400"/>
                  </a:cubicBezTo>
                  <a:lnTo>
                    <a:pt x="91948" y="4597400"/>
                  </a:lnTo>
                  <a:cubicBezTo>
                    <a:pt x="41148" y="4597400"/>
                    <a:pt x="0" y="4556252"/>
                    <a:pt x="0" y="4505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399032" y="2537460"/>
            <a:ext cx="4265676" cy="3154680"/>
            <a:chOff x="0" y="0"/>
            <a:chExt cx="5687568" cy="42062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87568" cy="4206240"/>
            </a:xfrm>
            <a:custGeom>
              <a:avLst/>
              <a:gdLst/>
              <a:ahLst/>
              <a:cxnLst/>
              <a:rect l="l" t="t" r="r" b="b"/>
              <a:pathLst>
                <a:path w="5687568" h="4206240">
                  <a:moveTo>
                    <a:pt x="0" y="0"/>
                  </a:moveTo>
                  <a:lnTo>
                    <a:pt x="5687568" y="0"/>
                  </a:lnTo>
                  <a:lnTo>
                    <a:pt x="5687568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886" r="-4488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5687568" cy="4206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IAM / RBAC</a:t>
              </a:r>
            </a:p>
            <a:p>
              <a:pPr algn="ctr">
                <a:lnSpc>
                  <a:spcPts val="3419"/>
                </a:lnSpc>
              </a:pPr>
              <a:endParaRPr lang="en-US" sz="285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Privilèges excessifs</a:t>
              </a:r>
            </a:p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 authentification insuffisante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48475" y="2390775"/>
            <a:ext cx="4613910" cy="3448050"/>
            <a:chOff x="0" y="0"/>
            <a:chExt cx="6151880" cy="4597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151880" cy="4597400"/>
            </a:xfrm>
            <a:custGeom>
              <a:avLst/>
              <a:gdLst/>
              <a:ahLst/>
              <a:cxnLst/>
              <a:rect l="l" t="t" r="r" b="b"/>
              <a:pathLst>
                <a:path w="6151880" h="4597400">
                  <a:moveTo>
                    <a:pt x="0" y="91948"/>
                  </a:moveTo>
                  <a:cubicBezTo>
                    <a:pt x="0" y="41148"/>
                    <a:pt x="41148" y="0"/>
                    <a:pt x="91948" y="0"/>
                  </a:cubicBezTo>
                  <a:lnTo>
                    <a:pt x="6059932" y="0"/>
                  </a:lnTo>
                  <a:cubicBezTo>
                    <a:pt x="6110732" y="0"/>
                    <a:pt x="6151880" y="41148"/>
                    <a:pt x="6151880" y="91948"/>
                  </a:cubicBezTo>
                  <a:lnTo>
                    <a:pt x="6151880" y="4505452"/>
                  </a:lnTo>
                  <a:cubicBezTo>
                    <a:pt x="6151880" y="4556252"/>
                    <a:pt x="6110732" y="4597400"/>
                    <a:pt x="6059932" y="4597400"/>
                  </a:cubicBezTo>
                  <a:lnTo>
                    <a:pt x="91948" y="4597400"/>
                  </a:lnTo>
                  <a:cubicBezTo>
                    <a:pt x="41148" y="4597400"/>
                    <a:pt x="0" y="4556252"/>
                    <a:pt x="0" y="4505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022592" y="2537460"/>
            <a:ext cx="4265676" cy="3154680"/>
            <a:chOff x="0" y="0"/>
            <a:chExt cx="5687568" cy="42062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687568" cy="4206240"/>
            </a:xfrm>
            <a:custGeom>
              <a:avLst/>
              <a:gdLst/>
              <a:ahLst/>
              <a:cxnLst/>
              <a:rect l="l" t="t" r="r" b="b"/>
              <a:pathLst>
                <a:path w="5687568" h="4206240">
                  <a:moveTo>
                    <a:pt x="0" y="0"/>
                  </a:moveTo>
                  <a:lnTo>
                    <a:pt x="5687568" y="0"/>
                  </a:lnTo>
                  <a:lnTo>
                    <a:pt x="5687568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886" r="-44886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5687568" cy="4206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Stockage exposé</a:t>
              </a:r>
            </a:p>
            <a:p>
              <a:pPr algn="ctr">
                <a:lnSpc>
                  <a:spcPts val="3419"/>
                </a:lnSpc>
              </a:pPr>
              <a:endParaRPr lang="en-US" sz="285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Accès anonyme ou</a:t>
              </a:r>
            </a:p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public non souhaité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472035" y="2390775"/>
            <a:ext cx="4613910" cy="3448050"/>
            <a:chOff x="0" y="0"/>
            <a:chExt cx="6151880" cy="4597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151880" cy="4597400"/>
            </a:xfrm>
            <a:custGeom>
              <a:avLst/>
              <a:gdLst/>
              <a:ahLst/>
              <a:cxnLst/>
              <a:rect l="l" t="t" r="r" b="b"/>
              <a:pathLst>
                <a:path w="6151880" h="4597400">
                  <a:moveTo>
                    <a:pt x="0" y="91948"/>
                  </a:moveTo>
                  <a:cubicBezTo>
                    <a:pt x="0" y="41148"/>
                    <a:pt x="41148" y="0"/>
                    <a:pt x="91948" y="0"/>
                  </a:cubicBezTo>
                  <a:lnTo>
                    <a:pt x="6059932" y="0"/>
                  </a:lnTo>
                  <a:cubicBezTo>
                    <a:pt x="6110732" y="0"/>
                    <a:pt x="6151880" y="41148"/>
                    <a:pt x="6151880" y="91948"/>
                  </a:cubicBezTo>
                  <a:lnTo>
                    <a:pt x="6151880" y="4505452"/>
                  </a:lnTo>
                  <a:cubicBezTo>
                    <a:pt x="6151880" y="4556252"/>
                    <a:pt x="6110732" y="4597400"/>
                    <a:pt x="6059932" y="4597400"/>
                  </a:cubicBezTo>
                  <a:lnTo>
                    <a:pt x="91948" y="4597400"/>
                  </a:lnTo>
                  <a:cubicBezTo>
                    <a:pt x="41148" y="4597400"/>
                    <a:pt x="0" y="4556252"/>
                    <a:pt x="0" y="45054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646152" y="2537460"/>
            <a:ext cx="4265676" cy="3154680"/>
            <a:chOff x="0" y="0"/>
            <a:chExt cx="5687568" cy="42062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687568" cy="4206240"/>
            </a:xfrm>
            <a:custGeom>
              <a:avLst/>
              <a:gdLst/>
              <a:ahLst/>
              <a:cxnLst/>
              <a:rect l="l" t="t" r="r" b="b"/>
              <a:pathLst>
                <a:path w="5687568" h="4206240">
                  <a:moveTo>
                    <a:pt x="0" y="0"/>
                  </a:moveTo>
                  <a:lnTo>
                    <a:pt x="5687568" y="0"/>
                  </a:lnTo>
                  <a:lnTo>
                    <a:pt x="5687568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886" r="-44886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5687568" cy="4206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Assets orphelins</a:t>
              </a:r>
            </a:p>
            <a:p>
              <a:pPr algn="ctr">
                <a:lnSpc>
                  <a:spcPts val="3419"/>
                </a:lnSpc>
              </a:pPr>
              <a:endParaRPr lang="en-US" sz="285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Ressources présentes</a:t>
              </a:r>
            </a:p>
            <a:p>
              <a:pPr algn="ctr">
                <a:lnSpc>
                  <a:spcPts val="3419"/>
                </a:lnSpc>
              </a:pPr>
              <a:r>
                <a:rPr lang="en-US" sz="28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sans rattachement actif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194817" y="7269737"/>
            <a:ext cx="13989815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rPr>
              <a:t>Ces trois familles structurent les règles de détection dans les deux implémentations AWS et Azure.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Introduction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Objectifs fonctionnels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05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03020" y="2125980"/>
            <a:ext cx="8503920" cy="6515100"/>
            <a:chOff x="0" y="0"/>
            <a:chExt cx="11338560" cy="8686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338560" cy="8686800"/>
            </a:xfrm>
            <a:custGeom>
              <a:avLst/>
              <a:gdLst/>
              <a:ahLst/>
              <a:cxnLst/>
              <a:rect l="l" t="t" r="r" b="b"/>
              <a:pathLst>
                <a:path w="11338560" h="8686800">
                  <a:moveTo>
                    <a:pt x="0" y="0"/>
                  </a:moveTo>
                  <a:lnTo>
                    <a:pt x="11338560" y="0"/>
                  </a:lnTo>
                  <a:lnTo>
                    <a:pt x="11338560" y="8686800"/>
                  </a:lnTo>
                  <a:lnTo>
                    <a:pt x="0" y="868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297" r="-4829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1338560" cy="8686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31508" lvl="1" indent="-315754" algn="l">
                <a:lnSpc>
                  <a:spcPts val="3510"/>
                </a:lnSpc>
                <a:buFont typeface="Arial"/>
                <a:buChar char="•"/>
              </a:pPr>
              <a:r>
                <a:rPr lang="en-US" sz="29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Découvrir automatiquement les ressources utiles à l’évaluation.</a:t>
              </a:r>
            </a:p>
            <a:p>
              <a:pPr algn="l">
                <a:lnSpc>
                  <a:spcPts val="3510"/>
                </a:lnSpc>
              </a:pPr>
              <a:endParaRPr lang="en-US" sz="2925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631508" lvl="1" indent="-315754" algn="l">
                <a:lnSpc>
                  <a:spcPts val="3510"/>
                </a:lnSpc>
                <a:buFont typeface="Arial"/>
                <a:buChar char="•"/>
              </a:pPr>
              <a:r>
                <a:rPr lang="en-US" sz="29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Appliquer des règles explicites avec preuves et recommandations.</a:t>
              </a:r>
            </a:p>
            <a:p>
              <a:pPr algn="l">
                <a:lnSpc>
                  <a:spcPts val="3510"/>
                </a:lnSpc>
              </a:pPr>
              <a:endParaRPr lang="en-US" sz="2925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631508" lvl="1" indent="-315754" algn="l">
                <a:lnSpc>
                  <a:spcPts val="3510"/>
                </a:lnSpc>
                <a:buFont typeface="Arial"/>
                <a:buChar char="•"/>
              </a:pPr>
              <a:r>
                <a:rPr lang="en-US" sz="29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Attribuer un score de risque pour prioriser les findings.</a:t>
              </a:r>
            </a:p>
            <a:p>
              <a:pPr algn="l">
                <a:lnSpc>
                  <a:spcPts val="3510"/>
                </a:lnSpc>
              </a:pPr>
              <a:endParaRPr lang="en-US" sz="2925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631508" lvl="1" indent="-315754" algn="l">
                <a:lnSpc>
                  <a:spcPts val="3510"/>
                </a:lnSpc>
                <a:buFont typeface="Arial"/>
                <a:buChar char="•"/>
              </a:pPr>
              <a:r>
                <a:rPr lang="en-US" sz="29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Générer des sorties JSON et un rapport HTML exploitable.</a:t>
              </a:r>
            </a:p>
            <a:p>
              <a:pPr algn="l">
                <a:lnSpc>
                  <a:spcPts val="3510"/>
                </a:lnSpc>
              </a:pPr>
              <a:endParaRPr lang="en-US" sz="2925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631508" lvl="1" indent="-315754" algn="l">
                <a:lnSpc>
                  <a:spcPts val="3510"/>
                </a:lnSpc>
                <a:buFont typeface="Arial"/>
                <a:buChar char="•"/>
              </a:pPr>
              <a:r>
                <a:rPr lang="en-US" sz="29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Permettre une exécution simple via des scripts PowerShell.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Périmètre du projet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06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6352" y="1982152"/>
            <a:ext cx="3099435" cy="781431"/>
            <a:chOff x="0" y="0"/>
            <a:chExt cx="4132580" cy="10419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32580" cy="1041908"/>
            </a:xfrm>
            <a:custGeom>
              <a:avLst/>
              <a:gdLst/>
              <a:ahLst/>
              <a:cxnLst/>
              <a:rect l="l" t="t" r="r" b="b"/>
              <a:pathLst>
                <a:path w="4132580" h="1041908">
                  <a:moveTo>
                    <a:pt x="0" y="0"/>
                  </a:moveTo>
                  <a:lnTo>
                    <a:pt x="4132580" y="0"/>
                  </a:lnTo>
                  <a:lnTo>
                    <a:pt x="4132580" y="1041908"/>
                  </a:lnTo>
                  <a:lnTo>
                    <a:pt x="0" y="1041908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371600" y="2112264"/>
            <a:ext cx="2948940" cy="630936"/>
            <a:chOff x="0" y="0"/>
            <a:chExt cx="3931920" cy="8412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31920" cy="841248"/>
            </a:xfrm>
            <a:custGeom>
              <a:avLst/>
              <a:gdLst/>
              <a:ahLst/>
              <a:cxnLst/>
              <a:rect l="l" t="t" r="r" b="b"/>
              <a:pathLst>
                <a:path w="3931920" h="841248">
                  <a:moveTo>
                    <a:pt x="0" y="0"/>
                  </a:moveTo>
                  <a:lnTo>
                    <a:pt x="3931920" y="0"/>
                  </a:lnTo>
                  <a:lnTo>
                    <a:pt x="39319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71" b="-4107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393192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Domaine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82453" y="1982152"/>
            <a:ext cx="6116955" cy="781431"/>
            <a:chOff x="0" y="0"/>
            <a:chExt cx="8155940" cy="10419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55940" cy="1041908"/>
            </a:xfrm>
            <a:custGeom>
              <a:avLst/>
              <a:gdLst/>
              <a:ahLst/>
              <a:cxnLst/>
              <a:rect l="l" t="t" r="r" b="b"/>
              <a:pathLst>
                <a:path w="8155940" h="1041908">
                  <a:moveTo>
                    <a:pt x="0" y="0"/>
                  </a:moveTo>
                  <a:lnTo>
                    <a:pt x="8155940" y="0"/>
                  </a:lnTo>
                  <a:lnTo>
                    <a:pt x="8155940" y="1041908"/>
                  </a:lnTo>
                  <a:lnTo>
                    <a:pt x="0" y="1041908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457700" y="2112264"/>
            <a:ext cx="5966460" cy="630936"/>
            <a:chOff x="0" y="0"/>
            <a:chExt cx="7955280" cy="8412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955280" cy="841248"/>
            </a:xfrm>
            <a:custGeom>
              <a:avLst/>
              <a:gdLst/>
              <a:ahLst/>
              <a:cxnLst/>
              <a:rect l="l" t="t" r="r" b="b"/>
              <a:pathLst>
                <a:path w="7955280" h="841248">
                  <a:moveTo>
                    <a:pt x="0" y="0"/>
                  </a:moveTo>
                  <a:lnTo>
                    <a:pt x="7955280" y="0"/>
                  </a:lnTo>
                  <a:lnTo>
                    <a:pt x="79552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260" b="-13426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795528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486072" y="1982152"/>
            <a:ext cx="6459855" cy="781431"/>
            <a:chOff x="0" y="0"/>
            <a:chExt cx="8613140" cy="104190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613140" cy="1041908"/>
            </a:xfrm>
            <a:custGeom>
              <a:avLst/>
              <a:gdLst/>
              <a:ahLst/>
              <a:cxnLst/>
              <a:rect l="l" t="t" r="r" b="b"/>
              <a:pathLst>
                <a:path w="8613140" h="1041908">
                  <a:moveTo>
                    <a:pt x="0" y="0"/>
                  </a:moveTo>
                  <a:lnTo>
                    <a:pt x="8613140" y="0"/>
                  </a:lnTo>
                  <a:lnTo>
                    <a:pt x="8613140" y="1041908"/>
                  </a:lnTo>
                  <a:lnTo>
                    <a:pt x="0" y="1041908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0561320" y="2112264"/>
            <a:ext cx="6309360" cy="630936"/>
            <a:chOff x="0" y="0"/>
            <a:chExt cx="8412480" cy="8412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412480" cy="841248"/>
            </a:xfrm>
            <a:custGeom>
              <a:avLst/>
              <a:gdLst/>
              <a:ahLst/>
              <a:cxnLst/>
              <a:rect l="l" t="t" r="r" b="b"/>
              <a:pathLst>
                <a:path w="8412480" h="841248">
                  <a:moveTo>
                    <a:pt x="0" y="0"/>
                  </a:moveTo>
                  <a:lnTo>
                    <a:pt x="8412480" y="0"/>
                  </a:lnTo>
                  <a:lnTo>
                    <a:pt x="8412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841248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Azure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98258" y="2752154"/>
            <a:ext cx="3095625" cy="777621"/>
            <a:chOff x="0" y="0"/>
            <a:chExt cx="4127500" cy="103682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127500" cy="1036828"/>
            </a:xfrm>
            <a:custGeom>
              <a:avLst/>
              <a:gdLst/>
              <a:ahLst/>
              <a:cxnLst/>
              <a:rect l="l" t="t" r="r" b="b"/>
              <a:pathLst>
                <a:path w="4127500" h="1036828">
                  <a:moveTo>
                    <a:pt x="0" y="0"/>
                  </a:moveTo>
                  <a:lnTo>
                    <a:pt x="4127500" y="0"/>
                  </a:lnTo>
                  <a:lnTo>
                    <a:pt x="412750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371600" y="2866644"/>
            <a:ext cx="2948940" cy="630936"/>
            <a:chOff x="0" y="0"/>
            <a:chExt cx="3931920" cy="84124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931920" cy="841248"/>
            </a:xfrm>
            <a:custGeom>
              <a:avLst/>
              <a:gdLst/>
              <a:ahLst/>
              <a:cxnLst/>
              <a:rect l="l" t="t" r="r" b="b"/>
              <a:pathLst>
                <a:path w="3931920" h="841248">
                  <a:moveTo>
                    <a:pt x="0" y="0"/>
                  </a:moveTo>
                  <a:lnTo>
                    <a:pt x="3931920" y="0"/>
                  </a:lnTo>
                  <a:lnTo>
                    <a:pt x="39319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71" b="-4107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393192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Identités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84358" y="2752154"/>
            <a:ext cx="6113145" cy="777621"/>
            <a:chOff x="0" y="0"/>
            <a:chExt cx="8150860" cy="103682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50860" cy="1036828"/>
            </a:xfrm>
            <a:custGeom>
              <a:avLst/>
              <a:gdLst/>
              <a:ahLst/>
              <a:cxnLst/>
              <a:rect l="l" t="t" r="r" b="b"/>
              <a:pathLst>
                <a:path w="8150860" h="1036828">
                  <a:moveTo>
                    <a:pt x="0" y="0"/>
                  </a:moveTo>
                  <a:lnTo>
                    <a:pt x="8150860" y="0"/>
                  </a:lnTo>
                  <a:lnTo>
                    <a:pt x="81508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4457700" y="2866644"/>
            <a:ext cx="5966460" cy="630936"/>
            <a:chOff x="0" y="0"/>
            <a:chExt cx="7955280" cy="84124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955280" cy="841248"/>
            </a:xfrm>
            <a:custGeom>
              <a:avLst/>
              <a:gdLst/>
              <a:ahLst/>
              <a:cxnLst/>
              <a:rect l="l" t="t" r="r" b="b"/>
              <a:pathLst>
                <a:path w="7955280" h="841248">
                  <a:moveTo>
                    <a:pt x="0" y="0"/>
                  </a:moveTo>
                  <a:lnTo>
                    <a:pt x="7955280" y="0"/>
                  </a:lnTo>
                  <a:lnTo>
                    <a:pt x="79552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260" b="-134260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795528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IAM Users, Roles, Policies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487978" y="2752154"/>
            <a:ext cx="6456045" cy="777621"/>
            <a:chOff x="0" y="0"/>
            <a:chExt cx="8608060" cy="103682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608060" cy="1036828"/>
            </a:xfrm>
            <a:custGeom>
              <a:avLst/>
              <a:gdLst/>
              <a:ahLst/>
              <a:cxnLst/>
              <a:rect l="l" t="t" r="r" b="b"/>
              <a:pathLst>
                <a:path w="8608060" h="1036828">
                  <a:moveTo>
                    <a:pt x="0" y="0"/>
                  </a:moveTo>
                  <a:lnTo>
                    <a:pt x="8608060" y="0"/>
                  </a:lnTo>
                  <a:lnTo>
                    <a:pt x="86080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0561320" y="2866644"/>
            <a:ext cx="6309360" cy="630936"/>
            <a:chOff x="0" y="0"/>
            <a:chExt cx="8412480" cy="84124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412480" cy="841248"/>
            </a:xfrm>
            <a:custGeom>
              <a:avLst/>
              <a:gdLst/>
              <a:ahLst/>
              <a:cxnLst/>
              <a:rect l="l" t="t" r="r" b="b"/>
              <a:pathLst>
                <a:path w="8412480" h="841248">
                  <a:moveTo>
                    <a:pt x="0" y="0"/>
                  </a:moveTo>
                  <a:lnTo>
                    <a:pt x="8412480" y="0"/>
                  </a:lnTo>
                  <a:lnTo>
                    <a:pt x="8412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841248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Users, Service Principals, RBAC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98258" y="3520250"/>
            <a:ext cx="3095625" cy="777621"/>
            <a:chOff x="0" y="0"/>
            <a:chExt cx="4127500" cy="103682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127500" cy="1036828"/>
            </a:xfrm>
            <a:custGeom>
              <a:avLst/>
              <a:gdLst/>
              <a:ahLst/>
              <a:cxnLst/>
              <a:rect l="l" t="t" r="r" b="b"/>
              <a:pathLst>
                <a:path w="4127500" h="1036828">
                  <a:moveTo>
                    <a:pt x="0" y="0"/>
                  </a:moveTo>
                  <a:lnTo>
                    <a:pt x="4127500" y="0"/>
                  </a:lnTo>
                  <a:lnTo>
                    <a:pt x="412750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371600" y="3634740"/>
            <a:ext cx="2948940" cy="630936"/>
            <a:chOff x="0" y="0"/>
            <a:chExt cx="3931920" cy="84124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931920" cy="841248"/>
            </a:xfrm>
            <a:custGeom>
              <a:avLst/>
              <a:gdLst/>
              <a:ahLst/>
              <a:cxnLst/>
              <a:rect l="l" t="t" r="r" b="b"/>
              <a:pathLst>
                <a:path w="3931920" h="841248">
                  <a:moveTo>
                    <a:pt x="0" y="0"/>
                  </a:moveTo>
                  <a:lnTo>
                    <a:pt x="3931920" y="0"/>
                  </a:lnTo>
                  <a:lnTo>
                    <a:pt x="39319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71" b="-41071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393192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Stockage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384358" y="3520250"/>
            <a:ext cx="6113145" cy="777621"/>
            <a:chOff x="0" y="0"/>
            <a:chExt cx="8150860" cy="103682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50860" cy="1036828"/>
            </a:xfrm>
            <a:custGeom>
              <a:avLst/>
              <a:gdLst/>
              <a:ahLst/>
              <a:cxnLst/>
              <a:rect l="l" t="t" r="r" b="b"/>
              <a:pathLst>
                <a:path w="8150860" h="1036828">
                  <a:moveTo>
                    <a:pt x="0" y="0"/>
                  </a:moveTo>
                  <a:lnTo>
                    <a:pt x="8150860" y="0"/>
                  </a:lnTo>
                  <a:lnTo>
                    <a:pt x="81508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4457700" y="3634740"/>
            <a:ext cx="5966460" cy="630936"/>
            <a:chOff x="0" y="0"/>
            <a:chExt cx="7955280" cy="84124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955280" cy="841248"/>
            </a:xfrm>
            <a:custGeom>
              <a:avLst/>
              <a:gdLst/>
              <a:ahLst/>
              <a:cxnLst/>
              <a:rect l="l" t="t" r="r" b="b"/>
              <a:pathLst>
                <a:path w="7955280" h="841248">
                  <a:moveTo>
                    <a:pt x="0" y="0"/>
                  </a:moveTo>
                  <a:lnTo>
                    <a:pt x="7955280" y="0"/>
                  </a:lnTo>
                  <a:lnTo>
                    <a:pt x="79552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260" b="-134260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795528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S3 Buckets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487978" y="3520250"/>
            <a:ext cx="6456045" cy="777621"/>
            <a:chOff x="0" y="0"/>
            <a:chExt cx="8608060" cy="103682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608060" cy="1036828"/>
            </a:xfrm>
            <a:custGeom>
              <a:avLst/>
              <a:gdLst/>
              <a:ahLst/>
              <a:cxnLst/>
              <a:rect l="l" t="t" r="r" b="b"/>
              <a:pathLst>
                <a:path w="8608060" h="1036828">
                  <a:moveTo>
                    <a:pt x="0" y="0"/>
                  </a:moveTo>
                  <a:lnTo>
                    <a:pt x="8608060" y="0"/>
                  </a:lnTo>
                  <a:lnTo>
                    <a:pt x="86080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10561320" y="3634740"/>
            <a:ext cx="6309360" cy="630936"/>
            <a:chOff x="0" y="0"/>
            <a:chExt cx="8412480" cy="84124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412480" cy="841248"/>
            </a:xfrm>
            <a:custGeom>
              <a:avLst/>
              <a:gdLst/>
              <a:ahLst/>
              <a:cxnLst/>
              <a:rect l="l" t="t" r="r" b="b"/>
              <a:pathLst>
                <a:path w="8412480" h="841248">
                  <a:moveTo>
                    <a:pt x="0" y="0"/>
                  </a:moveTo>
                  <a:lnTo>
                    <a:pt x="8412480" y="0"/>
                  </a:lnTo>
                  <a:lnTo>
                    <a:pt x="8412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841248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Storage Accounts, Blob Containers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98258" y="4288346"/>
            <a:ext cx="3095625" cy="777621"/>
            <a:chOff x="0" y="0"/>
            <a:chExt cx="4127500" cy="103682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127500" cy="1036828"/>
            </a:xfrm>
            <a:custGeom>
              <a:avLst/>
              <a:gdLst/>
              <a:ahLst/>
              <a:cxnLst/>
              <a:rect l="l" t="t" r="r" b="b"/>
              <a:pathLst>
                <a:path w="4127500" h="1036828">
                  <a:moveTo>
                    <a:pt x="0" y="0"/>
                  </a:moveTo>
                  <a:lnTo>
                    <a:pt x="4127500" y="0"/>
                  </a:lnTo>
                  <a:lnTo>
                    <a:pt x="412750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1371600" y="4402836"/>
            <a:ext cx="2948940" cy="630936"/>
            <a:chOff x="0" y="0"/>
            <a:chExt cx="3931920" cy="84124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931920" cy="841248"/>
            </a:xfrm>
            <a:custGeom>
              <a:avLst/>
              <a:gdLst/>
              <a:ahLst/>
              <a:cxnLst/>
              <a:rect l="l" t="t" r="r" b="b"/>
              <a:pathLst>
                <a:path w="3931920" h="841248">
                  <a:moveTo>
                    <a:pt x="0" y="0"/>
                  </a:moveTo>
                  <a:lnTo>
                    <a:pt x="3931920" y="0"/>
                  </a:lnTo>
                  <a:lnTo>
                    <a:pt x="39319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71" b="-4107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393192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Compute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384358" y="4288346"/>
            <a:ext cx="6113145" cy="777621"/>
            <a:chOff x="0" y="0"/>
            <a:chExt cx="8150860" cy="103682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150860" cy="1036828"/>
            </a:xfrm>
            <a:custGeom>
              <a:avLst/>
              <a:gdLst/>
              <a:ahLst/>
              <a:cxnLst/>
              <a:rect l="l" t="t" r="r" b="b"/>
              <a:pathLst>
                <a:path w="8150860" h="1036828">
                  <a:moveTo>
                    <a:pt x="0" y="0"/>
                  </a:moveTo>
                  <a:lnTo>
                    <a:pt x="8150860" y="0"/>
                  </a:lnTo>
                  <a:lnTo>
                    <a:pt x="81508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4457700" y="4402836"/>
            <a:ext cx="5966460" cy="630936"/>
            <a:chOff x="0" y="0"/>
            <a:chExt cx="7955280" cy="84124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955280" cy="841248"/>
            </a:xfrm>
            <a:custGeom>
              <a:avLst/>
              <a:gdLst/>
              <a:ahLst/>
              <a:cxnLst/>
              <a:rect l="l" t="t" r="r" b="b"/>
              <a:pathLst>
                <a:path w="7955280" h="841248">
                  <a:moveTo>
                    <a:pt x="0" y="0"/>
                  </a:moveTo>
                  <a:lnTo>
                    <a:pt x="7955280" y="0"/>
                  </a:lnTo>
                  <a:lnTo>
                    <a:pt x="79552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260" b="-134260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795528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EC2 Instances, EBS Volumes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487978" y="4288346"/>
            <a:ext cx="6456045" cy="777621"/>
            <a:chOff x="0" y="0"/>
            <a:chExt cx="8608060" cy="103682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608060" cy="1036828"/>
            </a:xfrm>
            <a:custGeom>
              <a:avLst/>
              <a:gdLst/>
              <a:ahLst/>
              <a:cxnLst/>
              <a:rect l="l" t="t" r="r" b="b"/>
              <a:pathLst>
                <a:path w="8608060" h="1036828">
                  <a:moveTo>
                    <a:pt x="0" y="0"/>
                  </a:moveTo>
                  <a:lnTo>
                    <a:pt x="8608060" y="0"/>
                  </a:lnTo>
                  <a:lnTo>
                    <a:pt x="86080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10561320" y="4402836"/>
            <a:ext cx="6309360" cy="630936"/>
            <a:chOff x="0" y="0"/>
            <a:chExt cx="8412480" cy="84124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412480" cy="841248"/>
            </a:xfrm>
            <a:custGeom>
              <a:avLst/>
              <a:gdLst/>
              <a:ahLst/>
              <a:cxnLst/>
              <a:rect l="l" t="t" r="r" b="b"/>
              <a:pathLst>
                <a:path w="8412480" h="841248">
                  <a:moveTo>
                    <a:pt x="0" y="0"/>
                  </a:moveTo>
                  <a:lnTo>
                    <a:pt x="8412480" y="0"/>
                  </a:lnTo>
                  <a:lnTo>
                    <a:pt x="8412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841248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VMs, Managed Disks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298258" y="5056442"/>
            <a:ext cx="3095625" cy="777621"/>
            <a:chOff x="0" y="0"/>
            <a:chExt cx="4127500" cy="103682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127500" cy="1036828"/>
            </a:xfrm>
            <a:custGeom>
              <a:avLst/>
              <a:gdLst/>
              <a:ahLst/>
              <a:cxnLst/>
              <a:rect l="l" t="t" r="r" b="b"/>
              <a:pathLst>
                <a:path w="4127500" h="1036828">
                  <a:moveTo>
                    <a:pt x="0" y="0"/>
                  </a:moveTo>
                  <a:lnTo>
                    <a:pt x="4127500" y="0"/>
                  </a:lnTo>
                  <a:lnTo>
                    <a:pt x="412750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1371600" y="5170932"/>
            <a:ext cx="2948940" cy="630936"/>
            <a:chOff x="0" y="0"/>
            <a:chExt cx="3931920" cy="84124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931920" cy="841248"/>
            </a:xfrm>
            <a:custGeom>
              <a:avLst/>
              <a:gdLst/>
              <a:ahLst/>
              <a:cxnLst/>
              <a:rect l="l" t="t" r="r" b="b"/>
              <a:pathLst>
                <a:path w="3931920" h="841248">
                  <a:moveTo>
                    <a:pt x="0" y="0"/>
                  </a:moveTo>
                  <a:lnTo>
                    <a:pt x="3931920" y="0"/>
                  </a:lnTo>
                  <a:lnTo>
                    <a:pt x="39319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71" b="-41071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393192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Réseau utile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4384358" y="5056442"/>
            <a:ext cx="6113145" cy="777621"/>
            <a:chOff x="0" y="0"/>
            <a:chExt cx="8150860" cy="103682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8150860" cy="1036828"/>
            </a:xfrm>
            <a:custGeom>
              <a:avLst/>
              <a:gdLst/>
              <a:ahLst/>
              <a:cxnLst/>
              <a:rect l="l" t="t" r="r" b="b"/>
              <a:pathLst>
                <a:path w="8150860" h="1036828">
                  <a:moveTo>
                    <a:pt x="0" y="0"/>
                  </a:moveTo>
                  <a:lnTo>
                    <a:pt x="8150860" y="0"/>
                  </a:lnTo>
                  <a:lnTo>
                    <a:pt x="81508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4457700" y="5170932"/>
            <a:ext cx="5966460" cy="630936"/>
            <a:chOff x="0" y="0"/>
            <a:chExt cx="7955280" cy="841248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7955280" cy="841248"/>
            </a:xfrm>
            <a:custGeom>
              <a:avLst/>
              <a:gdLst/>
              <a:ahLst/>
              <a:cxnLst/>
              <a:rect l="l" t="t" r="r" b="b"/>
              <a:pathLst>
                <a:path w="7955280" h="841248">
                  <a:moveTo>
                    <a:pt x="0" y="0"/>
                  </a:moveTo>
                  <a:lnTo>
                    <a:pt x="7955280" y="0"/>
                  </a:lnTo>
                  <a:lnTo>
                    <a:pt x="79552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260" b="-134260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0"/>
              <a:ext cx="795528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EIP, ENI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0487978" y="5056442"/>
            <a:ext cx="6456045" cy="777621"/>
            <a:chOff x="0" y="0"/>
            <a:chExt cx="8608060" cy="1036828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608060" cy="1036828"/>
            </a:xfrm>
            <a:custGeom>
              <a:avLst/>
              <a:gdLst/>
              <a:ahLst/>
              <a:cxnLst/>
              <a:rect l="l" t="t" r="r" b="b"/>
              <a:pathLst>
                <a:path w="8608060" h="1036828">
                  <a:moveTo>
                    <a:pt x="0" y="0"/>
                  </a:moveTo>
                  <a:lnTo>
                    <a:pt x="8608060" y="0"/>
                  </a:lnTo>
                  <a:lnTo>
                    <a:pt x="86080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10561320" y="5170932"/>
            <a:ext cx="6309360" cy="630936"/>
            <a:chOff x="0" y="0"/>
            <a:chExt cx="8412480" cy="841248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412480" cy="841248"/>
            </a:xfrm>
            <a:custGeom>
              <a:avLst/>
              <a:gdLst/>
              <a:ahLst/>
              <a:cxnLst/>
              <a:rect l="l" t="t" r="r" b="b"/>
              <a:pathLst>
                <a:path w="8412480" h="841248">
                  <a:moveTo>
                    <a:pt x="0" y="0"/>
                  </a:moveTo>
                  <a:lnTo>
                    <a:pt x="8412480" y="0"/>
                  </a:lnTo>
                  <a:lnTo>
                    <a:pt x="8412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0"/>
              <a:ext cx="841248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Public IP, NIC, NSG, VNet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298258" y="5824538"/>
            <a:ext cx="3095625" cy="777621"/>
            <a:chOff x="0" y="0"/>
            <a:chExt cx="4127500" cy="1036828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127500" cy="1036828"/>
            </a:xfrm>
            <a:custGeom>
              <a:avLst/>
              <a:gdLst/>
              <a:ahLst/>
              <a:cxnLst/>
              <a:rect l="l" t="t" r="r" b="b"/>
              <a:pathLst>
                <a:path w="4127500" h="1036828">
                  <a:moveTo>
                    <a:pt x="0" y="0"/>
                  </a:moveTo>
                  <a:lnTo>
                    <a:pt x="4127500" y="0"/>
                  </a:lnTo>
                  <a:lnTo>
                    <a:pt x="412750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92" name="Group 92"/>
          <p:cNvGrpSpPr/>
          <p:nvPr/>
        </p:nvGrpSpPr>
        <p:grpSpPr>
          <a:xfrm>
            <a:off x="1371600" y="5939028"/>
            <a:ext cx="2948940" cy="630936"/>
            <a:chOff x="0" y="0"/>
            <a:chExt cx="3931920" cy="841248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3931920" cy="841248"/>
            </a:xfrm>
            <a:custGeom>
              <a:avLst/>
              <a:gdLst/>
              <a:ahLst/>
              <a:cxnLst/>
              <a:rect l="l" t="t" r="r" b="b"/>
              <a:pathLst>
                <a:path w="3931920" h="841248">
                  <a:moveTo>
                    <a:pt x="0" y="0"/>
                  </a:moveTo>
                  <a:lnTo>
                    <a:pt x="3931920" y="0"/>
                  </a:lnTo>
                  <a:lnTo>
                    <a:pt x="39319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71" b="-41071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0"/>
              <a:ext cx="393192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Lab local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4384358" y="5824538"/>
            <a:ext cx="6113145" cy="777621"/>
            <a:chOff x="0" y="0"/>
            <a:chExt cx="8150860" cy="1036828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8150860" cy="1036828"/>
            </a:xfrm>
            <a:custGeom>
              <a:avLst/>
              <a:gdLst/>
              <a:ahLst/>
              <a:cxnLst/>
              <a:rect l="l" t="t" r="r" b="b"/>
              <a:pathLst>
                <a:path w="8150860" h="1036828">
                  <a:moveTo>
                    <a:pt x="0" y="0"/>
                  </a:moveTo>
                  <a:lnTo>
                    <a:pt x="8150860" y="0"/>
                  </a:lnTo>
                  <a:lnTo>
                    <a:pt x="81508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97" name="Group 97"/>
          <p:cNvGrpSpPr/>
          <p:nvPr/>
        </p:nvGrpSpPr>
        <p:grpSpPr>
          <a:xfrm>
            <a:off x="4457700" y="5939028"/>
            <a:ext cx="5966460" cy="630936"/>
            <a:chOff x="0" y="0"/>
            <a:chExt cx="7955280" cy="841248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7955280" cy="841248"/>
            </a:xfrm>
            <a:custGeom>
              <a:avLst/>
              <a:gdLst/>
              <a:ahLst/>
              <a:cxnLst/>
              <a:rect l="l" t="t" r="r" b="b"/>
              <a:pathLst>
                <a:path w="7955280" h="841248">
                  <a:moveTo>
                    <a:pt x="0" y="0"/>
                  </a:moveTo>
                  <a:lnTo>
                    <a:pt x="7955280" y="0"/>
                  </a:lnTo>
                  <a:lnTo>
                    <a:pt x="79552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260" b="-134260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0"/>
              <a:ext cx="795528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LocalStack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10487978" y="5824538"/>
            <a:ext cx="6456045" cy="777621"/>
            <a:chOff x="0" y="0"/>
            <a:chExt cx="8608060" cy="1036828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8608060" cy="1036828"/>
            </a:xfrm>
            <a:custGeom>
              <a:avLst/>
              <a:gdLst/>
              <a:ahLst/>
              <a:cxnLst/>
              <a:rect l="l" t="t" r="r" b="b"/>
              <a:pathLst>
                <a:path w="8608060" h="1036828">
                  <a:moveTo>
                    <a:pt x="0" y="0"/>
                  </a:moveTo>
                  <a:lnTo>
                    <a:pt x="8608060" y="0"/>
                  </a:lnTo>
                  <a:lnTo>
                    <a:pt x="86080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02" name="Group 102"/>
          <p:cNvGrpSpPr/>
          <p:nvPr/>
        </p:nvGrpSpPr>
        <p:grpSpPr>
          <a:xfrm>
            <a:off x="10561320" y="5939028"/>
            <a:ext cx="6309360" cy="630936"/>
            <a:chOff x="0" y="0"/>
            <a:chExt cx="8412480" cy="841248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8412480" cy="841248"/>
            </a:xfrm>
            <a:custGeom>
              <a:avLst/>
              <a:gdLst/>
              <a:ahLst/>
              <a:cxnLst/>
              <a:rect l="l" t="t" r="r" b="b"/>
              <a:pathLst>
                <a:path w="8412480" h="841248">
                  <a:moveTo>
                    <a:pt x="0" y="0"/>
                  </a:moveTo>
                  <a:lnTo>
                    <a:pt x="8412480" y="0"/>
                  </a:lnTo>
                  <a:lnTo>
                    <a:pt x="8412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0"/>
              <a:ext cx="841248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Topaz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298258" y="6592634"/>
            <a:ext cx="3095625" cy="777621"/>
            <a:chOff x="0" y="0"/>
            <a:chExt cx="4127500" cy="1036828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4127500" cy="1036828"/>
            </a:xfrm>
            <a:custGeom>
              <a:avLst/>
              <a:gdLst/>
              <a:ahLst/>
              <a:cxnLst/>
              <a:rect l="l" t="t" r="r" b="b"/>
              <a:pathLst>
                <a:path w="4127500" h="1036828">
                  <a:moveTo>
                    <a:pt x="0" y="0"/>
                  </a:moveTo>
                  <a:lnTo>
                    <a:pt x="4127500" y="0"/>
                  </a:lnTo>
                  <a:lnTo>
                    <a:pt x="412750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07" name="Group 107"/>
          <p:cNvGrpSpPr/>
          <p:nvPr/>
        </p:nvGrpSpPr>
        <p:grpSpPr>
          <a:xfrm>
            <a:off x="1371600" y="6707124"/>
            <a:ext cx="2948940" cy="630936"/>
            <a:chOff x="0" y="0"/>
            <a:chExt cx="3931920" cy="841248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3931920" cy="841248"/>
            </a:xfrm>
            <a:custGeom>
              <a:avLst/>
              <a:gdLst/>
              <a:ahLst/>
              <a:cxnLst/>
              <a:rect l="l" t="t" r="r" b="b"/>
              <a:pathLst>
                <a:path w="3931920" h="841248">
                  <a:moveTo>
                    <a:pt x="0" y="0"/>
                  </a:moveTo>
                  <a:lnTo>
                    <a:pt x="3931920" y="0"/>
                  </a:lnTo>
                  <a:lnTo>
                    <a:pt x="39319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071" b="-41071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0"/>
              <a:ext cx="393192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Reporting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4384358" y="6592634"/>
            <a:ext cx="6113145" cy="777621"/>
            <a:chOff x="0" y="0"/>
            <a:chExt cx="8150860" cy="1036828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8150860" cy="1036828"/>
            </a:xfrm>
            <a:custGeom>
              <a:avLst/>
              <a:gdLst/>
              <a:ahLst/>
              <a:cxnLst/>
              <a:rect l="l" t="t" r="r" b="b"/>
              <a:pathLst>
                <a:path w="8150860" h="1036828">
                  <a:moveTo>
                    <a:pt x="0" y="0"/>
                  </a:moveTo>
                  <a:lnTo>
                    <a:pt x="8150860" y="0"/>
                  </a:lnTo>
                  <a:lnTo>
                    <a:pt x="81508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12" name="Group 112"/>
          <p:cNvGrpSpPr/>
          <p:nvPr/>
        </p:nvGrpSpPr>
        <p:grpSpPr>
          <a:xfrm>
            <a:off x="4457700" y="6707124"/>
            <a:ext cx="5966460" cy="630936"/>
            <a:chOff x="0" y="0"/>
            <a:chExt cx="7955280" cy="841248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7955280" cy="841248"/>
            </a:xfrm>
            <a:custGeom>
              <a:avLst/>
              <a:gdLst/>
              <a:ahLst/>
              <a:cxnLst/>
              <a:rect l="l" t="t" r="r" b="b"/>
              <a:pathLst>
                <a:path w="7955280" h="841248">
                  <a:moveTo>
                    <a:pt x="0" y="0"/>
                  </a:moveTo>
                  <a:lnTo>
                    <a:pt x="7955280" y="0"/>
                  </a:lnTo>
                  <a:lnTo>
                    <a:pt x="79552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260" b="-134260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0"/>
              <a:ext cx="795528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JSON + HTML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0487978" y="6592634"/>
            <a:ext cx="6456045" cy="777621"/>
            <a:chOff x="0" y="0"/>
            <a:chExt cx="8608060" cy="1036828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8608060" cy="1036828"/>
            </a:xfrm>
            <a:custGeom>
              <a:avLst/>
              <a:gdLst/>
              <a:ahLst/>
              <a:cxnLst/>
              <a:rect l="l" t="t" r="r" b="b"/>
              <a:pathLst>
                <a:path w="8608060" h="1036828">
                  <a:moveTo>
                    <a:pt x="0" y="0"/>
                  </a:moveTo>
                  <a:lnTo>
                    <a:pt x="8608060" y="0"/>
                  </a:lnTo>
                  <a:lnTo>
                    <a:pt x="8608060" y="1036828"/>
                  </a:lnTo>
                  <a:lnTo>
                    <a:pt x="0" y="10368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17" name="Group 117"/>
          <p:cNvGrpSpPr/>
          <p:nvPr/>
        </p:nvGrpSpPr>
        <p:grpSpPr>
          <a:xfrm>
            <a:off x="10561320" y="6707124"/>
            <a:ext cx="6309360" cy="630936"/>
            <a:chOff x="0" y="0"/>
            <a:chExt cx="8412480" cy="841248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8412480" cy="841248"/>
            </a:xfrm>
            <a:custGeom>
              <a:avLst/>
              <a:gdLst/>
              <a:ahLst/>
              <a:cxnLst/>
              <a:rect l="l" t="t" r="r" b="b"/>
              <a:pathLst>
                <a:path w="8412480" h="841248">
                  <a:moveTo>
                    <a:pt x="0" y="0"/>
                  </a:moveTo>
                  <a:lnTo>
                    <a:pt x="8412480" y="0"/>
                  </a:lnTo>
                  <a:lnTo>
                    <a:pt x="841248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119" name="TextBox 119"/>
            <p:cNvSpPr txBox="1"/>
            <p:nvPr/>
          </p:nvSpPr>
          <p:spPr>
            <a:xfrm>
              <a:off x="0" y="0"/>
              <a:ext cx="8412480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JSON + HTML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Architecture générale de la solution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07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56335" y="3488055"/>
            <a:ext cx="2282190" cy="1280922"/>
            <a:chOff x="0" y="0"/>
            <a:chExt cx="3042920" cy="17078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42920" cy="1707896"/>
            </a:xfrm>
            <a:custGeom>
              <a:avLst/>
              <a:gdLst/>
              <a:ahLst/>
              <a:cxnLst/>
              <a:rect l="l" t="t" r="r" b="b"/>
              <a:pathLst>
                <a:path w="3042920" h="1707896">
                  <a:moveTo>
                    <a:pt x="0" y="92837"/>
                  </a:moveTo>
                  <a:cubicBezTo>
                    <a:pt x="0" y="41529"/>
                    <a:pt x="41529" y="0"/>
                    <a:pt x="92837" y="0"/>
                  </a:cubicBezTo>
                  <a:lnTo>
                    <a:pt x="2950083" y="0"/>
                  </a:lnTo>
                  <a:cubicBezTo>
                    <a:pt x="3001391" y="0"/>
                    <a:pt x="3042920" y="41529"/>
                    <a:pt x="3042920" y="92837"/>
                  </a:cubicBezTo>
                  <a:lnTo>
                    <a:pt x="3042920" y="1615059"/>
                  </a:lnTo>
                  <a:cubicBezTo>
                    <a:pt x="3042920" y="1666367"/>
                    <a:pt x="3001391" y="1707896"/>
                    <a:pt x="2950083" y="1707896"/>
                  </a:cubicBezTo>
                  <a:lnTo>
                    <a:pt x="92837" y="1707896"/>
                  </a:lnTo>
                  <a:cubicBezTo>
                    <a:pt x="41529" y="1707896"/>
                    <a:pt x="0" y="1666367"/>
                    <a:pt x="0" y="1615059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330452" y="3634740"/>
            <a:ext cx="1933956" cy="987552"/>
            <a:chOff x="0" y="0"/>
            <a:chExt cx="2578608" cy="131673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78608" cy="1316736"/>
            </a:xfrm>
            <a:custGeom>
              <a:avLst/>
              <a:gdLst/>
              <a:ahLst/>
              <a:cxnLst/>
              <a:rect l="l" t="t" r="r" b="b"/>
              <a:pathLst>
                <a:path w="2578608" h="1316736">
                  <a:moveTo>
                    <a:pt x="0" y="0"/>
                  </a:moveTo>
                  <a:lnTo>
                    <a:pt x="2578608" y="0"/>
                  </a:lnTo>
                  <a:lnTo>
                    <a:pt x="257860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16" r="-1551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2578608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Cloud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fictif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rot="96660">
            <a:off x="3633968" y="4118991"/>
            <a:ext cx="1016527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1" name="Group 21"/>
          <p:cNvGrpSpPr/>
          <p:nvPr/>
        </p:nvGrpSpPr>
        <p:grpSpPr>
          <a:xfrm>
            <a:off x="4791075" y="3488055"/>
            <a:ext cx="2556510" cy="1280922"/>
            <a:chOff x="0" y="0"/>
            <a:chExt cx="3408680" cy="17078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408680" cy="1707896"/>
            </a:xfrm>
            <a:custGeom>
              <a:avLst/>
              <a:gdLst/>
              <a:ahLst/>
              <a:cxnLst/>
              <a:rect l="l" t="t" r="r" b="b"/>
              <a:pathLst>
                <a:path w="3408680" h="1707896">
                  <a:moveTo>
                    <a:pt x="0" y="92837"/>
                  </a:moveTo>
                  <a:cubicBezTo>
                    <a:pt x="0" y="41529"/>
                    <a:pt x="41529" y="0"/>
                    <a:pt x="92837" y="0"/>
                  </a:cubicBezTo>
                  <a:lnTo>
                    <a:pt x="3315843" y="0"/>
                  </a:lnTo>
                  <a:cubicBezTo>
                    <a:pt x="3367151" y="0"/>
                    <a:pt x="3408680" y="41529"/>
                    <a:pt x="3408680" y="92837"/>
                  </a:cubicBezTo>
                  <a:lnTo>
                    <a:pt x="3408680" y="1615059"/>
                  </a:lnTo>
                  <a:cubicBezTo>
                    <a:pt x="3408680" y="1666367"/>
                    <a:pt x="3367151" y="1707896"/>
                    <a:pt x="3315843" y="1707896"/>
                  </a:cubicBezTo>
                  <a:lnTo>
                    <a:pt x="92837" y="1707896"/>
                  </a:lnTo>
                  <a:cubicBezTo>
                    <a:pt x="41529" y="1707896"/>
                    <a:pt x="0" y="1666367"/>
                    <a:pt x="0" y="1615059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965192" y="3634740"/>
            <a:ext cx="2208276" cy="987552"/>
            <a:chOff x="0" y="0"/>
            <a:chExt cx="2944368" cy="131673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944368" cy="1316736"/>
            </a:xfrm>
            <a:custGeom>
              <a:avLst/>
              <a:gdLst/>
              <a:ahLst/>
              <a:cxnLst/>
              <a:rect l="l" t="t" r="r" b="b"/>
              <a:pathLst>
                <a:path w="2944368" h="1316736">
                  <a:moveTo>
                    <a:pt x="0" y="0"/>
                  </a:moveTo>
                  <a:lnTo>
                    <a:pt x="2944368" y="0"/>
                  </a:lnTo>
                  <a:lnTo>
                    <a:pt x="294436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77" r="-737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944368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Discovery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Inventaire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 rot="96660">
            <a:off x="7597892" y="4118991"/>
            <a:ext cx="1016527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7" name="Group 27"/>
          <p:cNvGrpSpPr/>
          <p:nvPr/>
        </p:nvGrpSpPr>
        <p:grpSpPr>
          <a:xfrm>
            <a:off x="8768715" y="3488055"/>
            <a:ext cx="2556510" cy="1280922"/>
            <a:chOff x="0" y="0"/>
            <a:chExt cx="3408680" cy="170789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408680" cy="1707896"/>
            </a:xfrm>
            <a:custGeom>
              <a:avLst/>
              <a:gdLst/>
              <a:ahLst/>
              <a:cxnLst/>
              <a:rect l="l" t="t" r="r" b="b"/>
              <a:pathLst>
                <a:path w="3408680" h="1707896">
                  <a:moveTo>
                    <a:pt x="0" y="92837"/>
                  </a:moveTo>
                  <a:cubicBezTo>
                    <a:pt x="0" y="41529"/>
                    <a:pt x="41529" y="0"/>
                    <a:pt x="92837" y="0"/>
                  </a:cubicBezTo>
                  <a:lnTo>
                    <a:pt x="3315843" y="0"/>
                  </a:lnTo>
                  <a:cubicBezTo>
                    <a:pt x="3367151" y="0"/>
                    <a:pt x="3408680" y="41529"/>
                    <a:pt x="3408680" y="92837"/>
                  </a:cubicBezTo>
                  <a:lnTo>
                    <a:pt x="3408680" y="1615059"/>
                  </a:lnTo>
                  <a:cubicBezTo>
                    <a:pt x="3408680" y="1666367"/>
                    <a:pt x="3367151" y="1707896"/>
                    <a:pt x="3315843" y="1707896"/>
                  </a:cubicBezTo>
                  <a:lnTo>
                    <a:pt x="92837" y="1707896"/>
                  </a:lnTo>
                  <a:cubicBezTo>
                    <a:pt x="41529" y="1707896"/>
                    <a:pt x="0" y="1666367"/>
                    <a:pt x="0" y="1615059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8942832" y="3634740"/>
            <a:ext cx="2208276" cy="987552"/>
            <a:chOff x="0" y="0"/>
            <a:chExt cx="2944368" cy="131673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944368" cy="1316736"/>
            </a:xfrm>
            <a:custGeom>
              <a:avLst/>
              <a:gdLst/>
              <a:ahLst/>
              <a:cxnLst/>
              <a:rect l="l" t="t" r="r" b="b"/>
              <a:pathLst>
                <a:path w="2944368" h="1316736">
                  <a:moveTo>
                    <a:pt x="0" y="0"/>
                  </a:moveTo>
                  <a:lnTo>
                    <a:pt x="2944368" y="0"/>
                  </a:lnTo>
                  <a:lnTo>
                    <a:pt x="294436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77" r="-7377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2944368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Security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Analysis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 rot="96660">
            <a:off x="11575532" y="4118991"/>
            <a:ext cx="1016527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3" name="Group 33"/>
          <p:cNvGrpSpPr/>
          <p:nvPr/>
        </p:nvGrpSpPr>
        <p:grpSpPr>
          <a:xfrm>
            <a:off x="12746355" y="3488055"/>
            <a:ext cx="2145030" cy="1280922"/>
            <a:chOff x="0" y="0"/>
            <a:chExt cx="2860040" cy="170789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860040" cy="1707896"/>
            </a:xfrm>
            <a:custGeom>
              <a:avLst/>
              <a:gdLst/>
              <a:ahLst/>
              <a:cxnLst/>
              <a:rect l="l" t="t" r="r" b="b"/>
              <a:pathLst>
                <a:path w="2860040" h="1707896">
                  <a:moveTo>
                    <a:pt x="0" y="92837"/>
                  </a:moveTo>
                  <a:cubicBezTo>
                    <a:pt x="0" y="41529"/>
                    <a:pt x="41529" y="0"/>
                    <a:pt x="92837" y="0"/>
                  </a:cubicBezTo>
                  <a:lnTo>
                    <a:pt x="2767203" y="0"/>
                  </a:lnTo>
                  <a:cubicBezTo>
                    <a:pt x="2818511" y="0"/>
                    <a:pt x="2860040" y="41529"/>
                    <a:pt x="2860040" y="92837"/>
                  </a:cubicBezTo>
                  <a:lnTo>
                    <a:pt x="2860040" y="1615059"/>
                  </a:lnTo>
                  <a:cubicBezTo>
                    <a:pt x="2860040" y="1666367"/>
                    <a:pt x="2818511" y="1707896"/>
                    <a:pt x="2767203" y="1707896"/>
                  </a:cubicBezTo>
                  <a:lnTo>
                    <a:pt x="92837" y="1707896"/>
                  </a:lnTo>
                  <a:cubicBezTo>
                    <a:pt x="41529" y="1707896"/>
                    <a:pt x="0" y="1666367"/>
                    <a:pt x="0" y="1615059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2920472" y="3634740"/>
            <a:ext cx="1796796" cy="987552"/>
            <a:chOff x="0" y="0"/>
            <a:chExt cx="2395728" cy="131673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395728" cy="1316736"/>
            </a:xfrm>
            <a:custGeom>
              <a:avLst/>
              <a:gdLst/>
              <a:ahLst/>
              <a:cxnLst/>
              <a:rect l="l" t="t" r="r" b="b"/>
              <a:pathLst>
                <a:path w="2395728" h="1316736">
                  <a:moveTo>
                    <a:pt x="0" y="0"/>
                  </a:moveTo>
                  <a:lnTo>
                    <a:pt x="2395728" y="0"/>
                  </a:lnTo>
                  <a:lnTo>
                    <a:pt x="239572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17" r="-20517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2395728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Risk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Scoring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 rot="103620">
            <a:off x="15141673" y="4118991"/>
            <a:ext cx="947976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9" name="Group 39"/>
          <p:cNvGrpSpPr/>
          <p:nvPr/>
        </p:nvGrpSpPr>
        <p:grpSpPr>
          <a:xfrm>
            <a:off x="16243935" y="3488055"/>
            <a:ext cx="1733550" cy="1280922"/>
            <a:chOff x="0" y="0"/>
            <a:chExt cx="2311400" cy="170789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311400" cy="1707896"/>
            </a:xfrm>
            <a:custGeom>
              <a:avLst/>
              <a:gdLst/>
              <a:ahLst/>
              <a:cxnLst/>
              <a:rect l="l" t="t" r="r" b="b"/>
              <a:pathLst>
                <a:path w="2311400" h="1707896">
                  <a:moveTo>
                    <a:pt x="0" y="92837"/>
                  </a:moveTo>
                  <a:cubicBezTo>
                    <a:pt x="0" y="41529"/>
                    <a:pt x="41529" y="0"/>
                    <a:pt x="92837" y="0"/>
                  </a:cubicBezTo>
                  <a:lnTo>
                    <a:pt x="2218563" y="0"/>
                  </a:lnTo>
                  <a:cubicBezTo>
                    <a:pt x="2269871" y="0"/>
                    <a:pt x="2311400" y="41529"/>
                    <a:pt x="2311400" y="92837"/>
                  </a:cubicBezTo>
                  <a:lnTo>
                    <a:pt x="2311400" y="1615059"/>
                  </a:lnTo>
                  <a:cubicBezTo>
                    <a:pt x="2311400" y="1666367"/>
                    <a:pt x="2269871" y="1707896"/>
                    <a:pt x="2218563" y="1707896"/>
                  </a:cubicBezTo>
                  <a:lnTo>
                    <a:pt x="92837" y="1707896"/>
                  </a:lnTo>
                  <a:cubicBezTo>
                    <a:pt x="41529" y="1707896"/>
                    <a:pt x="0" y="1666367"/>
                    <a:pt x="0" y="1615059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6418052" y="3634740"/>
            <a:ext cx="1385316" cy="987552"/>
            <a:chOff x="0" y="0"/>
            <a:chExt cx="1847088" cy="131673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847088" cy="1316736"/>
            </a:xfrm>
            <a:custGeom>
              <a:avLst/>
              <a:gdLst/>
              <a:ahLst/>
              <a:cxnLst/>
              <a:rect l="l" t="t" r="r" b="b"/>
              <a:pathLst>
                <a:path w="1847088" h="1316736">
                  <a:moveTo>
                    <a:pt x="0" y="0"/>
                  </a:moveTo>
                  <a:lnTo>
                    <a:pt x="1847088" y="0"/>
                  </a:lnTo>
                  <a:lnTo>
                    <a:pt x="184708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463" r="-41463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1847088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Reporting</a:t>
              </a:r>
            </a:p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JSON / HTML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577340" y="6377940"/>
            <a:ext cx="14676120" cy="2125980"/>
            <a:chOff x="0" y="0"/>
            <a:chExt cx="19568160" cy="28346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9568161" cy="2834640"/>
            </a:xfrm>
            <a:custGeom>
              <a:avLst/>
              <a:gdLst/>
              <a:ahLst/>
              <a:cxnLst/>
              <a:rect l="l" t="t" r="r" b="b"/>
              <a:pathLst>
                <a:path w="19568161" h="2834640">
                  <a:moveTo>
                    <a:pt x="0" y="0"/>
                  </a:moveTo>
                  <a:lnTo>
                    <a:pt x="19568161" y="0"/>
                  </a:lnTo>
                  <a:lnTo>
                    <a:pt x="19568161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09" b="-84509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19568160" cy="2834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47700" lvl="1" indent="-323850" algn="l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Chaque étape enrichit le résultat précédent sans changer la responsabilité des autres modules.</a:t>
              </a:r>
            </a:p>
            <a:p>
              <a:pPr marL="647700" lvl="1" indent="-323850" algn="l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Le même cycle conceptuel est utilisé pour AWS et Azure.</a:t>
              </a:r>
            </a:p>
            <a:p>
              <a:pPr marL="647700" lvl="1" indent="-323850" algn="l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Le pipeline est orchestré par le module Python principal de chaque projet.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Séparation claire des responsabilités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08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3495" y="2527935"/>
            <a:ext cx="3379470" cy="924306"/>
            <a:chOff x="0" y="0"/>
            <a:chExt cx="4505960" cy="12324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505960" cy="1232408"/>
            </a:xfrm>
            <a:custGeom>
              <a:avLst/>
              <a:gdLst/>
              <a:ahLst/>
              <a:cxnLst/>
              <a:rect l="l" t="t" r="r" b="b"/>
              <a:pathLst>
                <a:path w="4505960" h="1232408">
                  <a:moveTo>
                    <a:pt x="0" y="93345"/>
                  </a:moveTo>
                  <a:cubicBezTo>
                    <a:pt x="0" y="41783"/>
                    <a:pt x="41783" y="0"/>
                    <a:pt x="93345" y="0"/>
                  </a:cubicBezTo>
                  <a:lnTo>
                    <a:pt x="4412615" y="0"/>
                  </a:lnTo>
                  <a:cubicBezTo>
                    <a:pt x="4464177" y="0"/>
                    <a:pt x="4505960" y="41783"/>
                    <a:pt x="4505960" y="93345"/>
                  </a:cubicBezTo>
                  <a:lnTo>
                    <a:pt x="4505960" y="1139063"/>
                  </a:lnTo>
                  <a:cubicBezTo>
                    <a:pt x="4505960" y="1190625"/>
                    <a:pt x="4464177" y="1232408"/>
                    <a:pt x="4412615" y="1232408"/>
                  </a:cubicBezTo>
                  <a:lnTo>
                    <a:pt x="93345" y="1232408"/>
                  </a:lnTo>
                  <a:cubicBezTo>
                    <a:pt x="41783" y="1232408"/>
                    <a:pt x="0" y="1190625"/>
                    <a:pt x="0" y="1139063"/>
                  </a:cubicBezTo>
                  <a:close/>
                </a:path>
              </a:pathLst>
            </a:custGeom>
            <a:solidFill>
              <a:srgbClr val="1F2A44"/>
            </a:solidFill>
            <a:ln w="19050" cap="sq">
              <a:solidFill>
                <a:srgbClr val="1F2A44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467612" y="2674620"/>
            <a:ext cx="3031236" cy="630936"/>
            <a:chOff x="0" y="0"/>
            <a:chExt cx="4041648" cy="8412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041648" cy="841248"/>
            </a:xfrm>
            <a:custGeom>
              <a:avLst/>
              <a:gdLst/>
              <a:ahLst/>
              <a:cxnLst/>
              <a:rect l="l" t="t" r="r" b="b"/>
              <a:pathLst>
                <a:path w="4041648" h="841248">
                  <a:moveTo>
                    <a:pt x="0" y="0"/>
                  </a:moveTo>
                  <a:lnTo>
                    <a:pt x="4041648" y="0"/>
                  </a:lnTo>
                  <a:lnTo>
                    <a:pt x="40416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612" b="-4361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4041648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Discovery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13005" y="3909317"/>
            <a:ext cx="3154175" cy="137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rPr>
              <a:t>Collecte les faits techniques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rPr>
              <a:t>et les relations entre ressources.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476875" y="2527935"/>
            <a:ext cx="3379470" cy="924306"/>
            <a:chOff x="0" y="0"/>
            <a:chExt cx="4505960" cy="12324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505960" cy="1232408"/>
            </a:xfrm>
            <a:custGeom>
              <a:avLst/>
              <a:gdLst/>
              <a:ahLst/>
              <a:cxnLst/>
              <a:rect l="l" t="t" r="r" b="b"/>
              <a:pathLst>
                <a:path w="4505960" h="1232408">
                  <a:moveTo>
                    <a:pt x="0" y="93345"/>
                  </a:moveTo>
                  <a:cubicBezTo>
                    <a:pt x="0" y="41783"/>
                    <a:pt x="41783" y="0"/>
                    <a:pt x="93345" y="0"/>
                  </a:cubicBezTo>
                  <a:lnTo>
                    <a:pt x="4412615" y="0"/>
                  </a:lnTo>
                  <a:cubicBezTo>
                    <a:pt x="4464177" y="0"/>
                    <a:pt x="4505960" y="41783"/>
                    <a:pt x="4505960" y="93345"/>
                  </a:cubicBezTo>
                  <a:lnTo>
                    <a:pt x="4505960" y="1139063"/>
                  </a:lnTo>
                  <a:cubicBezTo>
                    <a:pt x="4505960" y="1190625"/>
                    <a:pt x="4464177" y="1232408"/>
                    <a:pt x="4412615" y="1232408"/>
                  </a:cubicBezTo>
                  <a:lnTo>
                    <a:pt x="93345" y="1232408"/>
                  </a:lnTo>
                  <a:cubicBezTo>
                    <a:pt x="41783" y="1232408"/>
                    <a:pt x="0" y="1190625"/>
                    <a:pt x="0" y="1139063"/>
                  </a:cubicBezTo>
                  <a:close/>
                </a:path>
              </a:pathLst>
            </a:custGeom>
            <a:solidFill>
              <a:srgbClr val="1F2A44"/>
            </a:solidFill>
            <a:ln w="19050" cap="sq">
              <a:solidFill>
                <a:srgbClr val="1F2A44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650992" y="2674620"/>
            <a:ext cx="3031236" cy="630936"/>
            <a:chOff x="0" y="0"/>
            <a:chExt cx="4041648" cy="8412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041648" cy="841248"/>
            </a:xfrm>
            <a:custGeom>
              <a:avLst/>
              <a:gdLst/>
              <a:ahLst/>
              <a:cxnLst/>
              <a:rect l="l" t="t" r="r" b="b"/>
              <a:pathLst>
                <a:path w="4041648" h="841248">
                  <a:moveTo>
                    <a:pt x="0" y="0"/>
                  </a:moveTo>
                  <a:lnTo>
                    <a:pt x="4041648" y="0"/>
                  </a:lnTo>
                  <a:lnTo>
                    <a:pt x="40416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612" b="-4361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4041648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Analysis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596385" y="3909317"/>
            <a:ext cx="3154175" cy="137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rPr>
              <a:t>Transforme les configurations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rPr>
              <a:t>en findings traçables.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660255" y="2527935"/>
            <a:ext cx="3379470" cy="924306"/>
            <a:chOff x="0" y="0"/>
            <a:chExt cx="4505960" cy="123240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505960" cy="1232408"/>
            </a:xfrm>
            <a:custGeom>
              <a:avLst/>
              <a:gdLst/>
              <a:ahLst/>
              <a:cxnLst/>
              <a:rect l="l" t="t" r="r" b="b"/>
              <a:pathLst>
                <a:path w="4505960" h="1232408">
                  <a:moveTo>
                    <a:pt x="0" y="93345"/>
                  </a:moveTo>
                  <a:cubicBezTo>
                    <a:pt x="0" y="41783"/>
                    <a:pt x="41783" y="0"/>
                    <a:pt x="93345" y="0"/>
                  </a:cubicBezTo>
                  <a:lnTo>
                    <a:pt x="4412615" y="0"/>
                  </a:lnTo>
                  <a:cubicBezTo>
                    <a:pt x="4464177" y="0"/>
                    <a:pt x="4505960" y="41783"/>
                    <a:pt x="4505960" y="93345"/>
                  </a:cubicBezTo>
                  <a:lnTo>
                    <a:pt x="4505960" y="1139063"/>
                  </a:lnTo>
                  <a:cubicBezTo>
                    <a:pt x="4505960" y="1190625"/>
                    <a:pt x="4464177" y="1232408"/>
                    <a:pt x="4412615" y="1232408"/>
                  </a:cubicBezTo>
                  <a:lnTo>
                    <a:pt x="93345" y="1232408"/>
                  </a:lnTo>
                  <a:cubicBezTo>
                    <a:pt x="41783" y="1232408"/>
                    <a:pt x="0" y="1190625"/>
                    <a:pt x="0" y="1139063"/>
                  </a:cubicBezTo>
                  <a:close/>
                </a:path>
              </a:pathLst>
            </a:custGeom>
            <a:solidFill>
              <a:srgbClr val="1F2A44"/>
            </a:solidFill>
            <a:ln w="19050" cap="sq">
              <a:solidFill>
                <a:srgbClr val="1F2A44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9834372" y="2674620"/>
            <a:ext cx="3031236" cy="630936"/>
            <a:chOff x="0" y="0"/>
            <a:chExt cx="4041648" cy="8412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041648" cy="841248"/>
            </a:xfrm>
            <a:custGeom>
              <a:avLst/>
              <a:gdLst/>
              <a:ahLst/>
              <a:cxnLst/>
              <a:rect l="l" t="t" r="r" b="b"/>
              <a:pathLst>
                <a:path w="4041648" h="841248">
                  <a:moveTo>
                    <a:pt x="0" y="0"/>
                  </a:moveTo>
                  <a:lnTo>
                    <a:pt x="4041648" y="0"/>
                  </a:lnTo>
                  <a:lnTo>
                    <a:pt x="40416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612" b="-43612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4041648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Scoring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779765" y="3909317"/>
            <a:ext cx="3154175" cy="137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rPr>
              <a:t>Calcule la priorité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rPr>
              <a:t>à partir du risque.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3843635" y="2527935"/>
            <a:ext cx="3379470" cy="924306"/>
            <a:chOff x="0" y="0"/>
            <a:chExt cx="4505960" cy="123240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505960" cy="1232408"/>
            </a:xfrm>
            <a:custGeom>
              <a:avLst/>
              <a:gdLst/>
              <a:ahLst/>
              <a:cxnLst/>
              <a:rect l="l" t="t" r="r" b="b"/>
              <a:pathLst>
                <a:path w="4505960" h="1232408">
                  <a:moveTo>
                    <a:pt x="0" y="93345"/>
                  </a:moveTo>
                  <a:cubicBezTo>
                    <a:pt x="0" y="41783"/>
                    <a:pt x="41783" y="0"/>
                    <a:pt x="93345" y="0"/>
                  </a:cubicBezTo>
                  <a:lnTo>
                    <a:pt x="4412615" y="0"/>
                  </a:lnTo>
                  <a:cubicBezTo>
                    <a:pt x="4464177" y="0"/>
                    <a:pt x="4505960" y="41783"/>
                    <a:pt x="4505960" y="93345"/>
                  </a:cubicBezTo>
                  <a:lnTo>
                    <a:pt x="4505960" y="1139063"/>
                  </a:lnTo>
                  <a:cubicBezTo>
                    <a:pt x="4505960" y="1190625"/>
                    <a:pt x="4464177" y="1232408"/>
                    <a:pt x="4412615" y="1232408"/>
                  </a:cubicBezTo>
                  <a:lnTo>
                    <a:pt x="93345" y="1232408"/>
                  </a:lnTo>
                  <a:cubicBezTo>
                    <a:pt x="41783" y="1232408"/>
                    <a:pt x="0" y="1190625"/>
                    <a:pt x="0" y="1139063"/>
                  </a:cubicBezTo>
                  <a:close/>
                </a:path>
              </a:pathLst>
            </a:custGeom>
            <a:solidFill>
              <a:srgbClr val="1F2A44"/>
            </a:solidFill>
            <a:ln w="19050" cap="sq">
              <a:solidFill>
                <a:srgbClr val="1F2A44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4017752" y="2674620"/>
            <a:ext cx="3031236" cy="630936"/>
            <a:chOff x="0" y="0"/>
            <a:chExt cx="4041648" cy="84124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041648" cy="841248"/>
            </a:xfrm>
            <a:custGeom>
              <a:avLst/>
              <a:gdLst/>
              <a:ahLst/>
              <a:cxnLst/>
              <a:rect l="l" t="t" r="r" b="b"/>
              <a:pathLst>
                <a:path w="4041648" h="841248">
                  <a:moveTo>
                    <a:pt x="0" y="0"/>
                  </a:moveTo>
                  <a:lnTo>
                    <a:pt x="4041648" y="0"/>
                  </a:lnTo>
                  <a:lnTo>
                    <a:pt x="40416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612" b="-4361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4041648" cy="8412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Reporting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3963145" y="3909317"/>
            <a:ext cx="3154175" cy="137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rPr>
              <a:t>Produit les fichiers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172033"/>
                </a:solidFill>
                <a:latin typeface="Aptos"/>
                <a:ea typeface="Aptos"/>
                <a:cs typeface="Aptos"/>
                <a:sym typeface="Aptos"/>
              </a:rPr>
              <a:t>utilisables par l’utilisateur.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Workflow d’exécution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09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82015" y="3007995"/>
            <a:ext cx="2145030" cy="1143762"/>
            <a:chOff x="0" y="0"/>
            <a:chExt cx="2860040" cy="15250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860040" cy="1525016"/>
            </a:xfrm>
            <a:custGeom>
              <a:avLst/>
              <a:gdLst/>
              <a:ahLst/>
              <a:cxnLst/>
              <a:rect l="l" t="t" r="r" b="b"/>
              <a:pathLst>
                <a:path w="2860040" h="1525016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767076" y="0"/>
                  </a:lnTo>
                  <a:cubicBezTo>
                    <a:pt x="2818384" y="0"/>
                    <a:pt x="2860040" y="41656"/>
                    <a:pt x="2860040" y="92964"/>
                  </a:cubicBezTo>
                  <a:lnTo>
                    <a:pt x="2860040" y="1432052"/>
                  </a:lnTo>
                  <a:cubicBezTo>
                    <a:pt x="2860040" y="1483360"/>
                    <a:pt x="2818384" y="1525016"/>
                    <a:pt x="2767076" y="1525016"/>
                  </a:cubicBezTo>
                  <a:lnTo>
                    <a:pt x="92964" y="1525016"/>
                  </a:lnTo>
                  <a:cubicBezTo>
                    <a:pt x="41656" y="1525016"/>
                    <a:pt x="0" y="1483360"/>
                    <a:pt x="0" y="1432052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056132" y="3154680"/>
            <a:ext cx="1796796" cy="850392"/>
            <a:chOff x="0" y="0"/>
            <a:chExt cx="2395728" cy="11338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95728" cy="1133856"/>
            </a:xfrm>
            <a:custGeom>
              <a:avLst/>
              <a:gdLst/>
              <a:ahLst/>
              <a:cxnLst/>
              <a:rect l="l" t="t" r="r" b="b"/>
              <a:pathLst>
                <a:path w="2395728" h="1133856">
                  <a:moveTo>
                    <a:pt x="0" y="0"/>
                  </a:moveTo>
                  <a:lnTo>
                    <a:pt x="2395728" y="0"/>
                  </a:lnTo>
                  <a:lnTo>
                    <a:pt x="239572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23" r="-1072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2395728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PowerShell</a:t>
              </a:r>
            </a:p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quickstart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rot="198240">
            <a:off x="3153699" y="3570351"/>
            <a:ext cx="495748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1" name="Group 21"/>
          <p:cNvGrpSpPr/>
          <p:nvPr/>
        </p:nvGrpSpPr>
        <p:grpSpPr>
          <a:xfrm>
            <a:off x="3762375" y="3007995"/>
            <a:ext cx="2145030" cy="1143762"/>
            <a:chOff x="0" y="0"/>
            <a:chExt cx="2860040" cy="152501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860040" cy="1525016"/>
            </a:xfrm>
            <a:custGeom>
              <a:avLst/>
              <a:gdLst/>
              <a:ahLst/>
              <a:cxnLst/>
              <a:rect l="l" t="t" r="r" b="b"/>
              <a:pathLst>
                <a:path w="2860040" h="1525016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767076" y="0"/>
                  </a:lnTo>
                  <a:cubicBezTo>
                    <a:pt x="2818384" y="0"/>
                    <a:pt x="2860040" y="41656"/>
                    <a:pt x="2860040" y="92964"/>
                  </a:cubicBezTo>
                  <a:lnTo>
                    <a:pt x="2860040" y="1432052"/>
                  </a:lnTo>
                  <a:cubicBezTo>
                    <a:pt x="2860040" y="1483360"/>
                    <a:pt x="2818384" y="1525016"/>
                    <a:pt x="2767076" y="1525016"/>
                  </a:cubicBezTo>
                  <a:lnTo>
                    <a:pt x="92964" y="1525016"/>
                  </a:lnTo>
                  <a:cubicBezTo>
                    <a:pt x="41656" y="1525016"/>
                    <a:pt x="0" y="1483360"/>
                    <a:pt x="0" y="1432052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951376" y="2993916"/>
            <a:ext cx="1796796" cy="1143349"/>
            <a:chOff x="0" y="0"/>
            <a:chExt cx="2395728" cy="152446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95728" cy="1524465"/>
            </a:xfrm>
            <a:custGeom>
              <a:avLst/>
              <a:gdLst/>
              <a:ahLst/>
              <a:cxnLst/>
              <a:rect l="l" t="t" r="r" b="b"/>
              <a:pathLst>
                <a:path w="2395728" h="1524465">
                  <a:moveTo>
                    <a:pt x="0" y="0"/>
                  </a:moveTo>
                  <a:lnTo>
                    <a:pt x="2395728" y="0"/>
                  </a:lnTo>
                  <a:lnTo>
                    <a:pt x="2395728" y="1524465"/>
                  </a:lnTo>
                  <a:lnTo>
                    <a:pt x="0" y="15244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23" r="-10723" b="2562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395728" cy="1524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Python</a:t>
              </a:r>
            </a:p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venv + package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 rot="198240">
            <a:off x="6034059" y="3570351"/>
            <a:ext cx="495748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7" name="Group 27"/>
          <p:cNvGrpSpPr/>
          <p:nvPr/>
        </p:nvGrpSpPr>
        <p:grpSpPr>
          <a:xfrm>
            <a:off x="6642735" y="3007995"/>
            <a:ext cx="2145030" cy="1143762"/>
            <a:chOff x="0" y="0"/>
            <a:chExt cx="2860040" cy="152501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860040" cy="1525016"/>
            </a:xfrm>
            <a:custGeom>
              <a:avLst/>
              <a:gdLst/>
              <a:ahLst/>
              <a:cxnLst/>
              <a:rect l="l" t="t" r="r" b="b"/>
              <a:pathLst>
                <a:path w="2860040" h="1525016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767076" y="0"/>
                  </a:lnTo>
                  <a:cubicBezTo>
                    <a:pt x="2818384" y="0"/>
                    <a:pt x="2860040" y="41656"/>
                    <a:pt x="2860040" y="92964"/>
                  </a:cubicBezTo>
                  <a:lnTo>
                    <a:pt x="2860040" y="1432052"/>
                  </a:lnTo>
                  <a:cubicBezTo>
                    <a:pt x="2860040" y="1483360"/>
                    <a:pt x="2818384" y="1525016"/>
                    <a:pt x="2767076" y="1525016"/>
                  </a:cubicBezTo>
                  <a:lnTo>
                    <a:pt x="92964" y="1525016"/>
                  </a:lnTo>
                  <a:cubicBezTo>
                    <a:pt x="41656" y="1525016"/>
                    <a:pt x="0" y="1483360"/>
                    <a:pt x="0" y="1432052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6816852" y="3154680"/>
            <a:ext cx="1796796" cy="850392"/>
            <a:chOff x="0" y="0"/>
            <a:chExt cx="2395728" cy="113385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395728" cy="1133856"/>
            </a:xfrm>
            <a:custGeom>
              <a:avLst/>
              <a:gdLst/>
              <a:ahLst/>
              <a:cxnLst/>
              <a:rect l="l" t="t" r="r" b="b"/>
              <a:pathLst>
                <a:path w="2395728" h="1133856">
                  <a:moveTo>
                    <a:pt x="0" y="0"/>
                  </a:moveTo>
                  <a:lnTo>
                    <a:pt x="2395728" y="0"/>
                  </a:lnTo>
                  <a:lnTo>
                    <a:pt x="239572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23" r="-10723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2395728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Docker</a:t>
              </a:r>
            </a:p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Compose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 rot="198240">
            <a:off x="8914419" y="3570351"/>
            <a:ext cx="495748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3" name="Group 33"/>
          <p:cNvGrpSpPr/>
          <p:nvPr/>
        </p:nvGrpSpPr>
        <p:grpSpPr>
          <a:xfrm>
            <a:off x="9523095" y="3007995"/>
            <a:ext cx="2145030" cy="1143762"/>
            <a:chOff x="0" y="0"/>
            <a:chExt cx="2860040" cy="152501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860040" cy="1525016"/>
            </a:xfrm>
            <a:custGeom>
              <a:avLst/>
              <a:gdLst/>
              <a:ahLst/>
              <a:cxnLst/>
              <a:rect l="l" t="t" r="r" b="b"/>
              <a:pathLst>
                <a:path w="2860040" h="1525016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767076" y="0"/>
                  </a:lnTo>
                  <a:cubicBezTo>
                    <a:pt x="2818384" y="0"/>
                    <a:pt x="2860040" y="41656"/>
                    <a:pt x="2860040" y="92964"/>
                  </a:cubicBezTo>
                  <a:lnTo>
                    <a:pt x="2860040" y="1432052"/>
                  </a:lnTo>
                  <a:cubicBezTo>
                    <a:pt x="2860040" y="1483360"/>
                    <a:pt x="2818384" y="1525016"/>
                    <a:pt x="2767076" y="1525016"/>
                  </a:cubicBezTo>
                  <a:lnTo>
                    <a:pt x="92964" y="1525016"/>
                  </a:lnTo>
                  <a:cubicBezTo>
                    <a:pt x="41656" y="1525016"/>
                    <a:pt x="0" y="1483360"/>
                    <a:pt x="0" y="1432052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9697212" y="3154680"/>
            <a:ext cx="1796796" cy="850392"/>
            <a:chOff x="0" y="0"/>
            <a:chExt cx="2395728" cy="113385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395728" cy="1133856"/>
            </a:xfrm>
            <a:custGeom>
              <a:avLst/>
              <a:gdLst/>
              <a:ahLst/>
              <a:cxnLst/>
              <a:rect l="l" t="t" r="r" b="b"/>
              <a:pathLst>
                <a:path w="2395728" h="1133856">
                  <a:moveTo>
                    <a:pt x="0" y="0"/>
                  </a:moveTo>
                  <a:lnTo>
                    <a:pt x="2395728" y="0"/>
                  </a:lnTo>
                  <a:lnTo>
                    <a:pt x="239572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23" r="-1072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2395728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Lab local</a:t>
              </a:r>
            </a:p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AWS/Azure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 rot="198240">
            <a:off x="11794779" y="3570351"/>
            <a:ext cx="495748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9" name="Group 39"/>
          <p:cNvGrpSpPr/>
          <p:nvPr/>
        </p:nvGrpSpPr>
        <p:grpSpPr>
          <a:xfrm>
            <a:off x="12403455" y="3007995"/>
            <a:ext cx="2145030" cy="1143762"/>
            <a:chOff x="0" y="0"/>
            <a:chExt cx="2860040" cy="152501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860040" cy="1525016"/>
            </a:xfrm>
            <a:custGeom>
              <a:avLst/>
              <a:gdLst/>
              <a:ahLst/>
              <a:cxnLst/>
              <a:rect l="l" t="t" r="r" b="b"/>
              <a:pathLst>
                <a:path w="2860040" h="1525016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767076" y="0"/>
                  </a:lnTo>
                  <a:cubicBezTo>
                    <a:pt x="2818384" y="0"/>
                    <a:pt x="2860040" y="41656"/>
                    <a:pt x="2860040" y="92964"/>
                  </a:cubicBezTo>
                  <a:lnTo>
                    <a:pt x="2860040" y="1432052"/>
                  </a:lnTo>
                  <a:cubicBezTo>
                    <a:pt x="2860040" y="1483360"/>
                    <a:pt x="2818384" y="1525016"/>
                    <a:pt x="2767076" y="1525016"/>
                  </a:cubicBezTo>
                  <a:lnTo>
                    <a:pt x="92964" y="1525016"/>
                  </a:lnTo>
                  <a:cubicBezTo>
                    <a:pt x="41656" y="1525016"/>
                    <a:pt x="0" y="1483360"/>
                    <a:pt x="0" y="1432052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2577572" y="3154680"/>
            <a:ext cx="1796796" cy="850392"/>
            <a:chOff x="0" y="0"/>
            <a:chExt cx="2395728" cy="113385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395728" cy="1133856"/>
            </a:xfrm>
            <a:custGeom>
              <a:avLst/>
              <a:gdLst/>
              <a:ahLst/>
              <a:cxnLst/>
              <a:rect l="l" t="t" r="r" b="b"/>
              <a:pathLst>
                <a:path w="2395728" h="1133856">
                  <a:moveTo>
                    <a:pt x="0" y="0"/>
                  </a:moveTo>
                  <a:lnTo>
                    <a:pt x="2395728" y="0"/>
                  </a:lnTo>
                  <a:lnTo>
                    <a:pt x="239572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23" r="-10723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2395728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Scan</a:t>
              </a:r>
            </a:p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Python</a:t>
              </a:r>
            </a:p>
          </p:txBody>
        </p:sp>
      </p:grpSp>
      <p:sp>
        <p:nvSpPr>
          <p:cNvPr id="44" name="AutoShape 44"/>
          <p:cNvSpPr/>
          <p:nvPr/>
        </p:nvSpPr>
        <p:spPr>
          <a:xfrm rot="198240">
            <a:off x="14675139" y="3570351"/>
            <a:ext cx="495748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5" name="Group 45"/>
          <p:cNvGrpSpPr/>
          <p:nvPr/>
        </p:nvGrpSpPr>
        <p:grpSpPr>
          <a:xfrm>
            <a:off x="15283815" y="3007995"/>
            <a:ext cx="2145030" cy="1143762"/>
            <a:chOff x="0" y="0"/>
            <a:chExt cx="2860040" cy="152501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860040" cy="1525016"/>
            </a:xfrm>
            <a:custGeom>
              <a:avLst/>
              <a:gdLst/>
              <a:ahLst/>
              <a:cxnLst/>
              <a:rect l="l" t="t" r="r" b="b"/>
              <a:pathLst>
                <a:path w="2860040" h="1525016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767076" y="0"/>
                  </a:lnTo>
                  <a:cubicBezTo>
                    <a:pt x="2818384" y="0"/>
                    <a:pt x="2860040" y="41656"/>
                    <a:pt x="2860040" y="92964"/>
                  </a:cubicBezTo>
                  <a:lnTo>
                    <a:pt x="2860040" y="1432052"/>
                  </a:lnTo>
                  <a:cubicBezTo>
                    <a:pt x="2860040" y="1483360"/>
                    <a:pt x="2818384" y="1525016"/>
                    <a:pt x="2767076" y="1525016"/>
                  </a:cubicBezTo>
                  <a:lnTo>
                    <a:pt x="92964" y="1525016"/>
                  </a:lnTo>
                  <a:cubicBezTo>
                    <a:pt x="41656" y="1525016"/>
                    <a:pt x="0" y="1483360"/>
                    <a:pt x="0" y="1432052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5457932" y="3154680"/>
            <a:ext cx="1796796" cy="850392"/>
            <a:chOff x="0" y="0"/>
            <a:chExt cx="2395728" cy="113385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395728" cy="1133856"/>
            </a:xfrm>
            <a:custGeom>
              <a:avLst/>
              <a:gdLst/>
              <a:ahLst/>
              <a:cxnLst/>
              <a:rect l="l" t="t" r="r" b="b"/>
              <a:pathLst>
                <a:path w="2395728" h="1133856">
                  <a:moveTo>
                    <a:pt x="0" y="0"/>
                  </a:moveTo>
                  <a:lnTo>
                    <a:pt x="2395728" y="0"/>
                  </a:lnTo>
                  <a:lnTo>
                    <a:pt x="239572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23" r="-10723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2395728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output/</a:t>
              </a:r>
            </a:p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rapport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72316" y="5806463"/>
            <a:ext cx="14749260" cy="2397063"/>
            <a:chOff x="0" y="0"/>
            <a:chExt cx="19202400" cy="312079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9202400" cy="3120791"/>
            </a:xfrm>
            <a:custGeom>
              <a:avLst/>
              <a:gdLst/>
              <a:ahLst/>
              <a:cxnLst/>
              <a:rect l="l" t="t" r="r" b="b"/>
              <a:pathLst>
                <a:path w="19202400" h="3120791">
                  <a:moveTo>
                    <a:pt x="0" y="0"/>
                  </a:moveTo>
                  <a:lnTo>
                    <a:pt x="19202400" y="0"/>
                  </a:lnTo>
                  <a:lnTo>
                    <a:pt x="19202400" y="3120791"/>
                  </a:lnTo>
                  <a:lnTo>
                    <a:pt x="0" y="31207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872" b="-60912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19202400" cy="3120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Une commande complète permet de préparer l’environnement, créer le lab et lancer le scan.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Des scripts séparés permettent de redémarrer, scanner, réinitialiser ou arrêter le laboratoire.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Le cœur applicatif reste le package Python et son interface CLI.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Implémentation AWS : laboratoire LocalStack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2075" y="2253615"/>
            <a:ext cx="2899410" cy="910590"/>
            <a:chOff x="0" y="0"/>
            <a:chExt cx="3865880" cy="12141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65880" cy="1214120"/>
            </a:xfrm>
            <a:custGeom>
              <a:avLst/>
              <a:gdLst/>
              <a:ahLst/>
              <a:cxnLst/>
              <a:rect l="l" t="t" r="r" b="b"/>
              <a:pathLst>
                <a:path w="3865880" h="1214120">
                  <a:moveTo>
                    <a:pt x="0" y="93345"/>
                  </a:moveTo>
                  <a:cubicBezTo>
                    <a:pt x="0" y="41783"/>
                    <a:pt x="41783" y="0"/>
                    <a:pt x="93345" y="0"/>
                  </a:cubicBezTo>
                  <a:lnTo>
                    <a:pt x="3772535" y="0"/>
                  </a:lnTo>
                  <a:cubicBezTo>
                    <a:pt x="3824097" y="0"/>
                    <a:pt x="3865880" y="41783"/>
                    <a:pt x="3865880" y="93345"/>
                  </a:cubicBezTo>
                  <a:lnTo>
                    <a:pt x="3865880" y="1120775"/>
                  </a:lnTo>
                  <a:cubicBezTo>
                    <a:pt x="3865880" y="1172337"/>
                    <a:pt x="3824097" y="1214120"/>
                    <a:pt x="3772535" y="1214120"/>
                  </a:cubicBezTo>
                  <a:lnTo>
                    <a:pt x="93345" y="1214120"/>
                  </a:lnTo>
                  <a:cubicBezTo>
                    <a:pt x="41783" y="1214120"/>
                    <a:pt x="0" y="1172337"/>
                    <a:pt x="0" y="1120775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536192" y="2400300"/>
            <a:ext cx="2551176" cy="617220"/>
            <a:chOff x="0" y="0"/>
            <a:chExt cx="3401568" cy="8229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401568" cy="822960"/>
            </a:xfrm>
            <a:custGeom>
              <a:avLst/>
              <a:gdLst/>
              <a:ahLst/>
              <a:cxnLst/>
              <a:rect l="l" t="t" r="r" b="b"/>
              <a:pathLst>
                <a:path w="3401568" h="822960">
                  <a:moveTo>
                    <a:pt x="0" y="0"/>
                  </a:moveTo>
                  <a:lnTo>
                    <a:pt x="3401568" y="0"/>
                  </a:lnTo>
                  <a:lnTo>
                    <a:pt x="340156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538" b="-30538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3401568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Docker Desktop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rot="5259900">
            <a:off x="2461155" y="3659505"/>
            <a:ext cx="701240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1" name="Group 21"/>
          <p:cNvGrpSpPr/>
          <p:nvPr/>
        </p:nvGrpSpPr>
        <p:grpSpPr>
          <a:xfrm>
            <a:off x="1156335" y="4105275"/>
            <a:ext cx="3310890" cy="1253490"/>
            <a:chOff x="0" y="0"/>
            <a:chExt cx="4414520" cy="16713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414520" cy="1671320"/>
            </a:xfrm>
            <a:custGeom>
              <a:avLst/>
              <a:gdLst/>
              <a:ahLst/>
              <a:cxnLst/>
              <a:rect l="l" t="t" r="r" b="b"/>
              <a:pathLst>
                <a:path w="4414520" h="1671320">
                  <a:moveTo>
                    <a:pt x="0" y="92837"/>
                  </a:moveTo>
                  <a:cubicBezTo>
                    <a:pt x="0" y="41529"/>
                    <a:pt x="41529" y="0"/>
                    <a:pt x="92837" y="0"/>
                  </a:cubicBezTo>
                  <a:lnTo>
                    <a:pt x="4321683" y="0"/>
                  </a:lnTo>
                  <a:cubicBezTo>
                    <a:pt x="4372991" y="0"/>
                    <a:pt x="4414520" y="41529"/>
                    <a:pt x="4414520" y="92837"/>
                  </a:cubicBezTo>
                  <a:lnTo>
                    <a:pt x="4414520" y="1578483"/>
                  </a:lnTo>
                  <a:cubicBezTo>
                    <a:pt x="4414520" y="1629791"/>
                    <a:pt x="4372991" y="1671320"/>
                    <a:pt x="4321683" y="1671320"/>
                  </a:cubicBezTo>
                  <a:lnTo>
                    <a:pt x="92837" y="1671320"/>
                  </a:lnTo>
                  <a:cubicBezTo>
                    <a:pt x="41529" y="1671320"/>
                    <a:pt x="0" y="1629791"/>
                    <a:pt x="0" y="1578483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330452" y="4251960"/>
            <a:ext cx="2962656" cy="960120"/>
            <a:chOff x="0" y="0"/>
            <a:chExt cx="3950208" cy="12801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950208" cy="1280160"/>
            </a:xfrm>
            <a:custGeom>
              <a:avLst/>
              <a:gdLst/>
              <a:ahLst/>
              <a:cxnLst/>
              <a:rect l="l" t="t" r="r" b="b"/>
              <a:pathLst>
                <a:path w="3950208" h="1280160">
                  <a:moveTo>
                    <a:pt x="0" y="0"/>
                  </a:moveTo>
                  <a:lnTo>
                    <a:pt x="3950208" y="0"/>
                  </a:lnTo>
                  <a:lnTo>
                    <a:pt x="395020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25" b="-10125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3950208" cy="1280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LocalStack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 locale : 4566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 rot="70140">
            <a:off x="4717590" y="4722495"/>
            <a:ext cx="1400470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7" name="Group 27"/>
          <p:cNvGrpSpPr/>
          <p:nvPr/>
        </p:nvGrpSpPr>
        <p:grpSpPr>
          <a:xfrm>
            <a:off x="6299835" y="4105275"/>
            <a:ext cx="3036570" cy="1253490"/>
            <a:chOff x="0" y="0"/>
            <a:chExt cx="4048760" cy="16713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048760" cy="1671320"/>
            </a:xfrm>
            <a:custGeom>
              <a:avLst/>
              <a:gdLst/>
              <a:ahLst/>
              <a:cxnLst/>
              <a:rect l="l" t="t" r="r" b="b"/>
              <a:pathLst>
                <a:path w="4048760" h="1671320">
                  <a:moveTo>
                    <a:pt x="0" y="92837"/>
                  </a:moveTo>
                  <a:cubicBezTo>
                    <a:pt x="0" y="41529"/>
                    <a:pt x="41529" y="0"/>
                    <a:pt x="92837" y="0"/>
                  </a:cubicBezTo>
                  <a:lnTo>
                    <a:pt x="3955923" y="0"/>
                  </a:lnTo>
                  <a:cubicBezTo>
                    <a:pt x="4007231" y="0"/>
                    <a:pt x="4048760" y="41529"/>
                    <a:pt x="4048760" y="92837"/>
                  </a:cubicBezTo>
                  <a:lnTo>
                    <a:pt x="4048760" y="1578483"/>
                  </a:lnTo>
                  <a:cubicBezTo>
                    <a:pt x="4048760" y="1629791"/>
                    <a:pt x="4007231" y="1671320"/>
                    <a:pt x="3955923" y="1671320"/>
                  </a:cubicBezTo>
                  <a:lnTo>
                    <a:pt x="92837" y="1671320"/>
                  </a:lnTo>
                  <a:cubicBezTo>
                    <a:pt x="41529" y="1671320"/>
                    <a:pt x="0" y="1629791"/>
                    <a:pt x="0" y="1578483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6473952" y="4251960"/>
            <a:ext cx="2688336" cy="960120"/>
            <a:chOff x="0" y="0"/>
            <a:chExt cx="3584448" cy="12801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584448" cy="1280160"/>
            </a:xfrm>
            <a:custGeom>
              <a:avLst/>
              <a:gdLst/>
              <a:ahLst/>
              <a:cxnLst/>
              <a:rect l="l" t="t" r="r" b="b"/>
              <a:pathLst>
                <a:path w="3584448" h="1280160">
                  <a:moveTo>
                    <a:pt x="0" y="0"/>
                  </a:moveTo>
                  <a:lnTo>
                    <a:pt x="3584448" y="0"/>
                  </a:lnTo>
                  <a:lnTo>
                    <a:pt x="358444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58" b="-455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3584448" cy="1280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Python + boto3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 rot="87240">
            <a:off x="9559300" y="4722495"/>
            <a:ext cx="1126217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3" name="Group 33"/>
          <p:cNvGrpSpPr/>
          <p:nvPr/>
        </p:nvGrpSpPr>
        <p:grpSpPr>
          <a:xfrm>
            <a:off x="10826115" y="4105275"/>
            <a:ext cx="3105150" cy="1253490"/>
            <a:chOff x="0" y="0"/>
            <a:chExt cx="4140200" cy="16713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140200" cy="1671320"/>
            </a:xfrm>
            <a:custGeom>
              <a:avLst/>
              <a:gdLst/>
              <a:ahLst/>
              <a:cxnLst/>
              <a:rect l="l" t="t" r="r" b="b"/>
              <a:pathLst>
                <a:path w="4140200" h="1671320">
                  <a:moveTo>
                    <a:pt x="0" y="92837"/>
                  </a:moveTo>
                  <a:cubicBezTo>
                    <a:pt x="0" y="41529"/>
                    <a:pt x="41529" y="0"/>
                    <a:pt x="92837" y="0"/>
                  </a:cubicBezTo>
                  <a:lnTo>
                    <a:pt x="4047363" y="0"/>
                  </a:lnTo>
                  <a:cubicBezTo>
                    <a:pt x="4098671" y="0"/>
                    <a:pt x="4140200" y="41529"/>
                    <a:pt x="4140200" y="92837"/>
                  </a:cubicBezTo>
                  <a:lnTo>
                    <a:pt x="4140200" y="1578483"/>
                  </a:lnTo>
                  <a:cubicBezTo>
                    <a:pt x="4140200" y="1629791"/>
                    <a:pt x="4098671" y="1671320"/>
                    <a:pt x="4047363" y="1671320"/>
                  </a:cubicBezTo>
                  <a:lnTo>
                    <a:pt x="92837" y="1671320"/>
                  </a:lnTo>
                  <a:cubicBezTo>
                    <a:pt x="41529" y="1671320"/>
                    <a:pt x="0" y="1629791"/>
                    <a:pt x="0" y="1578483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1000232" y="4251960"/>
            <a:ext cx="2756916" cy="960120"/>
            <a:chOff x="0" y="0"/>
            <a:chExt cx="3675888" cy="12801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675888" cy="1280160"/>
            </a:xfrm>
            <a:custGeom>
              <a:avLst/>
              <a:gdLst/>
              <a:ahLst/>
              <a:cxnLst/>
              <a:rect l="l" t="t" r="r" b="b"/>
              <a:pathLst>
                <a:path w="3675888" h="1280160">
                  <a:moveTo>
                    <a:pt x="0" y="0"/>
                  </a:moveTo>
                  <a:lnTo>
                    <a:pt x="3675888" y="0"/>
                  </a:lnTo>
                  <a:lnTo>
                    <a:pt x="367588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49" b="-5949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3675888" cy="1280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IAM / S3 / EC2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 rot="102180">
            <a:off x="14140415" y="4722495"/>
            <a:ext cx="961692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9" name="Group 39"/>
          <p:cNvGrpSpPr/>
          <p:nvPr/>
        </p:nvGrpSpPr>
        <p:grpSpPr>
          <a:xfrm>
            <a:off x="15146655" y="4105275"/>
            <a:ext cx="2145030" cy="1253490"/>
            <a:chOff x="0" y="0"/>
            <a:chExt cx="2860040" cy="16713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860040" cy="1671320"/>
            </a:xfrm>
            <a:custGeom>
              <a:avLst/>
              <a:gdLst/>
              <a:ahLst/>
              <a:cxnLst/>
              <a:rect l="l" t="t" r="r" b="b"/>
              <a:pathLst>
                <a:path w="2860040" h="1671320">
                  <a:moveTo>
                    <a:pt x="0" y="92837"/>
                  </a:moveTo>
                  <a:cubicBezTo>
                    <a:pt x="0" y="41529"/>
                    <a:pt x="41529" y="0"/>
                    <a:pt x="92837" y="0"/>
                  </a:cubicBezTo>
                  <a:lnTo>
                    <a:pt x="2767203" y="0"/>
                  </a:lnTo>
                  <a:cubicBezTo>
                    <a:pt x="2818511" y="0"/>
                    <a:pt x="2860040" y="41529"/>
                    <a:pt x="2860040" y="92837"/>
                  </a:cubicBezTo>
                  <a:lnTo>
                    <a:pt x="2860040" y="1578483"/>
                  </a:lnTo>
                  <a:cubicBezTo>
                    <a:pt x="2860040" y="1629791"/>
                    <a:pt x="2818511" y="1671320"/>
                    <a:pt x="2767203" y="1671320"/>
                  </a:cubicBezTo>
                  <a:lnTo>
                    <a:pt x="92837" y="1671320"/>
                  </a:lnTo>
                  <a:cubicBezTo>
                    <a:pt x="41529" y="1671320"/>
                    <a:pt x="0" y="1629791"/>
                    <a:pt x="0" y="1578483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5320772" y="4251960"/>
            <a:ext cx="1796796" cy="960120"/>
            <a:chOff x="0" y="0"/>
            <a:chExt cx="2395728" cy="12801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395728" cy="1280160"/>
            </a:xfrm>
            <a:custGeom>
              <a:avLst/>
              <a:gdLst/>
              <a:ahLst/>
              <a:cxnLst/>
              <a:rect l="l" t="t" r="r" b="b"/>
              <a:pathLst>
                <a:path w="2395728" h="1280160">
                  <a:moveTo>
                    <a:pt x="0" y="0"/>
                  </a:moveTo>
                  <a:lnTo>
                    <a:pt x="2395728" y="0"/>
                  </a:lnTo>
                  <a:lnTo>
                    <a:pt x="2395728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559" r="-18559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2395728" cy="1280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Discovery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99637" y="6542376"/>
            <a:ext cx="14950440" cy="898205"/>
            <a:chOff x="0" y="0"/>
            <a:chExt cx="19933920" cy="119760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9933920" cy="1197607"/>
            </a:xfrm>
            <a:custGeom>
              <a:avLst/>
              <a:gdLst/>
              <a:ahLst/>
              <a:cxnLst/>
              <a:rect l="l" t="t" r="r" b="b"/>
              <a:pathLst>
                <a:path w="19933920" h="1197607">
                  <a:moveTo>
                    <a:pt x="0" y="0"/>
                  </a:moveTo>
                  <a:lnTo>
                    <a:pt x="19933920" y="0"/>
                  </a:lnTo>
                  <a:lnTo>
                    <a:pt x="19933920" y="1197607"/>
                  </a:lnTo>
                  <a:lnTo>
                    <a:pt x="0" y="11976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8513" b="-270135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19933920" cy="11976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79"/>
                </a:lnSpc>
              </a:pPr>
              <a:r>
                <a:rPr lang="en-US" sz="2649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LocalStack émule localement les services nécessaires au projet. Les clients boto3 sont redirigés vers http://localhost:4566 avec des credentials de test.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821773"/>
            <a:chOff x="0" y="0"/>
            <a:chExt cx="21671280" cy="10956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1095697"/>
            </a:xfrm>
            <a:custGeom>
              <a:avLst/>
              <a:gdLst/>
              <a:ahLst/>
              <a:cxnLst/>
              <a:rect l="l" t="t" r="r" b="b"/>
              <a:pathLst>
                <a:path w="21671280" h="1095697">
                  <a:moveTo>
                    <a:pt x="0" y="0"/>
                  </a:moveTo>
                  <a:lnTo>
                    <a:pt x="21671280" y="0"/>
                  </a:lnTo>
                  <a:lnTo>
                    <a:pt x="21671280" y="1095697"/>
                  </a:lnTo>
                  <a:lnTo>
                    <a:pt x="0" y="1095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7831" b="-322939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1114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Composition du laboratoire AWS (Dans LocalStack)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6352" y="2256472"/>
            <a:ext cx="2756535" cy="1000887"/>
            <a:chOff x="0" y="0"/>
            <a:chExt cx="3675380" cy="13345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75380" cy="1334516"/>
            </a:xfrm>
            <a:custGeom>
              <a:avLst/>
              <a:gdLst/>
              <a:ahLst/>
              <a:cxnLst/>
              <a:rect l="l" t="t" r="r" b="b"/>
              <a:pathLst>
                <a:path w="3675380" h="1334516">
                  <a:moveTo>
                    <a:pt x="0" y="0"/>
                  </a:moveTo>
                  <a:lnTo>
                    <a:pt x="3675380" y="0"/>
                  </a:lnTo>
                  <a:lnTo>
                    <a:pt x="3675380" y="1334516"/>
                  </a:lnTo>
                  <a:lnTo>
                    <a:pt x="0" y="1334516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371600" y="2386584"/>
            <a:ext cx="2606040" cy="850392"/>
            <a:chOff x="0" y="0"/>
            <a:chExt cx="3474720" cy="11338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Domaine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039553" y="2256472"/>
            <a:ext cx="6871335" cy="1000887"/>
            <a:chOff x="0" y="0"/>
            <a:chExt cx="9161780" cy="13345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61780" cy="1334516"/>
            </a:xfrm>
            <a:custGeom>
              <a:avLst/>
              <a:gdLst/>
              <a:ahLst/>
              <a:cxnLst/>
              <a:rect l="l" t="t" r="r" b="b"/>
              <a:pathLst>
                <a:path w="9161780" h="1334516">
                  <a:moveTo>
                    <a:pt x="0" y="0"/>
                  </a:moveTo>
                  <a:lnTo>
                    <a:pt x="9161780" y="0"/>
                  </a:lnTo>
                  <a:lnTo>
                    <a:pt x="9161780" y="1334516"/>
                  </a:lnTo>
                  <a:lnTo>
                    <a:pt x="0" y="1334516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114800" y="2386584"/>
            <a:ext cx="6720840" cy="850392"/>
            <a:chOff x="0" y="0"/>
            <a:chExt cx="8961120" cy="113385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961120" cy="1133856"/>
            </a:xfrm>
            <a:custGeom>
              <a:avLst/>
              <a:gdLst/>
              <a:ahLst/>
              <a:cxnLst/>
              <a:rect l="l" t="t" r="r" b="b"/>
              <a:pathLst>
                <a:path w="8961120" h="1133856">
                  <a:moveTo>
                    <a:pt x="0" y="0"/>
                  </a:moveTo>
                  <a:lnTo>
                    <a:pt x="8961120" y="0"/>
                  </a:lnTo>
                  <a:lnTo>
                    <a:pt x="8961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994" b="-103994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89611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Cas vulnérables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897552" y="2256472"/>
            <a:ext cx="6048375" cy="1000887"/>
            <a:chOff x="0" y="0"/>
            <a:chExt cx="8064500" cy="133451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064500" cy="1334516"/>
            </a:xfrm>
            <a:custGeom>
              <a:avLst/>
              <a:gdLst/>
              <a:ahLst/>
              <a:cxnLst/>
              <a:rect l="l" t="t" r="r" b="b"/>
              <a:pathLst>
                <a:path w="8064500" h="1334516">
                  <a:moveTo>
                    <a:pt x="0" y="0"/>
                  </a:moveTo>
                  <a:lnTo>
                    <a:pt x="8064500" y="0"/>
                  </a:lnTo>
                  <a:lnTo>
                    <a:pt x="8064500" y="1334516"/>
                  </a:lnTo>
                  <a:lnTo>
                    <a:pt x="0" y="1334516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0972800" y="2386584"/>
            <a:ext cx="5897880" cy="850392"/>
            <a:chOff x="0" y="0"/>
            <a:chExt cx="7863840" cy="113385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863840" cy="1133856"/>
            </a:xfrm>
            <a:custGeom>
              <a:avLst/>
              <a:gdLst/>
              <a:ahLst/>
              <a:cxnLst/>
              <a:rect l="l" t="t" r="r" b="b"/>
              <a:pathLst>
                <a:path w="7863840" h="1133856">
                  <a:moveTo>
                    <a:pt x="0" y="0"/>
                  </a:moveTo>
                  <a:lnTo>
                    <a:pt x="7863840" y="0"/>
                  </a:lnTo>
                  <a:lnTo>
                    <a:pt x="78638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138" b="-8513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786384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Cas de contrôle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98258" y="3245929"/>
            <a:ext cx="2752725" cy="997077"/>
            <a:chOff x="0" y="0"/>
            <a:chExt cx="3670300" cy="132943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670300" cy="1329436"/>
            </a:xfrm>
            <a:custGeom>
              <a:avLst/>
              <a:gdLst/>
              <a:ahLst/>
              <a:cxnLst/>
              <a:rect l="l" t="t" r="r" b="b"/>
              <a:pathLst>
                <a:path w="3670300" h="1329436">
                  <a:moveTo>
                    <a:pt x="0" y="0"/>
                  </a:moveTo>
                  <a:lnTo>
                    <a:pt x="3670300" y="0"/>
                  </a:lnTo>
                  <a:lnTo>
                    <a:pt x="3670300" y="1329436"/>
                  </a:lnTo>
                  <a:lnTo>
                    <a:pt x="0" y="132943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371600" y="3360420"/>
            <a:ext cx="2606040" cy="850392"/>
            <a:chOff x="0" y="0"/>
            <a:chExt cx="3474720" cy="113385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IAM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041458" y="3245929"/>
            <a:ext cx="6867525" cy="997077"/>
            <a:chOff x="0" y="0"/>
            <a:chExt cx="9156700" cy="132943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56700" cy="1329436"/>
            </a:xfrm>
            <a:custGeom>
              <a:avLst/>
              <a:gdLst/>
              <a:ahLst/>
              <a:cxnLst/>
              <a:rect l="l" t="t" r="r" b="b"/>
              <a:pathLst>
                <a:path w="9156700" h="1329436">
                  <a:moveTo>
                    <a:pt x="0" y="0"/>
                  </a:moveTo>
                  <a:lnTo>
                    <a:pt x="9156700" y="0"/>
                  </a:lnTo>
                  <a:lnTo>
                    <a:pt x="9156700" y="1329436"/>
                  </a:lnTo>
                  <a:lnTo>
                    <a:pt x="0" y="132943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4114800" y="3360420"/>
            <a:ext cx="6720840" cy="850392"/>
            <a:chOff x="0" y="0"/>
            <a:chExt cx="8961120" cy="113385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961120" cy="1133856"/>
            </a:xfrm>
            <a:custGeom>
              <a:avLst/>
              <a:gdLst/>
              <a:ahLst/>
              <a:cxnLst/>
              <a:rect l="l" t="t" r="r" b="b"/>
              <a:pathLst>
                <a:path w="8961120" h="1133856">
                  <a:moveTo>
                    <a:pt x="0" y="0"/>
                  </a:moveTo>
                  <a:lnTo>
                    <a:pt x="8961120" y="0"/>
                  </a:lnTo>
                  <a:lnTo>
                    <a:pt x="8961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994" b="-103994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89611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Admin wildcard, rôle public, console sans MFA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899457" y="3245929"/>
            <a:ext cx="6044565" cy="997077"/>
            <a:chOff x="0" y="0"/>
            <a:chExt cx="8059420" cy="132943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059420" cy="1329436"/>
            </a:xfrm>
            <a:custGeom>
              <a:avLst/>
              <a:gdLst/>
              <a:ahLst/>
              <a:cxnLst/>
              <a:rect l="l" t="t" r="r" b="b"/>
              <a:pathLst>
                <a:path w="8059420" h="1329436">
                  <a:moveTo>
                    <a:pt x="0" y="0"/>
                  </a:moveTo>
                  <a:lnTo>
                    <a:pt x="8059420" y="0"/>
                  </a:lnTo>
                  <a:lnTo>
                    <a:pt x="8059420" y="1329436"/>
                  </a:lnTo>
                  <a:lnTo>
                    <a:pt x="0" y="132943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0972800" y="3360420"/>
            <a:ext cx="5897880" cy="850392"/>
            <a:chOff x="0" y="0"/>
            <a:chExt cx="7863840" cy="113385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863840" cy="1133856"/>
            </a:xfrm>
            <a:custGeom>
              <a:avLst/>
              <a:gdLst/>
              <a:ahLst/>
              <a:cxnLst/>
              <a:rect l="l" t="t" r="r" b="b"/>
              <a:pathLst>
                <a:path w="7863840" h="1133856">
                  <a:moveTo>
                    <a:pt x="0" y="0"/>
                  </a:moveTo>
                  <a:lnTo>
                    <a:pt x="7863840" y="0"/>
                  </a:lnTo>
                  <a:lnTo>
                    <a:pt x="78638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138" b="-85138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786384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Utilisateur avec policy S3 limitée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98258" y="4233482"/>
            <a:ext cx="2752725" cy="997077"/>
            <a:chOff x="0" y="0"/>
            <a:chExt cx="3670300" cy="132943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70300" cy="1329436"/>
            </a:xfrm>
            <a:custGeom>
              <a:avLst/>
              <a:gdLst/>
              <a:ahLst/>
              <a:cxnLst/>
              <a:rect l="l" t="t" r="r" b="b"/>
              <a:pathLst>
                <a:path w="3670300" h="1329436">
                  <a:moveTo>
                    <a:pt x="0" y="0"/>
                  </a:moveTo>
                  <a:lnTo>
                    <a:pt x="3670300" y="0"/>
                  </a:lnTo>
                  <a:lnTo>
                    <a:pt x="3670300" y="1329436"/>
                  </a:lnTo>
                  <a:lnTo>
                    <a:pt x="0" y="132943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371600" y="4347972"/>
            <a:ext cx="2606040" cy="850392"/>
            <a:chOff x="0" y="0"/>
            <a:chExt cx="3474720" cy="113385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S3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041458" y="4233482"/>
            <a:ext cx="6867525" cy="997077"/>
            <a:chOff x="0" y="0"/>
            <a:chExt cx="9156700" cy="132943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156700" cy="1329436"/>
            </a:xfrm>
            <a:custGeom>
              <a:avLst/>
              <a:gdLst/>
              <a:ahLst/>
              <a:cxnLst/>
              <a:rect l="l" t="t" r="r" b="b"/>
              <a:pathLst>
                <a:path w="9156700" h="1329436">
                  <a:moveTo>
                    <a:pt x="0" y="0"/>
                  </a:moveTo>
                  <a:lnTo>
                    <a:pt x="9156700" y="0"/>
                  </a:lnTo>
                  <a:lnTo>
                    <a:pt x="9156700" y="1329436"/>
                  </a:lnTo>
                  <a:lnTo>
                    <a:pt x="0" y="132943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4114800" y="4347972"/>
            <a:ext cx="6720840" cy="850392"/>
            <a:chOff x="0" y="0"/>
            <a:chExt cx="8961120" cy="113385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961120" cy="1133856"/>
            </a:xfrm>
            <a:custGeom>
              <a:avLst/>
              <a:gdLst/>
              <a:ahLst/>
              <a:cxnLst/>
              <a:rect l="l" t="t" r="r" b="b"/>
              <a:pathLst>
                <a:path w="8961120" h="1133856">
                  <a:moveTo>
                    <a:pt x="0" y="0"/>
                  </a:moveTo>
                  <a:lnTo>
                    <a:pt x="8961120" y="0"/>
                  </a:lnTo>
                  <a:lnTo>
                    <a:pt x="8961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994" b="-103994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89611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Lecture publique, écriture publique, BPA désactivé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899457" y="4233482"/>
            <a:ext cx="6044565" cy="997077"/>
            <a:chOff x="0" y="0"/>
            <a:chExt cx="8059420" cy="132943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059420" cy="1329436"/>
            </a:xfrm>
            <a:custGeom>
              <a:avLst/>
              <a:gdLst/>
              <a:ahLst/>
              <a:cxnLst/>
              <a:rect l="l" t="t" r="r" b="b"/>
              <a:pathLst>
                <a:path w="8059420" h="1329436">
                  <a:moveTo>
                    <a:pt x="0" y="0"/>
                  </a:moveTo>
                  <a:lnTo>
                    <a:pt x="8059420" y="0"/>
                  </a:lnTo>
                  <a:lnTo>
                    <a:pt x="8059420" y="1329436"/>
                  </a:lnTo>
                  <a:lnTo>
                    <a:pt x="0" y="132943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10972800" y="4347972"/>
            <a:ext cx="5897880" cy="850392"/>
            <a:chOff x="0" y="0"/>
            <a:chExt cx="7863840" cy="113385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863840" cy="1133856"/>
            </a:xfrm>
            <a:custGeom>
              <a:avLst/>
              <a:gdLst/>
              <a:ahLst/>
              <a:cxnLst/>
              <a:rect l="l" t="t" r="r" b="b"/>
              <a:pathLst>
                <a:path w="7863840" h="1133856">
                  <a:moveTo>
                    <a:pt x="0" y="0"/>
                  </a:moveTo>
                  <a:lnTo>
                    <a:pt x="7863840" y="0"/>
                  </a:lnTo>
                  <a:lnTo>
                    <a:pt x="78638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138" b="-85138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786384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Bucket privé avec BPA complet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98258" y="5221034"/>
            <a:ext cx="2752725" cy="997077"/>
            <a:chOff x="0" y="0"/>
            <a:chExt cx="3670300" cy="132943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670300" cy="1329436"/>
            </a:xfrm>
            <a:custGeom>
              <a:avLst/>
              <a:gdLst/>
              <a:ahLst/>
              <a:cxnLst/>
              <a:rect l="l" t="t" r="r" b="b"/>
              <a:pathLst>
                <a:path w="3670300" h="1329436">
                  <a:moveTo>
                    <a:pt x="0" y="0"/>
                  </a:moveTo>
                  <a:lnTo>
                    <a:pt x="3670300" y="0"/>
                  </a:lnTo>
                  <a:lnTo>
                    <a:pt x="3670300" y="1329436"/>
                  </a:lnTo>
                  <a:lnTo>
                    <a:pt x="0" y="132943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1371600" y="5335524"/>
            <a:ext cx="2606040" cy="850392"/>
            <a:chOff x="0" y="0"/>
            <a:chExt cx="3474720" cy="113385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474720" cy="1133856"/>
            </a:xfrm>
            <a:custGeom>
              <a:avLst/>
              <a:gdLst/>
              <a:ahLst/>
              <a:cxnLst/>
              <a:rect l="l" t="t" r="r" b="b"/>
              <a:pathLst>
                <a:path w="3474720" h="1133856">
                  <a:moveTo>
                    <a:pt x="0" y="0"/>
                  </a:moveTo>
                  <a:lnTo>
                    <a:pt x="3474720" y="0"/>
                  </a:lnTo>
                  <a:lnTo>
                    <a:pt x="34747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2" b="-9712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34747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EC2 / Assets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041458" y="5221034"/>
            <a:ext cx="6867525" cy="997077"/>
            <a:chOff x="0" y="0"/>
            <a:chExt cx="9156700" cy="132943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156700" cy="1329436"/>
            </a:xfrm>
            <a:custGeom>
              <a:avLst/>
              <a:gdLst/>
              <a:ahLst/>
              <a:cxnLst/>
              <a:rect l="l" t="t" r="r" b="b"/>
              <a:pathLst>
                <a:path w="9156700" h="1329436">
                  <a:moveTo>
                    <a:pt x="0" y="0"/>
                  </a:moveTo>
                  <a:lnTo>
                    <a:pt x="9156700" y="0"/>
                  </a:lnTo>
                  <a:lnTo>
                    <a:pt x="9156700" y="1329436"/>
                  </a:lnTo>
                  <a:lnTo>
                    <a:pt x="0" y="132943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4114800" y="5335524"/>
            <a:ext cx="6720840" cy="850392"/>
            <a:chOff x="0" y="0"/>
            <a:chExt cx="8961120" cy="113385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961120" cy="1133856"/>
            </a:xfrm>
            <a:custGeom>
              <a:avLst/>
              <a:gdLst/>
              <a:ahLst/>
              <a:cxnLst/>
              <a:rect l="l" t="t" r="r" b="b"/>
              <a:pathLst>
                <a:path w="8961120" h="1133856">
                  <a:moveTo>
                    <a:pt x="0" y="0"/>
                  </a:moveTo>
                  <a:lnTo>
                    <a:pt x="8961120" y="0"/>
                  </a:lnTo>
                  <a:lnTo>
                    <a:pt x="89611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994" b="-103994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896112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Volume, EIP et ENI non attachés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899457" y="5221034"/>
            <a:ext cx="6044565" cy="997077"/>
            <a:chOff x="0" y="0"/>
            <a:chExt cx="8059420" cy="132943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059420" cy="1329436"/>
            </a:xfrm>
            <a:custGeom>
              <a:avLst/>
              <a:gdLst/>
              <a:ahLst/>
              <a:cxnLst/>
              <a:rect l="l" t="t" r="r" b="b"/>
              <a:pathLst>
                <a:path w="8059420" h="1329436">
                  <a:moveTo>
                    <a:pt x="0" y="0"/>
                  </a:moveTo>
                  <a:lnTo>
                    <a:pt x="8059420" y="0"/>
                  </a:lnTo>
                  <a:lnTo>
                    <a:pt x="8059420" y="1329436"/>
                  </a:lnTo>
                  <a:lnTo>
                    <a:pt x="0" y="132943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10972800" y="5335524"/>
            <a:ext cx="5897880" cy="850392"/>
            <a:chOff x="0" y="0"/>
            <a:chExt cx="7863840" cy="113385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7863840" cy="1133856"/>
            </a:xfrm>
            <a:custGeom>
              <a:avLst/>
              <a:gdLst/>
              <a:ahLst/>
              <a:cxnLst/>
              <a:rect l="l" t="t" r="r" b="b"/>
              <a:pathLst>
                <a:path w="7863840" h="1133856">
                  <a:moveTo>
                    <a:pt x="0" y="0"/>
                  </a:moveTo>
                  <a:lnTo>
                    <a:pt x="7863840" y="0"/>
                  </a:lnTo>
                  <a:lnTo>
                    <a:pt x="78638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138" b="-85138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7863840" cy="11338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Volume, EIP et ENI utilisés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783337" y="6858257"/>
            <a:ext cx="14675615" cy="89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rPr>
              <a:t>Le laboratoire mélange volontairement ressources sûres et risquées afin de vérifier aussi les faux positifs.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AWS : structure et découverte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4915" y="2253615"/>
            <a:ext cx="3242310" cy="2487930"/>
            <a:chOff x="0" y="0"/>
            <a:chExt cx="4323080" cy="33172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23080" cy="3317240"/>
            </a:xfrm>
            <a:custGeom>
              <a:avLst/>
              <a:gdLst/>
              <a:ahLst/>
              <a:cxnLst/>
              <a:rect l="l" t="t" r="r" b="b"/>
              <a:pathLst>
                <a:path w="4323080" h="3317240">
                  <a:moveTo>
                    <a:pt x="0" y="92202"/>
                  </a:moveTo>
                  <a:cubicBezTo>
                    <a:pt x="0" y="41275"/>
                    <a:pt x="41275" y="0"/>
                    <a:pt x="92202" y="0"/>
                  </a:cubicBezTo>
                  <a:lnTo>
                    <a:pt x="4230878" y="0"/>
                  </a:lnTo>
                  <a:cubicBezTo>
                    <a:pt x="4281805" y="0"/>
                    <a:pt x="4323080" y="41275"/>
                    <a:pt x="4323080" y="92202"/>
                  </a:cubicBezTo>
                  <a:lnTo>
                    <a:pt x="4323080" y="3225038"/>
                  </a:lnTo>
                  <a:cubicBezTo>
                    <a:pt x="4323080" y="3275965"/>
                    <a:pt x="4281805" y="3317240"/>
                    <a:pt x="4230878" y="3317240"/>
                  </a:cubicBezTo>
                  <a:lnTo>
                    <a:pt x="92202" y="3317240"/>
                  </a:lnTo>
                  <a:cubicBezTo>
                    <a:pt x="41275" y="3317240"/>
                    <a:pt x="0" y="3275965"/>
                    <a:pt x="0" y="3225038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399032" y="2400300"/>
            <a:ext cx="2894076" cy="2194560"/>
            <a:chOff x="0" y="0"/>
            <a:chExt cx="3858768" cy="29260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858768" cy="2926080"/>
            </a:xfrm>
            <a:custGeom>
              <a:avLst/>
              <a:gdLst/>
              <a:ahLst/>
              <a:cxnLst/>
              <a:rect l="l" t="t" r="r" b="b"/>
              <a:pathLst>
                <a:path w="3858768" h="2926080">
                  <a:moveTo>
                    <a:pt x="0" y="0"/>
                  </a:moveTo>
                  <a:lnTo>
                    <a:pt x="3858768" y="0"/>
                  </a:lnTo>
                  <a:lnTo>
                    <a:pt x="3858768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291" r="-4729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3858768" cy="2926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aws.py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config.py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cli.py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pipeline.py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476875" y="2253615"/>
            <a:ext cx="3242310" cy="2487930"/>
            <a:chOff x="0" y="0"/>
            <a:chExt cx="4323080" cy="33172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323080" cy="3317240"/>
            </a:xfrm>
            <a:custGeom>
              <a:avLst/>
              <a:gdLst/>
              <a:ahLst/>
              <a:cxnLst/>
              <a:rect l="l" t="t" r="r" b="b"/>
              <a:pathLst>
                <a:path w="4323080" h="3317240">
                  <a:moveTo>
                    <a:pt x="0" y="92202"/>
                  </a:moveTo>
                  <a:cubicBezTo>
                    <a:pt x="0" y="41275"/>
                    <a:pt x="41275" y="0"/>
                    <a:pt x="92202" y="0"/>
                  </a:cubicBezTo>
                  <a:lnTo>
                    <a:pt x="4230878" y="0"/>
                  </a:lnTo>
                  <a:cubicBezTo>
                    <a:pt x="4281805" y="0"/>
                    <a:pt x="4323080" y="41275"/>
                    <a:pt x="4323080" y="92202"/>
                  </a:cubicBezTo>
                  <a:lnTo>
                    <a:pt x="4323080" y="3225038"/>
                  </a:lnTo>
                  <a:cubicBezTo>
                    <a:pt x="4323080" y="3275965"/>
                    <a:pt x="4281805" y="3317240"/>
                    <a:pt x="4230878" y="3317240"/>
                  </a:cubicBezTo>
                  <a:lnTo>
                    <a:pt x="92202" y="3317240"/>
                  </a:lnTo>
                  <a:cubicBezTo>
                    <a:pt x="41275" y="3317240"/>
                    <a:pt x="0" y="3275965"/>
                    <a:pt x="0" y="3225038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650992" y="2400300"/>
            <a:ext cx="2894076" cy="2194560"/>
            <a:chOff x="0" y="0"/>
            <a:chExt cx="3858768" cy="29260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58768" cy="2926080"/>
            </a:xfrm>
            <a:custGeom>
              <a:avLst/>
              <a:gdLst/>
              <a:ahLst/>
              <a:cxnLst/>
              <a:rect l="l" t="t" r="r" b="b"/>
              <a:pathLst>
                <a:path w="3858768" h="2926080">
                  <a:moveTo>
                    <a:pt x="0" y="0"/>
                  </a:moveTo>
                  <a:lnTo>
                    <a:pt x="3858768" y="0"/>
                  </a:lnTo>
                  <a:lnTo>
                    <a:pt x="3858768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291" r="-47291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3858768" cy="2926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discovery/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IAM · S3 · EC2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28835" y="2253615"/>
            <a:ext cx="3242310" cy="2487930"/>
            <a:chOff x="0" y="0"/>
            <a:chExt cx="4323080" cy="33172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323080" cy="3317240"/>
            </a:xfrm>
            <a:custGeom>
              <a:avLst/>
              <a:gdLst/>
              <a:ahLst/>
              <a:cxnLst/>
              <a:rect l="l" t="t" r="r" b="b"/>
              <a:pathLst>
                <a:path w="4323080" h="3317240">
                  <a:moveTo>
                    <a:pt x="0" y="92202"/>
                  </a:moveTo>
                  <a:cubicBezTo>
                    <a:pt x="0" y="41275"/>
                    <a:pt x="41275" y="0"/>
                    <a:pt x="92202" y="0"/>
                  </a:cubicBezTo>
                  <a:lnTo>
                    <a:pt x="4230878" y="0"/>
                  </a:lnTo>
                  <a:cubicBezTo>
                    <a:pt x="4281805" y="0"/>
                    <a:pt x="4323080" y="41275"/>
                    <a:pt x="4323080" y="92202"/>
                  </a:cubicBezTo>
                  <a:lnTo>
                    <a:pt x="4323080" y="3225038"/>
                  </a:lnTo>
                  <a:cubicBezTo>
                    <a:pt x="4323080" y="3275965"/>
                    <a:pt x="4281805" y="3317240"/>
                    <a:pt x="4230878" y="3317240"/>
                  </a:cubicBezTo>
                  <a:lnTo>
                    <a:pt x="92202" y="3317240"/>
                  </a:lnTo>
                  <a:cubicBezTo>
                    <a:pt x="41275" y="3317240"/>
                    <a:pt x="0" y="3275965"/>
                    <a:pt x="0" y="3225038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902952" y="2400300"/>
            <a:ext cx="2894076" cy="2194560"/>
            <a:chOff x="0" y="0"/>
            <a:chExt cx="3858768" cy="29260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858768" cy="2926080"/>
            </a:xfrm>
            <a:custGeom>
              <a:avLst/>
              <a:gdLst/>
              <a:ahLst/>
              <a:cxnLst/>
              <a:rect l="l" t="t" r="r" b="b"/>
              <a:pathLst>
                <a:path w="3858768" h="2926080">
                  <a:moveTo>
                    <a:pt x="0" y="0"/>
                  </a:moveTo>
                  <a:lnTo>
                    <a:pt x="3858768" y="0"/>
                  </a:lnTo>
                  <a:lnTo>
                    <a:pt x="3858768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291" r="-47291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3858768" cy="2926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analysis/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IAM · S3 · Orphan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980795" y="2253615"/>
            <a:ext cx="3242310" cy="2487930"/>
            <a:chOff x="0" y="0"/>
            <a:chExt cx="4323080" cy="33172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323080" cy="3317240"/>
            </a:xfrm>
            <a:custGeom>
              <a:avLst/>
              <a:gdLst/>
              <a:ahLst/>
              <a:cxnLst/>
              <a:rect l="l" t="t" r="r" b="b"/>
              <a:pathLst>
                <a:path w="4323080" h="3317240">
                  <a:moveTo>
                    <a:pt x="0" y="92202"/>
                  </a:moveTo>
                  <a:cubicBezTo>
                    <a:pt x="0" y="41275"/>
                    <a:pt x="41275" y="0"/>
                    <a:pt x="92202" y="0"/>
                  </a:cubicBezTo>
                  <a:lnTo>
                    <a:pt x="4230878" y="0"/>
                  </a:lnTo>
                  <a:cubicBezTo>
                    <a:pt x="4281805" y="0"/>
                    <a:pt x="4323080" y="41275"/>
                    <a:pt x="4323080" y="92202"/>
                  </a:cubicBezTo>
                  <a:lnTo>
                    <a:pt x="4323080" y="3225038"/>
                  </a:lnTo>
                  <a:cubicBezTo>
                    <a:pt x="4323080" y="3275965"/>
                    <a:pt x="4281805" y="3317240"/>
                    <a:pt x="4230878" y="3317240"/>
                  </a:cubicBezTo>
                  <a:lnTo>
                    <a:pt x="92202" y="3317240"/>
                  </a:lnTo>
                  <a:cubicBezTo>
                    <a:pt x="41275" y="3317240"/>
                    <a:pt x="0" y="3275965"/>
                    <a:pt x="0" y="3225038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4154912" y="2400300"/>
            <a:ext cx="2894076" cy="2194560"/>
            <a:chOff x="0" y="0"/>
            <a:chExt cx="3858768" cy="29260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858768" cy="2926080"/>
            </a:xfrm>
            <a:custGeom>
              <a:avLst/>
              <a:gdLst/>
              <a:ahLst/>
              <a:cxnLst/>
              <a:rect l="l" t="t" r="r" b="b"/>
              <a:pathLst>
                <a:path w="3858768" h="2926080">
                  <a:moveTo>
                    <a:pt x="0" y="0"/>
                  </a:moveTo>
                  <a:lnTo>
                    <a:pt x="3858768" y="0"/>
                  </a:lnTo>
                  <a:lnTo>
                    <a:pt x="3858768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291" r="-4729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3858768" cy="2926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scoring/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reporting/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645920" y="6172200"/>
            <a:ext cx="14813280" cy="1851660"/>
            <a:chOff x="0" y="0"/>
            <a:chExt cx="19751040" cy="24688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9751039" cy="2468880"/>
            </a:xfrm>
            <a:custGeom>
              <a:avLst/>
              <a:gdLst/>
              <a:ahLst/>
              <a:cxnLst/>
              <a:rect l="l" t="t" r="r" b="b"/>
              <a:pathLst>
                <a:path w="19751039" h="2468880">
                  <a:moveTo>
                    <a:pt x="0" y="0"/>
                  </a:moveTo>
                  <a:lnTo>
                    <a:pt x="19751039" y="0"/>
                  </a:lnTo>
                  <a:lnTo>
                    <a:pt x="19751039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19751040" cy="2468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47700" lvl="1" indent="-323850" algn="l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AWSClientFactory centralise les sessions boto3, l’endpoint et les erreurs.</a:t>
              </a:r>
            </a:p>
            <a:p>
              <a:pPr marL="647700" lvl="1" indent="-323850" algn="l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DiscoveryManager lance IAMDiscovery, S3Discovery et EC2Discovery.</a:t>
              </a:r>
            </a:p>
            <a:p>
              <a:pPr marL="647700" lvl="1" indent="-323850" algn="l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L’inventaire contient ressources, propriétés, relations et erreurs éventuelles.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AWS : règles de détection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59192" y="2050733"/>
            <a:ext cx="2345055" cy="1138047"/>
            <a:chOff x="0" y="0"/>
            <a:chExt cx="3126740" cy="15173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26740" cy="1517396"/>
            </a:xfrm>
            <a:custGeom>
              <a:avLst/>
              <a:gdLst/>
              <a:ahLst/>
              <a:cxnLst/>
              <a:rect l="l" t="t" r="r" b="b"/>
              <a:pathLst>
                <a:path w="3126740" h="1517396">
                  <a:moveTo>
                    <a:pt x="0" y="0"/>
                  </a:moveTo>
                  <a:lnTo>
                    <a:pt x="3126740" y="0"/>
                  </a:lnTo>
                  <a:lnTo>
                    <a:pt x="3126740" y="1517396"/>
                  </a:lnTo>
                  <a:lnTo>
                    <a:pt x="0" y="1517396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234440" y="2180844"/>
            <a:ext cx="2194560" cy="987552"/>
            <a:chOff x="0" y="0"/>
            <a:chExt cx="2926080" cy="131673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26080" cy="1316736"/>
            </a:xfrm>
            <a:custGeom>
              <a:avLst/>
              <a:gdLst/>
              <a:ahLst/>
              <a:cxnLst/>
              <a:rect l="l" t="t" r="r" b="b"/>
              <a:pathLst>
                <a:path w="2926080" h="1316736">
                  <a:moveTo>
                    <a:pt x="0" y="0"/>
                  </a:moveTo>
                  <a:lnTo>
                    <a:pt x="2926080" y="0"/>
                  </a:lnTo>
                  <a:lnTo>
                    <a:pt x="29260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r="-773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2926080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Famille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490912" y="2050733"/>
            <a:ext cx="4745355" cy="1138047"/>
            <a:chOff x="0" y="0"/>
            <a:chExt cx="6327140" cy="151739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27140" cy="1517396"/>
            </a:xfrm>
            <a:custGeom>
              <a:avLst/>
              <a:gdLst/>
              <a:ahLst/>
              <a:cxnLst/>
              <a:rect l="l" t="t" r="r" b="b"/>
              <a:pathLst>
                <a:path w="6327140" h="1517396">
                  <a:moveTo>
                    <a:pt x="0" y="0"/>
                  </a:moveTo>
                  <a:lnTo>
                    <a:pt x="6327140" y="0"/>
                  </a:lnTo>
                  <a:lnTo>
                    <a:pt x="6327140" y="1517396"/>
                  </a:lnTo>
                  <a:lnTo>
                    <a:pt x="0" y="1517396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3566160" y="2180844"/>
            <a:ext cx="4594860" cy="987552"/>
            <a:chOff x="0" y="0"/>
            <a:chExt cx="6126480" cy="13167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126480" cy="1316736"/>
            </a:xfrm>
            <a:custGeom>
              <a:avLst/>
              <a:gdLst/>
              <a:ahLst/>
              <a:cxnLst/>
              <a:rect l="l" t="t" r="r" b="b"/>
              <a:pathLst>
                <a:path w="6126480" h="1316736">
                  <a:moveTo>
                    <a:pt x="0" y="0"/>
                  </a:moveTo>
                  <a:lnTo>
                    <a:pt x="6126480" y="0"/>
                  </a:lnTo>
                  <a:lnTo>
                    <a:pt x="61264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59" b="-40659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6126480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Règles principales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222932" y="2050733"/>
            <a:ext cx="8860155" cy="1138047"/>
            <a:chOff x="0" y="0"/>
            <a:chExt cx="11813540" cy="151739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813540" cy="1517396"/>
            </a:xfrm>
            <a:custGeom>
              <a:avLst/>
              <a:gdLst/>
              <a:ahLst/>
              <a:cxnLst/>
              <a:rect l="l" t="t" r="r" b="b"/>
              <a:pathLst>
                <a:path w="11813540" h="1517396">
                  <a:moveTo>
                    <a:pt x="0" y="0"/>
                  </a:moveTo>
                  <a:lnTo>
                    <a:pt x="11813540" y="0"/>
                  </a:lnTo>
                  <a:lnTo>
                    <a:pt x="11813540" y="1517396"/>
                  </a:lnTo>
                  <a:lnTo>
                    <a:pt x="0" y="1517396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298180" y="2180844"/>
            <a:ext cx="8709660" cy="987552"/>
            <a:chOff x="0" y="0"/>
            <a:chExt cx="11612880" cy="131673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612880" cy="1316736"/>
            </a:xfrm>
            <a:custGeom>
              <a:avLst/>
              <a:gdLst/>
              <a:ahLst/>
              <a:cxnLst/>
              <a:rect l="l" t="t" r="r" b="b"/>
              <a:pathLst>
                <a:path w="11612880" h="1316736">
                  <a:moveTo>
                    <a:pt x="0" y="0"/>
                  </a:moveTo>
                  <a:lnTo>
                    <a:pt x="11612880" y="0"/>
                  </a:lnTo>
                  <a:lnTo>
                    <a:pt x="116128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1847" b="-121847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11612880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Exemples détectés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61098" y="3177350"/>
            <a:ext cx="2341245" cy="1134237"/>
            <a:chOff x="0" y="0"/>
            <a:chExt cx="3121660" cy="151231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121660" cy="1512316"/>
            </a:xfrm>
            <a:custGeom>
              <a:avLst/>
              <a:gdLst/>
              <a:ahLst/>
              <a:cxnLst/>
              <a:rect l="l" t="t" r="r" b="b"/>
              <a:pathLst>
                <a:path w="3121660" h="1512316">
                  <a:moveTo>
                    <a:pt x="0" y="0"/>
                  </a:moveTo>
                  <a:lnTo>
                    <a:pt x="3121660" y="0"/>
                  </a:lnTo>
                  <a:lnTo>
                    <a:pt x="3121660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234440" y="3291840"/>
            <a:ext cx="2194560" cy="987552"/>
            <a:chOff x="0" y="0"/>
            <a:chExt cx="2926080" cy="131673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926080" cy="1316736"/>
            </a:xfrm>
            <a:custGeom>
              <a:avLst/>
              <a:gdLst/>
              <a:ahLst/>
              <a:cxnLst/>
              <a:rect l="l" t="t" r="r" b="b"/>
              <a:pathLst>
                <a:path w="2926080" h="1316736">
                  <a:moveTo>
                    <a:pt x="0" y="0"/>
                  </a:moveTo>
                  <a:lnTo>
                    <a:pt x="2926080" y="0"/>
                  </a:lnTo>
                  <a:lnTo>
                    <a:pt x="29260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r="-773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926080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IAM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492817" y="3177350"/>
            <a:ext cx="4741545" cy="1134237"/>
            <a:chOff x="0" y="0"/>
            <a:chExt cx="6322060" cy="151231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322060" cy="1512316"/>
            </a:xfrm>
            <a:custGeom>
              <a:avLst/>
              <a:gdLst/>
              <a:ahLst/>
              <a:cxnLst/>
              <a:rect l="l" t="t" r="r" b="b"/>
              <a:pathLst>
                <a:path w="6322060" h="1512316">
                  <a:moveTo>
                    <a:pt x="0" y="0"/>
                  </a:moveTo>
                  <a:lnTo>
                    <a:pt x="6322060" y="0"/>
                  </a:lnTo>
                  <a:lnTo>
                    <a:pt x="6322060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3566160" y="3291840"/>
            <a:ext cx="4594860" cy="987552"/>
            <a:chOff x="0" y="0"/>
            <a:chExt cx="6126480" cy="131673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126480" cy="1316736"/>
            </a:xfrm>
            <a:custGeom>
              <a:avLst/>
              <a:gdLst/>
              <a:ahLst/>
              <a:cxnLst/>
              <a:rect l="l" t="t" r="r" b="b"/>
              <a:pathLst>
                <a:path w="6126480" h="1316736">
                  <a:moveTo>
                    <a:pt x="0" y="0"/>
                  </a:moveTo>
                  <a:lnTo>
                    <a:pt x="6126480" y="0"/>
                  </a:lnTo>
                  <a:lnTo>
                    <a:pt x="61264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59" b="-40659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6126480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IAM-001 à IAM-006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224838" y="3177350"/>
            <a:ext cx="8856345" cy="1134237"/>
            <a:chOff x="0" y="0"/>
            <a:chExt cx="11808460" cy="15123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808460" cy="1512316"/>
            </a:xfrm>
            <a:custGeom>
              <a:avLst/>
              <a:gdLst/>
              <a:ahLst/>
              <a:cxnLst/>
              <a:rect l="l" t="t" r="r" b="b"/>
              <a:pathLst>
                <a:path w="11808460" h="1512316">
                  <a:moveTo>
                    <a:pt x="0" y="0"/>
                  </a:moveTo>
                  <a:lnTo>
                    <a:pt x="11808460" y="0"/>
                  </a:lnTo>
                  <a:lnTo>
                    <a:pt x="11808460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8298180" y="3291840"/>
            <a:ext cx="8709660" cy="987552"/>
            <a:chOff x="0" y="0"/>
            <a:chExt cx="11612880" cy="131673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612880" cy="1316736"/>
            </a:xfrm>
            <a:custGeom>
              <a:avLst/>
              <a:gdLst/>
              <a:ahLst/>
              <a:cxnLst/>
              <a:rect l="l" t="t" r="r" b="b"/>
              <a:pathLst>
                <a:path w="11612880" h="1316736">
                  <a:moveTo>
                    <a:pt x="0" y="0"/>
                  </a:moveTo>
                  <a:lnTo>
                    <a:pt x="11612880" y="0"/>
                  </a:lnTo>
                  <a:lnTo>
                    <a:pt x="116128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1847" b="-121847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11612880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Admin wildcard, trust public, console sans MFA, access key ancienne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61098" y="4302062"/>
            <a:ext cx="2341245" cy="1134237"/>
            <a:chOff x="0" y="0"/>
            <a:chExt cx="3121660" cy="151231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121660" cy="1512316"/>
            </a:xfrm>
            <a:custGeom>
              <a:avLst/>
              <a:gdLst/>
              <a:ahLst/>
              <a:cxnLst/>
              <a:rect l="l" t="t" r="r" b="b"/>
              <a:pathLst>
                <a:path w="3121660" h="1512316">
                  <a:moveTo>
                    <a:pt x="0" y="0"/>
                  </a:moveTo>
                  <a:lnTo>
                    <a:pt x="3121660" y="0"/>
                  </a:lnTo>
                  <a:lnTo>
                    <a:pt x="3121660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234440" y="4416552"/>
            <a:ext cx="2194560" cy="987552"/>
            <a:chOff x="0" y="0"/>
            <a:chExt cx="2926080" cy="131673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926080" cy="1316736"/>
            </a:xfrm>
            <a:custGeom>
              <a:avLst/>
              <a:gdLst/>
              <a:ahLst/>
              <a:cxnLst/>
              <a:rect l="l" t="t" r="r" b="b"/>
              <a:pathLst>
                <a:path w="2926080" h="1316736">
                  <a:moveTo>
                    <a:pt x="0" y="0"/>
                  </a:moveTo>
                  <a:lnTo>
                    <a:pt x="2926080" y="0"/>
                  </a:lnTo>
                  <a:lnTo>
                    <a:pt x="29260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r="-773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2926080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S3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492817" y="4302062"/>
            <a:ext cx="4741545" cy="1134237"/>
            <a:chOff x="0" y="0"/>
            <a:chExt cx="6322060" cy="151231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322060" cy="1512316"/>
            </a:xfrm>
            <a:custGeom>
              <a:avLst/>
              <a:gdLst/>
              <a:ahLst/>
              <a:cxnLst/>
              <a:rect l="l" t="t" r="r" b="b"/>
              <a:pathLst>
                <a:path w="6322060" h="1512316">
                  <a:moveTo>
                    <a:pt x="0" y="0"/>
                  </a:moveTo>
                  <a:lnTo>
                    <a:pt x="6322060" y="0"/>
                  </a:lnTo>
                  <a:lnTo>
                    <a:pt x="6322060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3566160" y="4416552"/>
            <a:ext cx="4594860" cy="987552"/>
            <a:chOff x="0" y="0"/>
            <a:chExt cx="6126480" cy="131673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126480" cy="1316736"/>
            </a:xfrm>
            <a:custGeom>
              <a:avLst/>
              <a:gdLst/>
              <a:ahLst/>
              <a:cxnLst/>
              <a:rect l="l" t="t" r="r" b="b"/>
              <a:pathLst>
                <a:path w="6126480" h="1316736">
                  <a:moveTo>
                    <a:pt x="0" y="0"/>
                  </a:moveTo>
                  <a:lnTo>
                    <a:pt x="6126480" y="0"/>
                  </a:lnTo>
                  <a:lnTo>
                    <a:pt x="61264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59" b="-40659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6126480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S3-001 à S3-003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224838" y="4302062"/>
            <a:ext cx="8856345" cy="1134237"/>
            <a:chOff x="0" y="0"/>
            <a:chExt cx="11808460" cy="151231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1808460" cy="1512316"/>
            </a:xfrm>
            <a:custGeom>
              <a:avLst/>
              <a:gdLst/>
              <a:ahLst/>
              <a:cxnLst/>
              <a:rect l="l" t="t" r="r" b="b"/>
              <a:pathLst>
                <a:path w="11808460" h="1512316">
                  <a:moveTo>
                    <a:pt x="0" y="0"/>
                  </a:moveTo>
                  <a:lnTo>
                    <a:pt x="11808460" y="0"/>
                  </a:lnTo>
                  <a:lnTo>
                    <a:pt x="11808460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8298180" y="4416552"/>
            <a:ext cx="8709660" cy="987552"/>
            <a:chOff x="0" y="0"/>
            <a:chExt cx="11612880" cy="131673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1612880" cy="1316736"/>
            </a:xfrm>
            <a:custGeom>
              <a:avLst/>
              <a:gdLst/>
              <a:ahLst/>
              <a:cxnLst/>
              <a:rect l="l" t="t" r="r" b="b"/>
              <a:pathLst>
                <a:path w="11612880" h="1316736">
                  <a:moveTo>
                    <a:pt x="0" y="0"/>
                  </a:moveTo>
                  <a:lnTo>
                    <a:pt x="11612880" y="0"/>
                  </a:lnTo>
                  <a:lnTo>
                    <a:pt x="116128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1847" b="-121847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11612880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Écriture publique, lecture publique, Block Public Access incomplet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61098" y="5426774"/>
            <a:ext cx="2341245" cy="1134237"/>
            <a:chOff x="0" y="0"/>
            <a:chExt cx="3121660" cy="151231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121660" cy="1512316"/>
            </a:xfrm>
            <a:custGeom>
              <a:avLst/>
              <a:gdLst/>
              <a:ahLst/>
              <a:cxnLst/>
              <a:rect l="l" t="t" r="r" b="b"/>
              <a:pathLst>
                <a:path w="3121660" h="1512316">
                  <a:moveTo>
                    <a:pt x="0" y="0"/>
                  </a:moveTo>
                  <a:lnTo>
                    <a:pt x="3121660" y="0"/>
                  </a:lnTo>
                  <a:lnTo>
                    <a:pt x="3121660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1234440" y="5541264"/>
            <a:ext cx="2194560" cy="987552"/>
            <a:chOff x="0" y="0"/>
            <a:chExt cx="2926080" cy="131673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926080" cy="1316736"/>
            </a:xfrm>
            <a:custGeom>
              <a:avLst/>
              <a:gdLst/>
              <a:ahLst/>
              <a:cxnLst/>
              <a:rect l="l" t="t" r="r" b="b"/>
              <a:pathLst>
                <a:path w="2926080" h="1316736">
                  <a:moveTo>
                    <a:pt x="0" y="0"/>
                  </a:moveTo>
                  <a:lnTo>
                    <a:pt x="2926080" y="0"/>
                  </a:lnTo>
                  <a:lnTo>
                    <a:pt x="29260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r="-7736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2926080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Orphelins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3492817" y="5426774"/>
            <a:ext cx="4741545" cy="1134237"/>
            <a:chOff x="0" y="0"/>
            <a:chExt cx="6322060" cy="151231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322060" cy="1512316"/>
            </a:xfrm>
            <a:custGeom>
              <a:avLst/>
              <a:gdLst/>
              <a:ahLst/>
              <a:cxnLst/>
              <a:rect l="l" t="t" r="r" b="b"/>
              <a:pathLst>
                <a:path w="6322060" h="1512316">
                  <a:moveTo>
                    <a:pt x="0" y="0"/>
                  </a:moveTo>
                  <a:lnTo>
                    <a:pt x="6322060" y="0"/>
                  </a:lnTo>
                  <a:lnTo>
                    <a:pt x="6322060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3566160" y="5541264"/>
            <a:ext cx="4594860" cy="987552"/>
            <a:chOff x="0" y="0"/>
            <a:chExt cx="6126480" cy="131673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6126480" cy="1316736"/>
            </a:xfrm>
            <a:custGeom>
              <a:avLst/>
              <a:gdLst/>
              <a:ahLst/>
              <a:cxnLst/>
              <a:rect l="l" t="t" r="r" b="b"/>
              <a:pathLst>
                <a:path w="6126480" h="1316736">
                  <a:moveTo>
                    <a:pt x="0" y="0"/>
                  </a:moveTo>
                  <a:lnTo>
                    <a:pt x="6126480" y="0"/>
                  </a:lnTo>
                  <a:lnTo>
                    <a:pt x="61264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59" b="-40659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6126480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ORPHAN-001 à ORPHAN-003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8224838" y="5426774"/>
            <a:ext cx="8856345" cy="1134237"/>
            <a:chOff x="0" y="0"/>
            <a:chExt cx="11808460" cy="151231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1808460" cy="1512316"/>
            </a:xfrm>
            <a:custGeom>
              <a:avLst/>
              <a:gdLst/>
              <a:ahLst/>
              <a:cxnLst/>
              <a:rect l="l" t="t" r="r" b="b"/>
              <a:pathLst>
                <a:path w="11808460" h="1512316">
                  <a:moveTo>
                    <a:pt x="0" y="0"/>
                  </a:moveTo>
                  <a:lnTo>
                    <a:pt x="11808460" y="0"/>
                  </a:lnTo>
                  <a:lnTo>
                    <a:pt x="11808460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8298180" y="5541264"/>
            <a:ext cx="8709660" cy="987552"/>
            <a:chOff x="0" y="0"/>
            <a:chExt cx="11612880" cy="131673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1612880" cy="1316736"/>
            </a:xfrm>
            <a:custGeom>
              <a:avLst/>
              <a:gdLst/>
              <a:ahLst/>
              <a:cxnLst/>
              <a:rect l="l" t="t" r="r" b="b"/>
              <a:pathLst>
                <a:path w="11612880" h="1316736">
                  <a:moveTo>
                    <a:pt x="0" y="0"/>
                  </a:moveTo>
                  <a:lnTo>
                    <a:pt x="11612880" y="0"/>
                  </a:lnTo>
                  <a:lnTo>
                    <a:pt x="116128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1847" b="-121847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11612880" cy="13167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EBS disponible, EIP libre, ENI détachée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577597" y="7063997"/>
            <a:ext cx="15087095" cy="89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rPr>
              <a:t>Chaque finding contient rule_id, ressource, description, evidence, recommandation et paramètres de scoring.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AWS : scoring et reporting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14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03277" y="2126237"/>
            <a:ext cx="6308855" cy="47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rPr>
              <a:t>Score AWS sur 10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93495" y="2939415"/>
            <a:ext cx="5505450" cy="2556510"/>
            <a:chOff x="0" y="0"/>
            <a:chExt cx="7340600" cy="34086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40600" cy="3408680"/>
            </a:xfrm>
            <a:custGeom>
              <a:avLst/>
              <a:gdLst/>
              <a:ahLst/>
              <a:cxnLst/>
              <a:rect l="l" t="t" r="r" b="b"/>
              <a:pathLst>
                <a:path w="7340600" h="3408680">
                  <a:moveTo>
                    <a:pt x="0" y="92075"/>
                  </a:moveTo>
                  <a:cubicBezTo>
                    <a:pt x="0" y="41275"/>
                    <a:pt x="41275" y="0"/>
                    <a:pt x="92075" y="0"/>
                  </a:cubicBezTo>
                  <a:lnTo>
                    <a:pt x="7248525" y="0"/>
                  </a:lnTo>
                  <a:cubicBezTo>
                    <a:pt x="7299325" y="0"/>
                    <a:pt x="7340600" y="41275"/>
                    <a:pt x="7340600" y="92075"/>
                  </a:cubicBezTo>
                  <a:lnTo>
                    <a:pt x="7340600" y="3316605"/>
                  </a:lnTo>
                  <a:cubicBezTo>
                    <a:pt x="7340600" y="3367532"/>
                    <a:pt x="7299325" y="3408680"/>
                    <a:pt x="7248525" y="3408680"/>
                  </a:cubicBezTo>
                  <a:lnTo>
                    <a:pt x="92075" y="3408680"/>
                  </a:lnTo>
                  <a:cubicBezTo>
                    <a:pt x="41148" y="3408680"/>
                    <a:pt x="0" y="3367405"/>
                    <a:pt x="0" y="3316605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467612" y="3086100"/>
            <a:ext cx="5157216" cy="2263140"/>
            <a:chOff x="0" y="0"/>
            <a:chExt cx="6876288" cy="3017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876288" cy="3017520"/>
            </a:xfrm>
            <a:custGeom>
              <a:avLst/>
              <a:gdLst/>
              <a:ahLst/>
              <a:cxnLst/>
              <a:rect l="l" t="t" r="r" b="b"/>
              <a:pathLst>
                <a:path w="6876288" h="3017520">
                  <a:moveTo>
                    <a:pt x="0" y="0"/>
                  </a:moveTo>
                  <a:lnTo>
                    <a:pt x="6876288" y="0"/>
                  </a:lnTo>
                  <a:lnTo>
                    <a:pt x="6876288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03" r="-6303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6876288" cy="3017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Impact × 0,6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+ Likelihood × 0,4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+ Exposition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+ Bonus tags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03020" y="6377940"/>
            <a:ext cx="6995160" cy="1714500"/>
            <a:chOff x="0" y="0"/>
            <a:chExt cx="9326880" cy="2286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326880" cy="2286000"/>
            </a:xfrm>
            <a:custGeom>
              <a:avLst/>
              <a:gdLst/>
              <a:ahLst/>
              <a:cxnLst/>
              <a:rect l="l" t="t" r="r" b="b"/>
              <a:pathLst>
                <a:path w="9326880" h="2286000">
                  <a:moveTo>
                    <a:pt x="0" y="0"/>
                  </a:moveTo>
                  <a:lnTo>
                    <a:pt x="9326880" y="0"/>
                  </a:lnTo>
                  <a:lnTo>
                    <a:pt x="932688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98" b="-29498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9326880" cy="2286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Impact et likelihood sont bornés entre 1 et 5.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L’exposition et les tags ajustent la priorité.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Les seuils produisent Low, Medium, High, Critical.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670037" y="2126237"/>
            <a:ext cx="6308855" cy="47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rPr>
              <a:t>Sorties générées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660255" y="2939415"/>
            <a:ext cx="5505450" cy="2556510"/>
            <a:chOff x="0" y="0"/>
            <a:chExt cx="7340600" cy="34086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340600" cy="3408680"/>
            </a:xfrm>
            <a:custGeom>
              <a:avLst/>
              <a:gdLst/>
              <a:ahLst/>
              <a:cxnLst/>
              <a:rect l="l" t="t" r="r" b="b"/>
              <a:pathLst>
                <a:path w="7340600" h="3408680">
                  <a:moveTo>
                    <a:pt x="0" y="92075"/>
                  </a:moveTo>
                  <a:cubicBezTo>
                    <a:pt x="0" y="41275"/>
                    <a:pt x="41275" y="0"/>
                    <a:pt x="92075" y="0"/>
                  </a:cubicBezTo>
                  <a:lnTo>
                    <a:pt x="7248525" y="0"/>
                  </a:lnTo>
                  <a:cubicBezTo>
                    <a:pt x="7299325" y="0"/>
                    <a:pt x="7340600" y="41275"/>
                    <a:pt x="7340600" y="92075"/>
                  </a:cubicBezTo>
                  <a:lnTo>
                    <a:pt x="7340600" y="3316605"/>
                  </a:lnTo>
                  <a:cubicBezTo>
                    <a:pt x="7340600" y="3367532"/>
                    <a:pt x="7299325" y="3408680"/>
                    <a:pt x="7248525" y="3408680"/>
                  </a:cubicBezTo>
                  <a:lnTo>
                    <a:pt x="92075" y="3408680"/>
                  </a:lnTo>
                  <a:cubicBezTo>
                    <a:pt x="41148" y="3408680"/>
                    <a:pt x="0" y="3367405"/>
                    <a:pt x="0" y="3316605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834372" y="3086100"/>
            <a:ext cx="5157216" cy="2263140"/>
            <a:chOff x="0" y="0"/>
            <a:chExt cx="6876288" cy="3017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876288" cy="3017520"/>
            </a:xfrm>
            <a:custGeom>
              <a:avLst/>
              <a:gdLst/>
              <a:ahLst/>
              <a:cxnLst/>
              <a:rect l="l" t="t" r="r" b="b"/>
              <a:pathLst>
                <a:path w="6876288" h="3017520">
                  <a:moveTo>
                    <a:pt x="0" y="0"/>
                  </a:moveTo>
                  <a:lnTo>
                    <a:pt x="6876288" y="0"/>
                  </a:lnTo>
                  <a:lnTo>
                    <a:pt x="6876288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303" r="-6303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6876288" cy="3017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inventory.json</a:t>
              </a:r>
            </a:p>
            <a:p>
              <a:pPr algn="ctr">
                <a:lnSpc>
                  <a:spcPts val="3779"/>
                </a:lnSpc>
              </a:pPr>
              <a:r>
                <a:rPr lang="en-US" sz="315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findings.json</a:t>
              </a:r>
            </a:p>
            <a:p>
              <a:pPr algn="ctr">
                <a:lnSpc>
                  <a:spcPts val="3779"/>
                </a:lnSpc>
              </a:pPr>
              <a:r>
                <a:rPr lang="en-US" sz="315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report.json</a:t>
              </a:r>
            </a:p>
            <a:p>
              <a:pPr algn="ctr">
                <a:lnSpc>
                  <a:spcPts val="3779"/>
                </a:lnSpc>
              </a:pPr>
              <a:r>
                <a:rPr lang="en-US" sz="315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report.html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669780" y="6515100"/>
            <a:ext cx="6172200" cy="822960"/>
            <a:chOff x="0" y="0"/>
            <a:chExt cx="8229600" cy="10972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229600" cy="1097280"/>
            </a:xfrm>
            <a:custGeom>
              <a:avLst/>
              <a:gdLst/>
              <a:ahLst/>
              <a:cxnLst/>
              <a:rect l="l" t="t" r="r" b="b"/>
              <a:pathLst>
                <a:path w="8229600" h="1097280">
                  <a:moveTo>
                    <a:pt x="0" y="0"/>
                  </a:moveTo>
                  <a:lnTo>
                    <a:pt x="8229600" y="0"/>
                  </a:lnTo>
                  <a:lnTo>
                    <a:pt x="8229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822960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Le rapport HTML présente le résumé, les sévérités, les preuves techniques et les recommandations.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Résultats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AWS : résultats de référence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65860" y="2125980"/>
            <a:ext cx="2263140" cy="905256"/>
            <a:chOff x="0" y="0"/>
            <a:chExt cx="3017520" cy="12070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17520" cy="1207008"/>
            </a:xfrm>
            <a:custGeom>
              <a:avLst/>
              <a:gdLst/>
              <a:ahLst/>
              <a:cxnLst/>
              <a:rect l="l" t="t" r="r" b="b"/>
              <a:pathLst>
                <a:path w="3017520" h="1207008">
                  <a:moveTo>
                    <a:pt x="0" y="0"/>
                  </a:moveTo>
                  <a:lnTo>
                    <a:pt x="3017520" y="0"/>
                  </a:lnTo>
                  <a:lnTo>
                    <a:pt x="3017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r="-132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3017520" cy="12260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450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10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65860" y="3080614"/>
            <a:ext cx="2263140" cy="576072"/>
            <a:chOff x="0" y="0"/>
            <a:chExt cx="3017520" cy="7680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17520" cy="768096"/>
            </a:xfrm>
            <a:custGeom>
              <a:avLst/>
              <a:gdLst/>
              <a:ahLst/>
              <a:cxnLst/>
              <a:rect l="l" t="t" r="r" b="b"/>
              <a:pathLst>
                <a:path w="3017520" h="768096">
                  <a:moveTo>
                    <a:pt x="0" y="0"/>
                  </a:moveTo>
                  <a:lnTo>
                    <a:pt x="3017520" y="0"/>
                  </a:lnTo>
                  <a:lnTo>
                    <a:pt x="3017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548" b="-26548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3017520" cy="768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findings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909060" y="2125980"/>
            <a:ext cx="2606040" cy="905256"/>
            <a:chOff x="0" y="0"/>
            <a:chExt cx="3474720" cy="12070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474720" cy="1207008"/>
            </a:xfrm>
            <a:custGeom>
              <a:avLst/>
              <a:gdLst/>
              <a:ahLst/>
              <a:cxnLst/>
              <a:rect l="l" t="t" r="r" b="b"/>
              <a:pathLst>
                <a:path w="3474720" h="1207008">
                  <a:moveTo>
                    <a:pt x="0" y="0"/>
                  </a:moveTo>
                  <a:lnTo>
                    <a:pt x="3474720" y="0"/>
                  </a:lnTo>
                  <a:lnTo>
                    <a:pt x="34747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93" b="-609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3474720" cy="12260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450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10.0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909060" y="3080614"/>
            <a:ext cx="2606040" cy="576072"/>
            <a:chOff x="0" y="0"/>
            <a:chExt cx="3474720" cy="76809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474720" cy="768096"/>
            </a:xfrm>
            <a:custGeom>
              <a:avLst/>
              <a:gdLst/>
              <a:ahLst/>
              <a:cxnLst/>
              <a:rect l="l" t="t" r="r" b="b"/>
              <a:pathLst>
                <a:path w="3474720" h="768096">
                  <a:moveTo>
                    <a:pt x="0" y="0"/>
                  </a:moveTo>
                  <a:lnTo>
                    <a:pt x="3474720" y="0"/>
                  </a:lnTo>
                  <a:lnTo>
                    <a:pt x="34747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146" b="-38146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3474720" cy="768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score max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974455" y="2253615"/>
            <a:ext cx="1658112" cy="3653790"/>
            <a:chOff x="0" y="0"/>
            <a:chExt cx="2210816" cy="48717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10816" cy="4871720"/>
            </a:xfrm>
            <a:custGeom>
              <a:avLst/>
              <a:gdLst/>
              <a:ahLst/>
              <a:cxnLst/>
              <a:rect l="l" t="t" r="r" b="b"/>
              <a:pathLst>
                <a:path w="2210816" h="4871720">
                  <a:moveTo>
                    <a:pt x="0" y="0"/>
                  </a:moveTo>
                  <a:lnTo>
                    <a:pt x="2210816" y="0"/>
                  </a:lnTo>
                  <a:lnTo>
                    <a:pt x="2210816" y="4871720"/>
                  </a:lnTo>
                  <a:lnTo>
                    <a:pt x="0" y="4871720"/>
                  </a:lnTo>
                  <a:close/>
                </a:path>
              </a:pathLst>
            </a:custGeom>
            <a:solidFill>
              <a:srgbClr val="8F3F37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8983980" y="1824228"/>
            <a:ext cx="1639062" cy="342900"/>
            <a:chOff x="0" y="0"/>
            <a:chExt cx="2185416" cy="457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85416" cy="457200"/>
            </a:xfrm>
            <a:custGeom>
              <a:avLst/>
              <a:gdLst/>
              <a:ahLst/>
              <a:cxnLst/>
              <a:rect l="l" t="t" r="r" b="b"/>
              <a:pathLst>
                <a:path w="2185416" h="457200">
                  <a:moveTo>
                    <a:pt x="0" y="0"/>
                  </a:moveTo>
                  <a:lnTo>
                    <a:pt x="2185416" y="0"/>
                  </a:lnTo>
                  <a:lnTo>
                    <a:pt x="218541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138" b="-4313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2185416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915400" y="6213348"/>
            <a:ext cx="1776222" cy="356616"/>
            <a:chOff x="0" y="0"/>
            <a:chExt cx="2368296" cy="47548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368296" cy="475488"/>
            </a:xfrm>
            <a:custGeom>
              <a:avLst/>
              <a:gdLst/>
              <a:ahLst/>
              <a:cxnLst/>
              <a:rect l="l" t="t" r="r" b="b"/>
              <a:pathLst>
                <a:path w="2368296" h="475488">
                  <a:moveTo>
                    <a:pt x="0" y="0"/>
                  </a:moveTo>
                  <a:lnTo>
                    <a:pt x="2368296" y="0"/>
                  </a:lnTo>
                  <a:lnTo>
                    <a:pt x="23682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050" b="-4705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368296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Critical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942701" y="4979670"/>
            <a:ext cx="1658112" cy="927735"/>
            <a:chOff x="0" y="0"/>
            <a:chExt cx="2210816" cy="12369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10816" cy="1236980"/>
            </a:xfrm>
            <a:custGeom>
              <a:avLst/>
              <a:gdLst/>
              <a:ahLst/>
              <a:cxnLst/>
              <a:rect l="l" t="t" r="r" b="b"/>
              <a:pathLst>
                <a:path w="2210816" h="1236980">
                  <a:moveTo>
                    <a:pt x="0" y="0"/>
                  </a:moveTo>
                  <a:lnTo>
                    <a:pt x="2210816" y="0"/>
                  </a:lnTo>
                  <a:lnTo>
                    <a:pt x="2210816" y="1236980"/>
                  </a:lnTo>
                  <a:lnTo>
                    <a:pt x="0" y="1236980"/>
                  </a:lnTo>
                  <a:close/>
                </a:path>
              </a:pathLst>
            </a:custGeom>
            <a:solidFill>
              <a:srgbClr val="B08431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0952226" y="4550283"/>
            <a:ext cx="1639062" cy="342900"/>
            <a:chOff x="0" y="0"/>
            <a:chExt cx="2185416" cy="457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85416" cy="457200"/>
            </a:xfrm>
            <a:custGeom>
              <a:avLst/>
              <a:gdLst/>
              <a:ahLst/>
              <a:cxnLst/>
              <a:rect l="l" t="t" r="r" b="b"/>
              <a:pathLst>
                <a:path w="2185416" h="457200">
                  <a:moveTo>
                    <a:pt x="0" y="0"/>
                  </a:moveTo>
                  <a:lnTo>
                    <a:pt x="2185416" y="0"/>
                  </a:lnTo>
                  <a:lnTo>
                    <a:pt x="218541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138" b="-43138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2185416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883646" y="6213348"/>
            <a:ext cx="1776222" cy="356616"/>
            <a:chOff x="0" y="0"/>
            <a:chExt cx="2368296" cy="47548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368296" cy="475488"/>
            </a:xfrm>
            <a:custGeom>
              <a:avLst/>
              <a:gdLst/>
              <a:ahLst/>
              <a:cxnLst/>
              <a:rect l="l" t="t" r="r" b="b"/>
              <a:pathLst>
                <a:path w="2368296" h="475488">
                  <a:moveTo>
                    <a:pt x="0" y="0"/>
                  </a:moveTo>
                  <a:lnTo>
                    <a:pt x="2368296" y="0"/>
                  </a:lnTo>
                  <a:lnTo>
                    <a:pt x="23682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050" b="-47050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2368296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High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910947" y="3162300"/>
            <a:ext cx="1658112" cy="2745105"/>
            <a:chOff x="0" y="0"/>
            <a:chExt cx="2210816" cy="36601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210816" cy="3660140"/>
            </a:xfrm>
            <a:custGeom>
              <a:avLst/>
              <a:gdLst/>
              <a:ahLst/>
              <a:cxnLst/>
              <a:rect l="l" t="t" r="r" b="b"/>
              <a:pathLst>
                <a:path w="2210816" h="3660140">
                  <a:moveTo>
                    <a:pt x="0" y="0"/>
                  </a:moveTo>
                  <a:lnTo>
                    <a:pt x="2210816" y="0"/>
                  </a:lnTo>
                  <a:lnTo>
                    <a:pt x="2210816" y="3660140"/>
                  </a:lnTo>
                  <a:lnTo>
                    <a:pt x="0" y="3660140"/>
                  </a:lnTo>
                  <a:close/>
                </a:path>
              </a:pathLst>
            </a:custGeom>
            <a:solidFill>
              <a:srgbClr val="5C718A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2920472" y="2732913"/>
            <a:ext cx="1639062" cy="342900"/>
            <a:chOff x="0" y="0"/>
            <a:chExt cx="2185416" cy="4572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85416" cy="457200"/>
            </a:xfrm>
            <a:custGeom>
              <a:avLst/>
              <a:gdLst/>
              <a:ahLst/>
              <a:cxnLst/>
              <a:rect l="l" t="t" r="r" b="b"/>
              <a:pathLst>
                <a:path w="2185416" h="457200">
                  <a:moveTo>
                    <a:pt x="0" y="0"/>
                  </a:moveTo>
                  <a:lnTo>
                    <a:pt x="2185416" y="0"/>
                  </a:lnTo>
                  <a:lnTo>
                    <a:pt x="218541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138" b="-43138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2185416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851892" y="6213348"/>
            <a:ext cx="1776222" cy="356616"/>
            <a:chOff x="0" y="0"/>
            <a:chExt cx="2368296" cy="47548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368296" cy="475488"/>
            </a:xfrm>
            <a:custGeom>
              <a:avLst/>
              <a:gdLst/>
              <a:ahLst/>
              <a:cxnLst/>
              <a:rect l="l" t="t" r="r" b="b"/>
              <a:pathLst>
                <a:path w="2368296" h="475488">
                  <a:moveTo>
                    <a:pt x="0" y="0"/>
                  </a:moveTo>
                  <a:lnTo>
                    <a:pt x="2368296" y="0"/>
                  </a:lnTo>
                  <a:lnTo>
                    <a:pt x="23682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050" b="-4705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2368296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Medium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879193" y="4070985"/>
            <a:ext cx="1658112" cy="1836420"/>
            <a:chOff x="0" y="0"/>
            <a:chExt cx="2210816" cy="244856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210816" cy="2448560"/>
            </a:xfrm>
            <a:custGeom>
              <a:avLst/>
              <a:gdLst/>
              <a:ahLst/>
              <a:cxnLst/>
              <a:rect l="l" t="t" r="r" b="b"/>
              <a:pathLst>
                <a:path w="2210816" h="2448560">
                  <a:moveTo>
                    <a:pt x="0" y="0"/>
                  </a:moveTo>
                  <a:lnTo>
                    <a:pt x="2210816" y="0"/>
                  </a:lnTo>
                  <a:lnTo>
                    <a:pt x="2210816" y="2448560"/>
                  </a:lnTo>
                  <a:lnTo>
                    <a:pt x="0" y="2448560"/>
                  </a:lnTo>
                  <a:close/>
                </a:path>
              </a:pathLst>
            </a:custGeom>
            <a:solidFill>
              <a:srgbClr val="7E8A97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4888718" y="3641598"/>
            <a:ext cx="1639062" cy="342900"/>
            <a:chOff x="0" y="0"/>
            <a:chExt cx="2185416" cy="4572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85416" cy="457200"/>
            </a:xfrm>
            <a:custGeom>
              <a:avLst/>
              <a:gdLst/>
              <a:ahLst/>
              <a:cxnLst/>
              <a:rect l="l" t="t" r="r" b="b"/>
              <a:pathLst>
                <a:path w="2185416" h="457200">
                  <a:moveTo>
                    <a:pt x="0" y="0"/>
                  </a:moveTo>
                  <a:lnTo>
                    <a:pt x="2185416" y="0"/>
                  </a:lnTo>
                  <a:lnTo>
                    <a:pt x="218541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138" b="-43138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2185416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4820138" y="6213348"/>
            <a:ext cx="1776222" cy="356616"/>
            <a:chOff x="0" y="0"/>
            <a:chExt cx="2368296" cy="47548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368296" cy="475488"/>
            </a:xfrm>
            <a:custGeom>
              <a:avLst/>
              <a:gdLst/>
              <a:ahLst/>
              <a:cxnLst/>
              <a:rect l="l" t="t" r="r" b="b"/>
              <a:pathLst>
                <a:path w="2368296" h="475488">
                  <a:moveTo>
                    <a:pt x="0" y="0"/>
                  </a:moveTo>
                  <a:lnTo>
                    <a:pt x="2368296" y="0"/>
                  </a:lnTo>
                  <a:lnTo>
                    <a:pt x="23682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050" b="-47050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2368296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Low</a:t>
              </a:r>
            </a:p>
          </p:txBody>
        </p:sp>
      </p:grpSp>
      <p:sp>
        <p:nvSpPr>
          <p:cNvPr id="59" name="AutoShape 59"/>
          <p:cNvSpPr/>
          <p:nvPr/>
        </p:nvSpPr>
        <p:spPr>
          <a:xfrm rot="6480">
            <a:off x="8976827" y="5961697"/>
            <a:ext cx="7558097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0" name="Group 60"/>
          <p:cNvGrpSpPr/>
          <p:nvPr/>
        </p:nvGrpSpPr>
        <p:grpSpPr>
          <a:xfrm>
            <a:off x="1296352" y="4588192"/>
            <a:ext cx="5225415" cy="753999"/>
            <a:chOff x="0" y="0"/>
            <a:chExt cx="6967220" cy="100533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967220" cy="1005332"/>
            </a:xfrm>
            <a:custGeom>
              <a:avLst/>
              <a:gdLst/>
              <a:ahLst/>
              <a:cxnLst/>
              <a:rect l="l" t="t" r="r" b="b"/>
              <a:pathLst>
                <a:path w="6967220" h="1005332">
                  <a:moveTo>
                    <a:pt x="0" y="0"/>
                  </a:moveTo>
                  <a:lnTo>
                    <a:pt x="6967220" y="0"/>
                  </a:lnTo>
                  <a:lnTo>
                    <a:pt x="6967220" y="1005332"/>
                  </a:lnTo>
                  <a:lnTo>
                    <a:pt x="0" y="1005332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1371600" y="4718304"/>
            <a:ext cx="5074920" cy="603504"/>
            <a:chOff x="0" y="0"/>
            <a:chExt cx="6766560" cy="80467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766560" cy="804672"/>
            </a:xfrm>
            <a:custGeom>
              <a:avLst/>
              <a:gdLst/>
              <a:ahLst/>
              <a:cxnLst/>
              <a:rect l="l" t="t" r="r" b="b"/>
              <a:pathLst>
                <a:path w="6766560" h="804672">
                  <a:moveTo>
                    <a:pt x="0" y="0"/>
                  </a:moveTo>
                  <a:lnTo>
                    <a:pt x="6766560" y="0"/>
                  </a:lnTo>
                  <a:lnTo>
                    <a:pt x="67665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851" b="-11385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6766560" cy="804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Exemples critiques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508432" y="4588192"/>
            <a:ext cx="1522095" cy="753999"/>
            <a:chOff x="0" y="0"/>
            <a:chExt cx="2029460" cy="100533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029460" cy="1005332"/>
            </a:xfrm>
            <a:custGeom>
              <a:avLst/>
              <a:gdLst/>
              <a:ahLst/>
              <a:cxnLst/>
              <a:rect l="l" t="t" r="r" b="b"/>
              <a:pathLst>
                <a:path w="2029460" h="1005332">
                  <a:moveTo>
                    <a:pt x="0" y="0"/>
                  </a:moveTo>
                  <a:lnTo>
                    <a:pt x="2029460" y="0"/>
                  </a:lnTo>
                  <a:lnTo>
                    <a:pt x="2029460" y="1005332"/>
                  </a:lnTo>
                  <a:lnTo>
                    <a:pt x="0" y="1005332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6583680" y="4718304"/>
            <a:ext cx="1371600" cy="603504"/>
            <a:chOff x="0" y="0"/>
            <a:chExt cx="1828800" cy="80467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828800" cy="804672"/>
            </a:xfrm>
            <a:custGeom>
              <a:avLst/>
              <a:gdLst/>
              <a:ahLst/>
              <a:cxnLst/>
              <a:rect l="l" t="t" r="r" b="b"/>
              <a:pathLst>
                <a:path w="1828800" h="804672">
                  <a:moveTo>
                    <a:pt x="0" y="0"/>
                  </a:moveTo>
                  <a:lnTo>
                    <a:pt x="1828800" y="0"/>
                  </a:lnTo>
                  <a:lnTo>
                    <a:pt x="18288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r="-6453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1828800" cy="804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Score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298258" y="5330762"/>
            <a:ext cx="5221605" cy="750189"/>
            <a:chOff x="0" y="0"/>
            <a:chExt cx="6962140" cy="100025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962140" cy="1000252"/>
            </a:xfrm>
            <a:custGeom>
              <a:avLst/>
              <a:gdLst/>
              <a:ahLst/>
              <a:cxnLst/>
              <a:rect l="l" t="t" r="r" b="b"/>
              <a:pathLst>
                <a:path w="6962140" h="1000252">
                  <a:moveTo>
                    <a:pt x="0" y="0"/>
                  </a:moveTo>
                  <a:lnTo>
                    <a:pt x="6962140" y="0"/>
                  </a:lnTo>
                  <a:lnTo>
                    <a:pt x="6962140" y="1000252"/>
                  </a:lnTo>
                  <a:lnTo>
                    <a:pt x="0" y="100025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1371600" y="5445252"/>
            <a:ext cx="5074920" cy="603504"/>
            <a:chOff x="0" y="0"/>
            <a:chExt cx="6766560" cy="80467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766560" cy="804672"/>
            </a:xfrm>
            <a:custGeom>
              <a:avLst/>
              <a:gdLst/>
              <a:ahLst/>
              <a:cxnLst/>
              <a:rect l="l" t="t" r="r" b="b"/>
              <a:pathLst>
                <a:path w="6766560" h="804672">
                  <a:moveTo>
                    <a:pt x="0" y="0"/>
                  </a:moveTo>
                  <a:lnTo>
                    <a:pt x="6766560" y="0"/>
                  </a:lnTo>
                  <a:lnTo>
                    <a:pt x="67665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851" b="-113851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6766560" cy="804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IAM-001 — crl-risky-admin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510338" y="5330762"/>
            <a:ext cx="1518285" cy="750189"/>
            <a:chOff x="0" y="0"/>
            <a:chExt cx="2024380" cy="100025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2024380" cy="1000252"/>
            </a:xfrm>
            <a:custGeom>
              <a:avLst/>
              <a:gdLst/>
              <a:ahLst/>
              <a:cxnLst/>
              <a:rect l="l" t="t" r="r" b="b"/>
              <a:pathLst>
                <a:path w="2024380" h="1000252">
                  <a:moveTo>
                    <a:pt x="0" y="0"/>
                  </a:moveTo>
                  <a:lnTo>
                    <a:pt x="2024380" y="0"/>
                  </a:lnTo>
                  <a:lnTo>
                    <a:pt x="2024380" y="1000252"/>
                  </a:lnTo>
                  <a:lnTo>
                    <a:pt x="0" y="100025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6583680" y="5445252"/>
            <a:ext cx="1371600" cy="603504"/>
            <a:chOff x="0" y="0"/>
            <a:chExt cx="1828800" cy="80467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828800" cy="804672"/>
            </a:xfrm>
            <a:custGeom>
              <a:avLst/>
              <a:gdLst/>
              <a:ahLst/>
              <a:cxnLst/>
              <a:rect l="l" t="t" r="r" b="b"/>
              <a:pathLst>
                <a:path w="1828800" h="804672">
                  <a:moveTo>
                    <a:pt x="0" y="0"/>
                  </a:moveTo>
                  <a:lnTo>
                    <a:pt x="1828800" y="0"/>
                  </a:lnTo>
                  <a:lnTo>
                    <a:pt x="18288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r="-6453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1828800" cy="804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10.0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298258" y="6071425"/>
            <a:ext cx="5221605" cy="750189"/>
            <a:chOff x="0" y="0"/>
            <a:chExt cx="6962140" cy="100025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962140" cy="1000252"/>
            </a:xfrm>
            <a:custGeom>
              <a:avLst/>
              <a:gdLst/>
              <a:ahLst/>
              <a:cxnLst/>
              <a:rect l="l" t="t" r="r" b="b"/>
              <a:pathLst>
                <a:path w="6962140" h="1000252">
                  <a:moveTo>
                    <a:pt x="0" y="0"/>
                  </a:moveTo>
                  <a:lnTo>
                    <a:pt x="6962140" y="0"/>
                  </a:lnTo>
                  <a:lnTo>
                    <a:pt x="6962140" y="1000252"/>
                  </a:lnTo>
                  <a:lnTo>
                    <a:pt x="0" y="100025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1371600" y="6185916"/>
            <a:ext cx="5074920" cy="603504"/>
            <a:chOff x="0" y="0"/>
            <a:chExt cx="6766560" cy="80467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6766560" cy="804672"/>
            </a:xfrm>
            <a:custGeom>
              <a:avLst/>
              <a:gdLst/>
              <a:ahLst/>
              <a:cxnLst/>
              <a:rect l="l" t="t" r="r" b="b"/>
              <a:pathLst>
                <a:path w="6766560" h="804672">
                  <a:moveTo>
                    <a:pt x="0" y="0"/>
                  </a:moveTo>
                  <a:lnTo>
                    <a:pt x="6766560" y="0"/>
                  </a:lnTo>
                  <a:lnTo>
                    <a:pt x="67665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851" b="-113851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0"/>
              <a:ext cx="6766560" cy="804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S3-001 — crl-public-upload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510338" y="6071425"/>
            <a:ext cx="1518285" cy="750189"/>
            <a:chOff x="0" y="0"/>
            <a:chExt cx="2024380" cy="1000252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2024380" cy="1000252"/>
            </a:xfrm>
            <a:custGeom>
              <a:avLst/>
              <a:gdLst/>
              <a:ahLst/>
              <a:cxnLst/>
              <a:rect l="l" t="t" r="r" b="b"/>
              <a:pathLst>
                <a:path w="2024380" h="1000252">
                  <a:moveTo>
                    <a:pt x="0" y="0"/>
                  </a:moveTo>
                  <a:lnTo>
                    <a:pt x="2024380" y="0"/>
                  </a:lnTo>
                  <a:lnTo>
                    <a:pt x="2024380" y="1000252"/>
                  </a:lnTo>
                  <a:lnTo>
                    <a:pt x="0" y="100025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6583680" y="6185916"/>
            <a:ext cx="1371600" cy="603504"/>
            <a:chOff x="0" y="0"/>
            <a:chExt cx="1828800" cy="804672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828800" cy="804672"/>
            </a:xfrm>
            <a:custGeom>
              <a:avLst/>
              <a:gdLst/>
              <a:ahLst/>
              <a:cxnLst/>
              <a:rect l="l" t="t" r="r" b="b"/>
              <a:pathLst>
                <a:path w="1828800" h="804672">
                  <a:moveTo>
                    <a:pt x="0" y="0"/>
                  </a:moveTo>
                  <a:lnTo>
                    <a:pt x="1828800" y="0"/>
                  </a:lnTo>
                  <a:lnTo>
                    <a:pt x="18288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r="-6453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0"/>
              <a:ext cx="1828800" cy="804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10.0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298258" y="6812090"/>
            <a:ext cx="5221605" cy="750189"/>
            <a:chOff x="0" y="0"/>
            <a:chExt cx="6962140" cy="1000252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6962140" cy="1000252"/>
            </a:xfrm>
            <a:custGeom>
              <a:avLst/>
              <a:gdLst/>
              <a:ahLst/>
              <a:cxnLst/>
              <a:rect l="l" t="t" r="r" b="b"/>
              <a:pathLst>
                <a:path w="6962140" h="1000252">
                  <a:moveTo>
                    <a:pt x="0" y="0"/>
                  </a:moveTo>
                  <a:lnTo>
                    <a:pt x="6962140" y="0"/>
                  </a:lnTo>
                  <a:lnTo>
                    <a:pt x="6962140" y="1000252"/>
                  </a:lnTo>
                  <a:lnTo>
                    <a:pt x="0" y="100025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92" name="Group 92"/>
          <p:cNvGrpSpPr/>
          <p:nvPr/>
        </p:nvGrpSpPr>
        <p:grpSpPr>
          <a:xfrm>
            <a:off x="1371600" y="6926580"/>
            <a:ext cx="5074920" cy="603504"/>
            <a:chOff x="0" y="0"/>
            <a:chExt cx="6766560" cy="804672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766560" cy="804672"/>
            </a:xfrm>
            <a:custGeom>
              <a:avLst/>
              <a:gdLst/>
              <a:ahLst/>
              <a:cxnLst/>
              <a:rect l="l" t="t" r="r" b="b"/>
              <a:pathLst>
                <a:path w="6766560" h="804672">
                  <a:moveTo>
                    <a:pt x="0" y="0"/>
                  </a:moveTo>
                  <a:lnTo>
                    <a:pt x="6766560" y="0"/>
                  </a:lnTo>
                  <a:lnTo>
                    <a:pt x="67665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851" b="-113851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0"/>
              <a:ext cx="6766560" cy="804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S3-002 — crl-public-documents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510338" y="6812090"/>
            <a:ext cx="1518285" cy="750189"/>
            <a:chOff x="0" y="0"/>
            <a:chExt cx="2024380" cy="1000252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2024380" cy="1000252"/>
            </a:xfrm>
            <a:custGeom>
              <a:avLst/>
              <a:gdLst/>
              <a:ahLst/>
              <a:cxnLst/>
              <a:rect l="l" t="t" r="r" b="b"/>
              <a:pathLst>
                <a:path w="2024380" h="1000252">
                  <a:moveTo>
                    <a:pt x="0" y="0"/>
                  </a:moveTo>
                  <a:lnTo>
                    <a:pt x="2024380" y="0"/>
                  </a:lnTo>
                  <a:lnTo>
                    <a:pt x="2024380" y="1000252"/>
                  </a:lnTo>
                  <a:lnTo>
                    <a:pt x="0" y="100025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97" name="Group 97"/>
          <p:cNvGrpSpPr/>
          <p:nvPr/>
        </p:nvGrpSpPr>
        <p:grpSpPr>
          <a:xfrm>
            <a:off x="6583680" y="6926580"/>
            <a:ext cx="1371600" cy="603504"/>
            <a:chOff x="0" y="0"/>
            <a:chExt cx="1828800" cy="804672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1828800" cy="804672"/>
            </a:xfrm>
            <a:custGeom>
              <a:avLst/>
              <a:gdLst/>
              <a:ahLst/>
              <a:cxnLst/>
              <a:rect l="l" t="t" r="r" b="b"/>
              <a:pathLst>
                <a:path w="1828800" h="804672">
                  <a:moveTo>
                    <a:pt x="0" y="0"/>
                  </a:moveTo>
                  <a:lnTo>
                    <a:pt x="1828800" y="0"/>
                  </a:lnTo>
                  <a:lnTo>
                    <a:pt x="18288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r="-6453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0"/>
              <a:ext cx="1828800" cy="804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10.0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Azure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Implémentation Azure : laboratoire Topaz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16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1845" y="2802255"/>
            <a:ext cx="2830830" cy="910590"/>
            <a:chOff x="0" y="0"/>
            <a:chExt cx="3774440" cy="12141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774440" cy="1214120"/>
            </a:xfrm>
            <a:custGeom>
              <a:avLst/>
              <a:gdLst/>
              <a:ahLst/>
              <a:cxnLst/>
              <a:rect l="l" t="t" r="r" b="b"/>
              <a:pathLst>
                <a:path w="3774440" h="1214120">
                  <a:moveTo>
                    <a:pt x="0" y="93345"/>
                  </a:moveTo>
                  <a:cubicBezTo>
                    <a:pt x="0" y="41783"/>
                    <a:pt x="41783" y="0"/>
                    <a:pt x="93345" y="0"/>
                  </a:cubicBezTo>
                  <a:lnTo>
                    <a:pt x="3681095" y="0"/>
                  </a:lnTo>
                  <a:cubicBezTo>
                    <a:pt x="3732657" y="0"/>
                    <a:pt x="3774440" y="41783"/>
                    <a:pt x="3774440" y="93345"/>
                  </a:cubicBezTo>
                  <a:lnTo>
                    <a:pt x="3774440" y="1120775"/>
                  </a:lnTo>
                  <a:cubicBezTo>
                    <a:pt x="3774440" y="1172337"/>
                    <a:pt x="3732657" y="1214120"/>
                    <a:pt x="3681095" y="1214120"/>
                  </a:cubicBezTo>
                  <a:lnTo>
                    <a:pt x="93345" y="1214120"/>
                  </a:lnTo>
                  <a:cubicBezTo>
                    <a:pt x="41783" y="1214120"/>
                    <a:pt x="0" y="1172337"/>
                    <a:pt x="0" y="1120775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735962" y="2948940"/>
            <a:ext cx="2482596" cy="617220"/>
            <a:chOff x="0" y="0"/>
            <a:chExt cx="3310128" cy="8229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310128" cy="822960"/>
            </a:xfrm>
            <a:custGeom>
              <a:avLst/>
              <a:gdLst/>
              <a:ahLst/>
              <a:cxnLst/>
              <a:rect l="l" t="t" r="r" b="b"/>
              <a:pathLst>
                <a:path w="3310128" h="822960">
                  <a:moveTo>
                    <a:pt x="0" y="0"/>
                  </a:moveTo>
                  <a:lnTo>
                    <a:pt x="3310128" y="0"/>
                  </a:lnTo>
                  <a:lnTo>
                    <a:pt x="3310128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373" b="-2837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3310128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Docker Desktop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970407" y="3867002"/>
            <a:ext cx="0" cy="605323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1" name="Group 21"/>
          <p:cNvGrpSpPr/>
          <p:nvPr/>
        </p:nvGrpSpPr>
        <p:grpSpPr>
          <a:xfrm>
            <a:off x="561845" y="4585335"/>
            <a:ext cx="2830830" cy="979170"/>
            <a:chOff x="0" y="0"/>
            <a:chExt cx="3774440" cy="13055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74440" cy="1305560"/>
            </a:xfrm>
            <a:custGeom>
              <a:avLst/>
              <a:gdLst/>
              <a:ahLst/>
              <a:cxnLst/>
              <a:rect l="l" t="t" r="r" b="b"/>
              <a:pathLst>
                <a:path w="3774440" h="1305560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3681222" y="0"/>
                  </a:lnTo>
                  <a:cubicBezTo>
                    <a:pt x="3732784" y="0"/>
                    <a:pt x="3774440" y="41783"/>
                    <a:pt x="3774440" y="93218"/>
                  </a:cubicBezTo>
                  <a:lnTo>
                    <a:pt x="3774440" y="1212342"/>
                  </a:lnTo>
                  <a:cubicBezTo>
                    <a:pt x="3774440" y="1263904"/>
                    <a:pt x="3732657" y="1305560"/>
                    <a:pt x="3681222" y="1305560"/>
                  </a:cubicBezTo>
                  <a:lnTo>
                    <a:pt x="93218" y="1305560"/>
                  </a:lnTo>
                  <a:cubicBezTo>
                    <a:pt x="41783" y="1305560"/>
                    <a:pt x="0" y="1263777"/>
                    <a:pt x="0" y="1212342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35962" y="4732020"/>
            <a:ext cx="2482596" cy="685800"/>
            <a:chOff x="0" y="0"/>
            <a:chExt cx="3310128" cy="91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310128" cy="914400"/>
            </a:xfrm>
            <a:custGeom>
              <a:avLst/>
              <a:gdLst/>
              <a:ahLst/>
              <a:cxnLst/>
              <a:rect l="l" t="t" r="r" b="b"/>
              <a:pathLst>
                <a:path w="3310128" h="914400">
                  <a:moveTo>
                    <a:pt x="0" y="0"/>
                  </a:moveTo>
                  <a:lnTo>
                    <a:pt x="3310128" y="0"/>
                  </a:lnTo>
                  <a:lnTo>
                    <a:pt x="331012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535" b="-20535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3310128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Topaz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35930" y="3902266"/>
            <a:ext cx="3448050" cy="1184910"/>
            <a:chOff x="0" y="0"/>
            <a:chExt cx="4597400" cy="15798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597400" cy="1579880"/>
            </a:xfrm>
            <a:custGeom>
              <a:avLst/>
              <a:gdLst/>
              <a:ahLst/>
              <a:cxnLst/>
              <a:rect l="l" t="t" r="r" b="b"/>
              <a:pathLst>
                <a:path w="4597400" h="1579880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4504436" y="0"/>
                  </a:lnTo>
                  <a:cubicBezTo>
                    <a:pt x="4555744" y="0"/>
                    <a:pt x="4597400" y="41656"/>
                    <a:pt x="4597400" y="92964"/>
                  </a:cubicBezTo>
                  <a:lnTo>
                    <a:pt x="4597400" y="1486916"/>
                  </a:lnTo>
                  <a:cubicBezTo>
                    <a:pt x="4597400" y="1538224"/>
                    <a:pt x="4555744" y="1579880"/>
                    <a:pt x="4504436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710047" y="4048951"/>
            <a:ext cx="3099816" cy="891540"/>
            <a:chOff x="0" y="0"/>
            <a:chExt cx="4133088" cy="11887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133088" cy="1188720"/>
            </a:xfrm>
            <a:custGeom>
              <a:avLst/>
              <a:gdLst/>
              <a:ahLst/>
              <a:cxnLst/>
              <a:rect l="l" t="t" r="r" b="b"/>
              <a:pathLst>
                <a:path w="4133088" h="1188720">
                  <a:moveTo>
                    <a:pt x="0" y="0"/>
                  </a:moveTo>
                  <a:lnTo>
                    <a:pt x="4133088" y="0"/>
                  </a:lnTo>
                  <a:lnTo>
                    <a:pt x="413308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47" b="-17747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4133088" cy="1188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ARM / Resource API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HTTPS : 8899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509260" y="5143500"/>
            <a:ext cx="3448050" cy="1184910"/>
            <a:chOff x="0" y="0"/>
            <a:chExt cx="4597400" cy="15798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597400" cy="1579880"/>
            </a:xfrm>
            <a:custGeom>
              <a:avLst/>
              <a:gdLst/>
              <a:ahLst/>
              <a:cxnLst/>
              <a:rect l="l" t="t" r="r" b="b"/>
              <a:pathLst>
                <a:path w="4597400" h="1579880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4504436" y="0"/>
                  </a:lnTo>
                  <a:cubicBezTo>
                    <a:pt x="4555744" y="0"/>
                    <a:pt x="4597400" y="41656"/>
                    <a:pt x="4597400" y="92964"/>
                  </a:cubicBezTo>
                  <a:lnTo>
                    <a:pt x="4597400" y="1486916"/>
                  </a:lnTo>
                  <a:cubicBezTo>
                    <a:pt x="4597400" y="1538224"/>
                    <a:pt x="4555744" y="1579880"/>
                    <a:pt x="4504436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683377" y="5290185"/>
            <a:ext cx="3099816" cy="891540"/>
            <a:chOff x="0" y="0"/>
            <a:chExt cx="4133088" cy="11887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133088" cy="1188720"/>
            </a:xfrm>
            <a:custGeom>
              <a:avLst/>
              <a:gdLst/>
              <a:ahLst/>
              <a:cxnLst/>
              <a:rect l="l" t="t" r="r" b="b"/>
              <a:pathLst>
                <a:path w="4133088" h="1188720">
                  <a:moveTo>
                    <a:pt x="0" y="0"/>
                  </a:moveTo>
                  <a:lnTo>
                    <a:pt x="4133088" y="0"/>
                  </a:lnTo>
                  <a:lnTo>
                    <a:pt x="413308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47" b="-17747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4133088" cy="1188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Blob Storage API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HTTPS : 8891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>
            <a:off x="3642130" y="5100381"/>
            <a:ext cx="1630994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7" name="Group 37"/>
          <p:cNvGrpSpPr/>
          <p:nvPr/>
        </p:nvGrpSpPr>
        <p:grpSpPr>
          <a:xfrm>
            <a:off x="10681307" y="4409122"/>
            <a:ext cx="3448050" cy="1322070"/>
            <a:chOff x="0" y="0"/>
            <a:chExt cx="4597400" cy="176276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597400" cy="1762760"/>
            </a:xfrm>
            <a:custGeom>
              <a:avLst/>
              <a:gdLst/>
              <a:ahLst/>
              <a:cxnLst/>
              <a:rect l="l" t="t" r="r" b="b"/>
              <a:pathLst>
                <a:path w="4597400" h="1762760">
                  <a:moveTo>
                    <a:pt x="0" y="92837"/>
                  </a:moveTo>
                  <a:cubicBezTo>
                    <a:pt x="0" y="41529"/>
                    <a:pt x="41529" y="0"/>
                    <a:pt x="92837" y="0"/>
                  </a:cubicBezTo>
                  <a:lnTo>
                    <a:pt x="4504563" y="0"/>
                  </a:lnTo>
                  <a:cubicBezTo>
                    <a:pt x="4555871" y="0"/>
                    <a:pt x="4597400" y="41529"/>
                    <a:pt x="4597400" y="92837"/>
                  </a:cubicBezTo>
                  <a:lnTo>
                    <a:pt x="4597400" y="1669923"/>
                  </a:lnTo>
                  <a:cubicBezTo>
                    <a:pt x="4597400" y="1721104"/>
                    <a:pt x="4555871" y="1762760"/>
                    <a:pt x="4504563" y="1762760"/>
                  </a:cubicBezTo>
                  <a:lnTo>
                    <a:pt x="92837" y="1762760"/>
                  </a:lnTo>
                  <a:cubicBezTo>
                    <a:pt x="41656" y="1762760"/>
                    <a:pt x="0" y="1721231"/>
                    <a:pt x="0" y="1669923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0855424" y="4555807"/>
            <a:ext cx="3099816" cy="1028700"/>
            <a:chOff x="0" y="0"/>
            <a:chExt cx="4133088" cy="13716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133088" cy="1371600"/>
            </a:xfrm>
            <a:custGeom>
              <a:avLst/>
              <a:gdLst/>
              <a:ahLst/>
              <a:cxnLst/>
              <a:rect l="l" t="t" r="r" b="b"/>
              <a:pathLst>
                <a:path w="4133088" h="1371600">
                  <a:moveTo>
                    <a:pt x="0" y="0"/>
                  </a:moveTo>
                  <a:lnTo>
                    <a:pt x="4133088" y="0"/>
                  </a:lnTo>
                  <a:lnTo>
                    <a:pt x="413308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714" b="-8714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4133088" cy="1371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AzureApi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requests + topaz-sdk</a:t>
              </a:r>
            </a:p>
          </p:txBody>
        </p:sp>
      </p:grpSp>
      <p:sp>
        <p:nvSpPr>
          <p:cNvPr id="42" name="AutoShape 42"/>
          <p:cNvSpPr/>
          <p:nvPr/>
        </p:nvSpPr>
        <p:spPr>
          <a:xfrm>
            <a:off x="14347841" y="5060632"/>
            <a:ext cx="920563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3" name="Group 43"/>
          <p:cNvGrpSpPr/>
          <p:nvPr/>
        </p:nvGrpSpPr>
        <p:grpSpPr>
          <a:xfrm>
            <a:off x="15706554" y="4413885"/>
            <a:ext cx="2145030" cy="1322070"/>
            <a:chOff x="0" y="0"/>
            <a:chExt cx="2860040" cy="176276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860040" cy="1762760"/>
            </a:xfrm>
            <a:custGeom>
              <a:avLst/>
              <a:gdLst/>
              <a:ahLst/>
              <a:cxnLst/>
              <a:rect l="l" t="t" r="r" b="b"/>
              <a:pathLst>
                <a:path w="2860040" h="1762760">
                  <a:moveTo>
                    <a:pt x="0" y="92837"/>
                  </a:moveTo>
                  <a:cubicBezTo>
                    <a:pt x="0" y="41529"/>
                    <a:pt x="41529" y="0"/>
                    <a:pt x="92837" y="0"/>
                  </a:cubicBezTo>
                  <a:lnTo>
                    <a:pt x="2767203" y="0"/>
                  </a:lnTo>
                  <a:cubicBezTo>
                    <a:pt x="2818384" y="0"/>
                    <a:pt x="2860040" y="41529"/>
                    <a:pt x="2860040" y="92837"/>
                  </a:cubicBezTo>
                  <a:lnTo>
                    <a:pt x="2860040" y="1669923"/>
                  </a:lnTo>
                  <a:cubicBezTo>
                    <a:pt x="2860040" y="1721104"/>
                    <a:pt x="2818511" y="1762760"/>
                    <a:pt x="2767203" y="1762760"/>
                  </a:cubicBezTo>
                  <a:lnTo>
                    <a:pt x="92837" y="1762760"/>
                  </a:lnTo>
                  <a:cubicBezTo>
                    <a:pt x="41656" y="1762760"/>
                    <a:pt x="0" y="1721231"/>
                    <a:pt x="0" y="1669923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5880671" y="4560570"/>
            <a:ext cx="1796796" cy="1028700"/>
            <a:chOff x="0" y="0"/>
            <a:chExt cx="2395728" cy="13716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395728" cy="1371600"/>
            </a:xfrm>
            <a:custGeom>
              <a:avLst/>
              <a:gdLst/>
              <a:ahLst/>
              <a:cxnLst/>
              <a:rect l="l" t="t" r="r" b="b"/>
              <a:pathLst>
                <a:path w="2395728" h="1371600">
                  <a:moveTo>
                    <a:pt x="0" y="0"/>
                  </a:moveTo>
                  <a:lnTo>
                    <a:pt x="2395728" y="0"/>
                  </a:lnTo>
                  <a:lnTo>
                    <a:pt x="2395728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456" r="-23456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2395728" cy="1371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0"/>
                </a:lnSpc>
              </a:pPr>
              <a:r>
                <a:rPr lang="en-US" sz="232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Discovery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19171" y="7147560"/>
            <a:ext cx="15087600" cy="962759"/>
            <a:chOff x="0" y="0"/>
            <a:chExt cx="20116800" cy="128367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0116800" cy="1283679"/>
            </a:xfrm>
            <a:custGeom>
              <a:avLst/>
              <a:gdLst/>
              <a:ahLst/>
              <a:cxnLst/>
              <a:rect l="l" t="t" r="r" b="b"/>
              <a:pathLst>
                <a:path w="20116800" h="1283679">
                  <a:moveTo>
                    <a:pt x="0" y="0"/>
                  </a:moveTo>
                  <a:lnTo>
                    <a:pt x="20116800" y="0"/>
                  </a:lnTo>
                  <a:lnTo>
                    <a:pt x="20116800" y="1283679"/>
                  </a:lnTo>
                  <a:lnTo>
                    <a:pt x="0" y="12836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3299" b="-237408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20116800" cy="12836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49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Topaz fournit une API locale avec une subscription fictive. L’accès Windows utilise topaz.local.dev mappé vers 127.0.0.1.</a:t>
              </a:r>
            </a:p>
          </p:txBody>
        </p:sp>
      </p:grpSp>
      <p:sp>
        <p:nvSpPr>
          <p:cNvPr id="51" name="AutoShape 51"/>
          <p:cNvSpPr/>
          <p:nvPr/>
        </p:nvSpPr>
        <p:spPr>
          <a:xfrm flipV="1">
            <a:off x="9266787" y="5070157"/>
            <a:ext cx="1176318" cy="9525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Azure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Composition du laboratoire Azure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17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59192" y="2119312"/>
            <a:ext cx="2413635" cy="946023"/>
            <a:chOff x="0" y="0"/>
            <a:chExt cx="3218180" cy="12613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18180" cy="1261364"/>
            </a:xfrm>
            <a:custGeom>
              <a:avLst/>
              <a:gdLst/>
              <a:ahLst/>
              <a:cxnLst/>
              <a:rect l="l" t="t" r="r" b="b"/>
              <a:pathLst>
                <a:path w="3218180" h="1261364">
                  <a:moveTo>
                    <a:pt x="0" y="0"/>
                  </a:moveTo>
                  <a:lnTo>
                    <a:pt x="3218180" y="0"/>
                  </a:lnTo>
                  <a:lnTo>
                    <a:pt x="3218180" y="1261364"/>
                  </a:lnTo>
                  <a:lnTo>
                    <a:pt x="0" y="1261364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234440" y="2249424"/>
            <a:ext cx="2263140" cy="795528"/>
            <a:chOff x="0" y="0"/>
            <a:chExt cx="3017520" cy="106070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17520" cy="1060704"/>
            </a:xfrm>
            <a:custGeom>
              <a:avLst/>
              <a:gdLst/>
              <a:ahLst/>
              <a:cxnLst/>
              <a:rect l="l" t="t" r="r" b="b"/>
              <a:pathLst>
                <a:path w="3017520" h="1060704">
                  <a:moveTo>
                    <a:pt x="0" y="0"/>
                  </a:moveTo>
                  <a:lnTo>
                    <a:pt x="3017520" y="0"/>
                  </a:lnTo>
                  <a:lnTo>
                    <a:pt x="30175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31" b="-543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3017520" cy="1060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Domaine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559492" y="2119312"/>
            <a:ext cx="7282815" cy="946023"/>
            <a:chOff x="0" y="0"/>
            <a:chExt cx="9710420" cy="12613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710420" cy="1261364"/>
            </a:xfrm>
            <a:custGeom>
              <a:avLst/>
              <a:gdLst/>
              <a:ahLst/>
              <a:cxnLst/>
              <a:rect l="l" t="t" r="r" b="b"/>
              <a:pathLst>
                <a:path w="9710420" h="1261364">
                  <a:moveTo>
                    <a:pt x="0" y="0"/>
                  </a:moveTo>
                  <a:lnTo>
                    <a:pt x="9710420" y="0"/>
                  </a:lnTo>
                  <a:lnTo>
                    <a:pt x="9710420" y="1261364"/>
                  </a:lnTo>
                  <a:lnTo>
                    <a:pt x="0" y="1261364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3634740" y="2249424"/>
            <a:ext cx="7132320" cy="795528"/>
            <a:chOff x="0" y="0"/>
            <a:chExt cx="9509760" cy="10607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509760" cy="1060704"/>
            </a:xfrm>
            <a:custGeom>
              <a:avLst/>
              <a:gdLst/>
              <a:ahLst/>
              <a:cxnLst/>
              <a:rect l="l" t="t" r="r" b="b"/>
              <a:pathLst>
                <a:path w="9509760" h="1060704">
                  <a:moveTo>
                    <a:pt x="0" y="0"/>
                  </a:moveTo>
                  <a:lnTo>
                    <a:pt x="9509760" y="0"/>
                  </a:lnTo>
                  <a:lnTo>
                    <a:pt x="95097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93" b="-124693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9509760" cy="1060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Cas vulnérables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828972" y="2119312"/>
            <a:ext cx="6391275" cy="946023"/>
            <a:chOff x="0" y="0"/>
            <a:chExt cx="8521700" cy="126136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521700" cy="1261364"/>
            </a:xfrm>
            <a:custGeom>
              <a:avLst/>
              <a:gdLst/>
              <a:ahLst/>
              <a:cxnLst/>
              <a:rect l="l" t="t" r="r" b="b"/>
              <a:pathLst>
                <a:path w="8521700" h="1261364">
                  <a:moveTo>
                    <a:pt x="0" y="0"/>
                  </a:moveTo>
                  <a:lnTo>
                    <a:pt x="8521700" y="0"/>
                  </a:lnTo>
                  <a:lnTo>
                    <a:pt x="8521700" y="1261364"/>
                  </a:lnTo>
                  <a:lnTo>
                    <a:pt x="0" y="1261364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0904220" y="2249424"/>
            <a:ext cx="6240780" cy="795528"/>
            <a:chOff x="0" y="0"/>
            <a:chExt cx="8321040" cy="106070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321040" cy="1060704"/>
            </a:xfrm>
            <a:custGeom>
              <a:avLst/>
              <a:gdLst/>
              <a:ahLst/>
              <a:cxnLst/>
              <a:rect l="l" t="t" r="r" b="b"/>
              <a:pathLst>
                <a:path w="8321040" h="1060704">
                  <a:moveTo>
                    <a:pt x="0" y="0"/>
                  </a:moveTo>
                  <a:lnTo>
                    <a:pt x="8321040" y="0"/>
                  </a:lnTo>
                  <a:lnTo>
                    <a:pt x="832104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856" b="-102856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8321040" cy="1060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Cas de contrôle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61098" y="3053906"/>
            <a:ext cx="2409825" cy="942213"/>
            <a:chOff x="0" y="0"/>
            <a:chExt cx="3213100" cy="125628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213100" cy="1256284"/>
            </a:xfrm>
            <a:custGeom>
              <a:avLst/>
              <a:gdLst/>
              <a:ahLst/>
              <a:cxnLst/>
              <a:rect l="l" t="t" r="r" b="b"/>
              <a:pathLst>
                <a:path w="3213100" h="1256284">
                  <a:moveTo>
                    <a:pt x="0" y="0"/>
                  </a:moveTo>
                  <a:lnTo>
                    <a:pt x="3213100" y="0"/>
                  </a:lnTo>
                  <a:lnTo>
                    <a:pt x="3213100" y="1256284"/>
                  </a:lnTo>
                  <a:lnTo>
                    <a:pt x="0" y="1256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234440" y="3168396"/>
            <a:ext cx="2263140" cy="795528"/>
            <a:chOff x="0" y="0"/>
            <a:chExt cx="3017520" cy="106070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017520" cy="1060704"/>
            </a:xfrm>
            <a:custGeom>
              <a:avLst/>
              <a:gdLst/>
              <a:ahLst/>
              <a:cxnLst/>
              <a:rect l="l" t="t" r="r" b="b"/>
              <a:pathLst>
                <a:path w="3017520" h="1060704">
                  <a:moveTo>
                    <a:pt x="0" y="0"/>
                  </a:moveTo>
                  <a:lnTo>
                    <a:pt x="3017520" y="0"/>
                  </a:lnTo>
                  <a:lnTo>
                    <a:pt x="30175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31" b="-543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3017520" cy="1060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RBAC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561397" y="3053906"/>
            <a:ext cx="7279005" cy="942213"/>
            <a:chOff x="0" y="0"/>
            <a:chExt cx="9705340" cy="125628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705340" cy="1256284"/>
            </a:xfrm>
            <a:custGeom>
              <a:avLst/>
              <a:gdLst/>
              <a:ahLst/>
              <a:cxnLst/>
              <a:rect l="l" t="t" r="r" b="b"/>
              <a:pathLst>
                <a:path w="9705340" h="1256284">
                  <a:moveTo>
                    <a:pt x="0" y="0"/>
                  </a:moveTo>
                  <a:lnTo>
                    <a:pt x="9705340" y="0"/>
                  </a:lnTo>
                  <a:lnTo>
                    <a:pt x="9705340" y="1256284"/>
                  </a:lnTo>
                  <a:lnTo>
                    <a:pt x="0" y="1256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3634740" y="3168396"/>
            <a:ext cx="7132320" cy="795528"/>
            <a:chOff x="0" y="0"/>
            <a:chExt cx="9509760" cy="106070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09760" cy="1060704"/>
            </a:xfrm>
            <a:custGeom>
              <a:avLst/>
              <a:gdLst/>
              <a:ahLst/>
              <a:cxnLst/>
              <a:rect l="l" t="t" r="r" b="b"/>
              <a:pathLst>
                <a:path w="9509760" h="1060704">
                  <a:moveTo>
                    <a:pt x="0" y="0"/>
                  </a:moveTo>
                  <a:lnTo>
                    <a:pt x="9509760" y="0"/>
                  </a:lnTo>
                  <a:lnTo>
                    <a:pt x="95097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93" b="-12469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9509760" cy="1060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Owner et Contributor au scope subscription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830878" y="3053906"/>
            <a:ext cx="6387465" cy="942213"/>
            <a:chOff x="0" y="0"/>
            <a:chExt cx="8516620" cy="125628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516620" cy="1256284"/>
            </a:xfrm>
            <a:custGeom>
              <a:avLst/>
              <a:gdLst/>
              <a:ahLst/>
              <a:cxnLst/>
              <a:rect l="l" t="t" r="r" b="b"/>
              <a:pathLst>
                <a:path w="8516620" h="1256284">
                  <a:moveTo>
                    <a:pt x="0" y="0"/>
                  </a:moveTo>
                  <a:lnTo>
                    <a:pt x="8516620" y="0"/>
                  </a:lnTo>
                  <a:lnTo>
                    <a:pt x="8516620" y="1256284"/>
                  </a:lnTo>
                  <a:lnTo>
                    <a:pt x="0" y="1256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0904220" y="3168396"/>
            <a:ext cx="6240780" cy="795528"/>
            <a:chOff x="0" y="0"/>
            <a:chExt cx="8321040" cy="106070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321040" cy="1060704"/>
            </a:xfrm>
            <a:custGeom>
              <a:avLst/>
              <a:gdLst/>
              <a:ahLst/>
              <a:cxnLst/>
              <a:rect l="l" t="t" r="r" b="b"/>
              <a:pathLst>
                <a:path w="8321040" h="1060704">
                  <a:moveTo>
                    <a:pt x="0" y="0"/>
                  </a:moveTo>
                  <a:lnTo>
                    <a:pt x="8321040" y="0"/>
                  </a:lnTo>
                  <a:lnTo>
                    <a:pt x="832104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856" b="-102856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8321040" cy="1060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Reader au scope Resource Group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61098" y="3986594"/>
            <a:ext cx="2409825" cy="942213"/>
            <a:chOff x="0" y="0"/>
            <a:chExt cx="3213100" cy="12562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213100" cy="1256284"/>
            </a:xfrm>
            <a:custGeom>
              <a:avLst/>
              <a:gdLst/>
              <a:ahLst/>
              <a:cxnLst/>
              <a:rect l="l" t="t" r="r" b="b"/>
              <a:pathLst>
                <a:path w="3213100" h="1256284">
                  <a:moveTo>
                    <a:pt x="0" y="0"/>
                  </a:moveTo>
                  <a:lnTo>
                    <a:pt x="3213100" y="0"/>
                  </a:lnTo>
                  <a:lnTo>
                    <a:pt x="3213100" y="1256284"/>
                  </a:lnTo>
                  <a:lnTo>
                    <a:pt x="0" y="1256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234440" y="4101084"/>
            <a:ext cx="2263140" cy="795528"/>
            <a:chOff x="0" y="0"/>
            <a:chExt cx="3017520" cy="106070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017520" cy="1060704"/>
            </a:xfrm>
            <a:custGeom>
              <a:avLst/>
              <a:gdLst/>
              <a:ahLst/>
              <a:cxnLst/>
              <a:rect l="l" t="t" r="r" b="b"/>
              <a:pathLst>
                <a:path w="3017520" h="1060704">
                  <a:moveTo>
                    <a:pt x="0" y="0"/>
                  </a:moveTo>
                  <a:lnTo>
                    <a:pt x="3017520" y="0"/>
                  </a:lnTo>
                  <a:lnTo>
                    <a:pt x="30175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31" b="-5431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3017520" cy="1060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Storage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561397" y="3986594"/>
            <a:ext cx="7279005" cy="942213"/>
            <a:chOff x="0" y="0"/>
            <a:chExt cx="9705340" cy="125628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705340" cy="1256284"/>
            </a:xfrm>
            <a:custGeom>
              <a:avLst/>
              <a:gdLst/>
              <a:ahLst/>
              <a:cxnLst/>
              <a:rect l="l" t="t" r="r" b="b"/>
              <a:pathLst>
                <a:path w="9705340" h="1256284">
                  <a:moveTo>
                    <a:pt x="0" y="0"/>
                  </a:moveTo>
                  <a:lnTo>
                    <a:pt x="9705340" y="0"/>
                  </a:lnTo>
                  <a:lnTo>
                    <a:pt x="9705340" y="1256284"/>
                  </a:lnTo>
                  <a:lnTo>
                    <a:pt x="0" y="1256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3634740" y="4101084"/>
            <a:ext cx="7132320" cy="795528"/>
            <a:chOff x="0" y="0"/>
            <a:chExt cx="9509760" cy="106070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509760" cy="1060704"/>
            </a:xfrm>
            <a:custGeom>
              <a:avLst/>
              <a:gdLst/>
              <a:ahLst/>
              <a:cxnLst/>
              <a:rect l="l" t="t" r="r" b="b"/>
              <a:pathLst>
                <a:path w="9509760" h="1060704">
                  <a:moveTo>
                    <a:pt x="0" y="0"/>
                  </a:moveTo>
                  <a:lnTo>
                    <a:pt x="9509760" y="0"/>
                  </a:lnTo>
                  <a:lnTo>
                    <a:pt x="95097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93" b="-124693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9509760" cy="1060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Compte public + container public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830878" y="3986594"/>
            <a:ext cx="6387465" cy="942213"/>
            <a:chOff x="0" y="0"/>
            <a:chExt cx="8516620" cy="125628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516620" cy="1256284"/>
            </a:xfrm>
            <a:custGeom>
              <a:avLst/>
              <a:gdLst/>
              <a:ahLst/>
              <a:cxnLst/>
              <a:rect l="l" t="t" r="r" b="b"/>
              <a:pathLst>
                <a:path w="8516620" h="1256284">
                  <a:moveTo>
                    <a:pt x="0" y="0"/>
                  </a:moveTo>
                  <a:lnTo>
                    <a:pt x="8516620" y="0"/>
                  </a:lnTo>
                  <a:lnTo>
                    <a:pt x="8516620" y="1256284"/>
                  </a:lnTo>
                  <a:lnTo>
                    <a:pt x="0" y="1256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10904220" y="4101084"/>
            <a:ext cx="6240780" cy="795528"/>
            <a:chOff x="0" y="0"/>
            <a:chExt cx="8321040" cy="106070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321040" cy="1060704"/>
            </a:xfrm>
            <a:custGeom>
              <a:avLst/>
              <a:gdLst/>
              <a:ahLst/>
              <a:cxnLst/>
              <a:rect l="l" t="t" r="r" b="b"/>
              <a:pathLst>
                <a:path w="8321040" h="1060704">
                  <a:moveTo>
                    <a:pt x="0" y="0"/>
                  </a:moveTo>
                  <a:lnTo>
                    <a:pt x="8321040" y="0"/>
                  </a:lnTo>
                  <a:lnTo>
                    <a:pt x="832104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856" b="-102856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8321040" cy="1060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Compte et container privés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61098" y="4919282"/>
            <a:ext cx="2409825" cy="942213"/>
            <a:chOff x="0" y="0"/>
            <a:chExt cx="3213100" cy="125628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213100" cy="1256284"/>
            </a:xfrm>
            <a:custGeom>
              <a:avLst/>
              <a:gdLst/>
              <a:ahLst/>
              <a:cxnLst/>
              <a:rect l="l" t="t" r="r" b="b"/>
              <a:pathLst>
                <a:path w="3213100" h="1256284">
                  <a:moveTo>
                    <a:pt x="0" y="0"/>
                  </a:moveTo>
                  <a:lnTo>
                    <a:pt x="3213100" y="0"/>
                  </a:lnTo>
                  <a:lnTo>
                    <a:pt x="3213100" y="1256284"/>
                  </a:lnTo>
                  <a:lnTo>
                    <a:pt x="0" y="1256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1234440" y="5033772"/>
            <a:ext cx="2263140" cy="795528"/>
            <a:chOff x="0" y="0"/>
            <a:chExt cx="3017520" cy="106070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017520" cy="1060704"/>
            </a:xfrm>
            <a:custGeom>
              <a:avLst/>
              <a:gdLst/>
              <a:ahLst/>
              <a:cxnLst/>
              <a:rect l="l" t="t" r="r" b="b"/>
              <a:pathLst>
                <a:path w="3017520" h="1060704">
                  <a:moveTo>
                    <a:pt x="0" y="0"/>
                  </a:moveTo>
                  <a:lnTo>
                    <a:pt x="3017520" y="0"/>
                  </a:lnTo>
                  <a:lnTo>
                    <a:pt x="30175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31" b="-543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3017520" cy="1060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Network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3561397" y="4919282"/>
            <a:ext cx="7279005" cy="942213"/>
            <a:chOff x="0" y="0"/>
            <a:chExt cx="9705340" cy="125628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705340" cy="1256284"/>
            </a:xfrm>
            <a:custGeom>
              <a:avLst/>
              <a:gdLst/>
              <a:ahLst/>
              <a:cxnLst/>
              <a:rect l="l" t="t" r="r" b="b"/>
              <a:pathLst>
                <a:path w="9705340" h="1256284">
                  <a:moveTo>
                    <a:pt x="0" y="0"/>
                  </a:moveTo>
                  <a:lnTo>
                    <a:pt x="9705340" y="0"/>
                  </a:lnTo>
                  <a:lnTo>
                    <a:pt x="9705340" y="1256284"/>
                  </a:lnTo>
                  <a:lnTo>
                    <a:pt x="0" y="1256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3634740" y="5033772"/>
            <a:ext cx="7132320" cy="795528"/>
            <a:chOff x="0" y="0"/>
            <a:chExt cx="9509760" cy="106070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9509760" cy="1060704"/>
            </a:xfrm>
            <a:custGeom>
              <a:avLst/>
              <a:gdLst/>
              <a:ahLst/>
              <a:cxnLst/>
              <a:rect l="l" t="t" r="r" b="b"/>
              <a:pathLst>
                <a:path w="9509760" h="1060704">
                  <a:moveTo>
                    <a:pt x="0" y="0"/>
                  </a:moveTo>
                  <a:lnTo>
                    <a:pt x="9509760" y="0"/>
                  </a:lnTo>
                  <a:lnTo>
                    <a:pt x="95097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93" b="-124693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9509760" cy="1060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SSH/RDP depuis Internet + NIC publique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830878" y="4919282"/>
            <a:ext cx="6387465" cy="942213"/>
            <a:chOff x="0" y="0"/>
            <a:chExt cx="8516620" cy="125628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516620" cy="1256284"/>
            </a:xfrm>
            <a:custGeom>
              <a:avLst/>
              <a:gdLst/>
              <a:ahLst/>
              <a:cxnLst/>
              <a:rect l="l" t="t" r="r" b="b"/>
              <a:pathLst>
                <a:path w="8516620" h="1256284">
                  <a:moveTo>
                    <a:pt x="0" y="0"/>
                  </a:moveTo>
                  <a:lnTo>
                    <a:pt x="8516620" y="0"/>
                  </a:lnTo>
                  <a:lnTo>
                    <a:pt x="8516620" y="1256284"/>
                  </a:lnTo>
                  <a:lnTo>
                    <a:pt x="0" y="1256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10904220" y="5033772"/>
            <a:ext cx="6240780" cy="795528"/>
            <a:chOff x="0" y="0"/>
            <a:chExt cx="8321040" cy="106070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321040" cy="1060704"/>
            </a:xfrm>
            <a:custGeom>
              <a:avLst/>
              <a:gdLst/>
              <a:ahLst/>
              <a:cxnLst/>
              <a:rect l="l" t="t" r="r" b="b"/>
              <a:pathLst>
                <a:path w="8321040" h="1060704">
                  <a:moveTo>
                    <a:pt x="0" y="0"/>
                  </a:moveTo>
                  <a:lnTo>
                    <a:pt x="8321040" y="0"/>
                  </a:lnTo>
                  <a:lnTo>
                    <a:pt x="832104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856" b="-102856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8321040" cy="1060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NSG interne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161098" y="5851970"/>
            <a:ext cx="2409825" cy="942213"/>
            <a:chOff x="0" y="0"/>
            <a:chExt cx="3213100" cy="1256284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213100" cy="1256284"/>
            </a:xfrm>
            <a:custGeom>
              <a:avLst/>
              <a:gdLst/>
              <a:ahLst/>
              <a:cxnLst/>
              <a:rect l="l" t="t" r="r" b="b"/>
              <a:pathLst>
                <a:path w="3213100" h="1256284">
                  <a:moveTo>
                    <a:pt x="0" y="0"/>
                  </a:moveTo>
                  <a:lnTo>
                    <a:pt x="3213100" y="0"/>
                  </a:lnTo>
                  <a:lnTo>
                    <a:pt x="3213100" y="1256284"/>
                  </a:lnTo>
                  <a:lnTo>
                    <a:pt x="0" y="1256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1234440" y="5966460"/>
            <a:ext cx="2263140" cy="795528"/>
            <a:chOff x="0" y="0"/>
            <a:chExt cx="3017520" cy="106070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017520" cy="1060704"/>
            </a:xfrm>
            <a:custGeom>
              <a:avLst/>
              <a:gdLst/>
              <a:ahLst/>
              <a:cxnLst/>
              <a:rect l="l" t="t" r="r" b="b"/>
              <a:pathLst>
                <a:path w="3017520" h="1060704">
                  <a:moveTo>
                    <a:pt x="0" y="0"/>
                  </a:moveTo>
                  <a:lnTo>
                    <a:pt x="3017520" y="0"/>
                  </a:lnTo>
                  <a:lnTo>
                    <a:pt x="301752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31" b="-5431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3017520" cy="1060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Assets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3561397" y="5851970"/>
            <a:ext cx="7279005" cy="942213"/>
            <a:chOff x="0" y="0"/>
            <a:chExt cx="9705340" cy="1256284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9705340" cy="1256284"/>
            </a:xfrm>
            <a:custGeom>
              <a:avLst/>
              <a:gdLst/>
              <a:ahLst/>
              <a:cxnLst/>
              <a:rect l="l" t="t" r="r" b="b"/>
              <a:pathLst>
                <a:path w="9705340" h="1256284">
                  <a:moveTo>
                    <a:pt x="0" y="0"/>
                  </a:moveTo>
                  <a:lnTo>
                    <a:pt x="9705340" y="0"/>
                  </a:lnTo>
                  <a:lnTo>
                    <a:pt x="9705340" y="1256284"/>
                  </a:lnTo>
                  <a:lnTo>
                    <a:pt x="0" y="1256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3634740" y="5966460"/>
            <a:ext cx="7132320" cy="795528"/>
            <a:chOff x="0" y="0"/>
            <a:chExt cx="9509760" cy="106070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9509760" cy="1060704"/>
            </a:xfrm>
            <a:custGeom>
              <a:avLst/>
              <a:gdLst/>
              <a:ahLst/>
              <a:cxnLst/>
              <a:rect l="l" t="t" r="r" b="b"/>
              <a:pathLst>
                <a:path w="9509760" h="1060704">
                  <a:moveTo>
                    <a:pt x="0" y="0"/>
                  </a:moveTo>
                  <a:lnTo>
                    <a:pt x="9509760" y="0"/>
                  </a:lnTo>
                  <a:lnTo>
                    <a:pt x="95097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693" b="-124693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0"/>
              <a:ext cx="9509760" cy="1060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Disque, NIC et Public IP non attachés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0830878" y="5851970"/>
            <a:ext cx="6387465" cy="942213"/>
            <a:chOff x="0" y="0"/>
            <a:chExt cx="8516620" cy="1256284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516620" cy="1256284"/>
            </a:xfrm>
            <a:custGeom>
              <a:avLst/>
              <a:gdLst/>
              <a:ahLst/>
              <a:cxnLst/>
              <a:rect l="l" t="t" r="r" b="b"/>
              <a:pathLst>
                <a:path w="8516620" h="1256284">
                  <a:moveTo>
                    <a:pt x="0" y="0"/>
                  </a:moveTo>
                  <a:lnTo>
                    <a:pt x="8516620" y="0"/>
                  </a:lnTo>
                  <a:lnTo>
                    <a:pt x="8516620" y="1256284"/>
                  </a:lnTo>
                  <a:lnTo>
                    <a:pt x="0" y="125628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10904220" y="5966460"/>
            <a:ext cx="6240780" cy="795528"/>
            <a:chOff x="0" y="0"/>
            <a:chExt cx="8321040" cy="1060704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321040" cy="1060704"/>
            </a:xfrm>
            <a:custGeom>
              <a:avLst/>
              <a:gdLst/>
              <a:ahLst/>
              <a:cxnLst/>
              <a:rect l="l" t="t" r="r" b="b"/>
              <a:pathLst>
                <a:path w="8321040" h="1060704">
                  <a:moveTo>
                    <a:pt x="0" y="0"/>
                  </a:moveTo>
                  <a:lnTo>
                    <a:pt x="8321040" y="0"/>
                  </a:lnTo>
                  <a:lnTo>
                    <a:pt x="832104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856" b="-102856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0"/>
              <a:ext cx="8321040" cy="1060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Ressources utilisées par la VM</a:t>
              </a:r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1920497" y="7818377"/>
            <a:ext cx="14401295" cy="75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rPr>
              <a:t>lab-manifest.json documente les ressources créées et les cas attendus pour la validation.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Azure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Azure : structure et découverte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18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56335" y="2733675"/>
            <a:ext cx="2145030" cy="979170"/>
            <a:chOff x="0" y="0"/>
            <a:chExt cx="2860040" cy="13055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860040" cy="1305560"/>
            </a:xfrm>
            <a:custGeom>
              <a:avLst/>
              <a:gdLst/>
              <a:ahLst/>
              <a:cxnLst/>
              <a:rect l="l" t="t" r="r" b="b"/>
              <a:pathLst>
                <a:path w="2860040" h="1305560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2766822" y="0"/>
                  </a:lnTo>
                  <a:cubicBezTo>
                    <a:pt x="2818384" y="0"/>
                    <a:pt x="2860040" y="41783"/>
                    <a:pt x="2860040" y="93218"/>
                  </a:cubicBezTo>
                  <a:lnTo>
                    <a:pt x="2860040" y="1212342"/>
                  </a:lnTo>
                  <a:cubicBezTo>
                    <a:pt x="2860040" y="1263904"/>
                    <a:pt x="2818257" y="1305560"/>
                    <a:pt x="2766822" y="1305560"/>
                  </a:cubicBezTo>
                  <a:lnTo>
                    <a:pt x="93218" y="1305560"/>
                  </a:lnTo>
                  <a:cubicBezTo>
                    <a:pt x="41783" y="1305560"/>
                    <a:pt x="0" y="1263777"/>
                    <a:pt x="0" y="1212342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330452" y="2880360"/>
            <a:ext cx="1796796" cy="685800"/>
            <a:chOff x="0" y="0"/>
            <a:chExt cx="2395728" cy="914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95728" cy="914400"/>
            </a:xfrm>
            <a:custGeom>
              <a:avLst/>
              <a:gdLst/>
              <a:ahLst/>
              <a:cxnLst/>
              <a:rect l="l" t="t" r="r" b="b"/>
              <a:pathLst>
                <a:path w="2395728" h="914400">
                  <a:moveTo>
                    <a:pt x="0" y="0"/>
                  </a:moveTo>
                  <a:lnTo>
                    <a:pt x="2395728" y="0"/>
                  </a:lnTo>
                  <a:lnTo>
                    <a:pt x="239572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0" b="-105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2395728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Identity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rot="137460">
            <a:off x="3483007" y="3213735"/>
            <a:ext cx="714946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1" name="Group 21"/>
          <p:cNvGrpSpPr/>
          <p:nvPr/>
        </p:nvGrpSpPr>
        <p:grpSpPr>
          <a:xfrm>
            <a:off x="4352163" y="2733675"/>
            <a:ext cx="2145030" cy="979170"/>
            <a:chOff x="0" y="0"/>
            <a:chExt cx="2860040" cy="13055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860040" cy="1305560"/>
            </a:xfrm>
            <a:custGeom>
              <a:avLst/>
              <a:gdLst/>
              <a:ahLst/>
              <a:cxnLst/>
              <a:rect l="l" t="t" r="r" b="b"/>
              <a:pathLst>
                <a:path w="2860040" h="1305560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2766822" y="0"/>
                  </a:lnTo>
                  <a:cubicBezTo>
                    <a:pt x="2818384" y="0"/>
                    <a:pt x="2860040" y="41783"/>
                    <a:pt x="2860040" y="93218"/>
                  </a:cubicBezTo>
                  <a:lnTo>
                    <a:pt x="2860040" y="1212342"/>
                  </a:lnTo>
                  <a:cubicBezTo>
                    <a:pt x="2860040" y="1263904"/>
                    <a:pt x="2818257" y="1305560"/>
                    <a:pt x="2766822" y="1305560"/>
                  </a:cubicBezTo>
                  <a:lnTo>
                    <a:pt x="93218" y="1305560"/>
                  </a:lnTo>
                  <a:cubicBezTo>
                    <a:pt x="41783" y="1305560"/>
                    <a:pt x="0" y="1263777"/>
                    <a:pt x="0" y="1212342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526280" y="2880360"/>
            <a:ext cx="1796796" cy="685800"/>
            <a:chOff x="0" y="0"/>
            <a:chExt cx="2395728" cy="914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95728" cy="914400"/>
            </a:xfrm>
            <a:custGeom>
              <a:avLst/>
              <a:gdLst/>
              <a:ahLst/>
              <a:cxnLst/>
              <a:rect l="l" t="t" r="r" b="b"/>
              <a:pathLst>
                <a:path w="2395728" h="914400">
                  <a:moveTo>
                    <a:pt x="0" y="0"/>
                  </a:moveTo>
                  <a:lnTo>
                    <a:pt x="2395728" y="0"/>
                  </a:lnTo>
                  <a:lnTo>
                    <a:pt x="239572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0" b="-105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2395728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Resources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 rot="137460">
            <a:off x="6678835" y="3213735"/>
            <a:ext cx="714946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7" name="Group 27"/>
          <p:cNvGrpSpPr/>
          <p:nvPr/>
        </p:nvGrpSpPr>
        <p:grpSpPr>
          <a:xfrm>
            <a:off x="7534275" y="2733675"/>
            <a:ext cx="2145030" cy="979170"/>
            <a:chOff x="0" y="0"/>
            <a:chExt cx="2860040" cy="13055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860040" cy="1305560"/>
            </a:xfrm>
            <a:custGeom>
              <a:avLst/>
              <a:gdLst/>
              <a:ahLst/>
              <a:cxnLst/>
              <a:rect l="l" t="t" r="r" b="b"/>
              <a:pathLst>
                <a:path w="2860040" h="1305560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2766822" y="0"/>
                  </a:lnTo>
                  <a:cubicBezTo>
                    <a:pt x="2818384" y="0"/>
                    <a:pt x="2860040" y="41783"/>
                    <a:pt x="2860040" y="93218"/>
                  </a:cubicBezTo>
                  <a:lnTo>
                    <a:pt x="2860040" y="1212342"/>
                  </a:lnTo>
                  <a:cubicBezTo>
                    <a:pt x="2860040" y="1263904"/>
                    <a:pt x="2818257" y="1305560"/>
                    <a:pt x="2766822" y="1305560"/>
                  </a:cubicBezTo>
                  <a:lnTo>
                    <a:pt x="93218" y="1305560"/>
                  </a:lnTo>
                  <a:cubicBezTo>
                    <a:pt x="41783" y="1305560"/>
                    <a:pt x="0" y="1263777"/>
                    <a:pt x="0" y="1212342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7708392" y="2880360"/>
            <a:ext cx="1796796" cy="685800"/>
            <a:chOff x="0" y="0"/>
            <a:chExt cx="2395728" cy="914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395728" cy="914400"/>
            </a:xfrm>
            <a:custGeom>
              <a:avLst/>
              <a:gdLst/>
              <a:ahLst/>
              <a:cxnLst/>
              <a:rect l="l" t="t" r="r" b="b"/>
              <a:pathLst>
                <a:path w="2395728" h="914400">
                  <a:moveTo>
                    <a:pt x="0" y="0"/>
                  </a:moveTo>
                  <a:lnTo>
                    <a:pt x="2395728" y="0"/>
                  </a:lnTo>
                  <a:lnTo>
                    <a:pt x="239572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0" b="-1050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2395728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RBAC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 rot="137460">
            <a:off x="9860947" y="3213735"/>
            <a:ext cx="714946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3" name="Group 33"/>
          <p:cNvGrpSpPr/>
          <p:nvPr/>
        </p:nvGrpSpPr>
        <p:grpSpPr>
          <a:xfrm>
            <a:off x="10716387" y="2733675"/>
            <a:ext cx="2145030" cy="979170"/>
            <a:chOff x="0" y="0"/>
            <a:chExt cx="2860040" cy="13055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860040" cy="1305560"/>
            </a:xfrm>
            <a:custGeom>
              <a:avLst/>
              <a:gdLst/>
              <a:ahLst/>
              <a:cxnLst/>
              <a:rect l="l" t="t" r="r" b="b"/>
              <a:pathLst>
                <a:path w="2860040" h="1305560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2766822" y="0"/>
                  </a:lnTo>
                  <a:cubicBezTo>
                    <a:pt x="2818384" y="0"/>
                    <a:pt x="2860040" y="41783"/>
                    <a:pt x="2860040" y="93218"/>
                  </a:cubicBezTo>
                  <a:lnTo>
                    <a:pt x="2860040" y="1212342"/>
                  </a:lnTo>
                  <a:cubicBezTo>
                    <a:pt x="2860040" y="1263904"/>
                    <a:pt x="2818257" y="1305560"/>
                    <a:pt x="2766822" y="1305560"/>
                  </a:cubicBezTo>
                  <a:lnTo>
                    <a:pt x="93218" y="1305560"/>
                  </a:lnTo>
                  <a:cubicBezTo>
                    <a:pt x="41783" y="1305560"/>
                    <a:pt x="0" y="1263777"/>
                    <a:pt x="0" y="1212342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0890504" y="2880360"/>
            <a:ext cx="1796796" cy="685800"/>
            <a:chOff x="0" y="0"/>
            <a:chExt cx="2395728" cy="91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395728" cy="914400"/>
            </a:xfrm>
            <a:custGeom>
              <a:avLst/>
              <a:gdLst/>
              <a:ahLst/>
              <a:cxnLst/>
              <a:rect l="l" t="t" r="r" b="b"/>
              <a:pathLst>
                <a:path w="2395728" h="914400">
                  <a:moveTo>
                    <a:pt x="0" y="0"/>
                  </a:moveTo>
                  <a:lnTo>
                    <a:pt x="2395728" y="0"/>
                  </a:lnTo>
                  <a:lnTo>
                    <a:pt x="239572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0" b="-105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2395728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Storage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 rot="137460">
            <a:off x="13043059" y="3213735"/>
            <a:ext cx="714946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9" name="Group 39"/>
          <p:cNvGrpSpPr/>
          <p:nvPr/>
        </p:nvGrpSpPr>
        <p:grpSpPr>
          <a:xfrm>
            <a:off x="13898499" y="2733675"/>
            <a:ext cx="2145030" cy="979170"/>
            <a:chOff x="0" y="0"/>
            <a:chExt cx="2860040" cy="130556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860040" cy="1305560"/>
            </a:xfrm>
            <a:custGeom>
              <a:avLst/>
              <a:gdLst/>
              <a:ahLst/>
              <a:cxnLst/>
              <a:rect l="l" t="t" r="r" b="b"/>
              <a:pathLst>
                <a:path w="2860040" h="1305560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2766822" y="0"/>
                  </a:lnTo>
                  <a:cubicBezTo>
                    <a:pt x="2818384" y="0"/>
                    <a:pt x="2860040" y="41783"/>
                    <a:pt x="2860040" y="93218"/>
                  </a:cubicBezTo>
                  <a:lnTo>
                    <a:pt x="2860040" y="1212342"/>
                  </a:lnTo>
                  <a:cubicBezTo>
                    <a:pt x="2860040" y="1263904"/>
                    <a:pt x="2818257" y="1305560"/>
                    <a:pt x="2766822" y="1305560"/>
                  </a:cubicBezTo>
                  <a:lnTo>
                    <a:pt x="93218" y="1305560"/>
                  </a:lnTo>
                  <a:cubicBezTo>
                    <a:pt x="41783" y="1305560"/>
                    <a:pt x="0" y="1263777"/>
                    <a:pt x="0" y="1212342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4072616" y="2880360"/>
            <a:ext cx="1796796" cy="685800"/>
            <a:chOff x="0" y="0"/>
            <a:chExt cx="2395728" cy="914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395728" cy="914400"/>
            </a:xfrm>
            <a:custGeom>
              <a:avLst/>
              <a:gdLst/>
              <a:ahLst/>
              <a:cxnLst/>
              <a:rect l="l" t="t" r="r" b="b"/>
              <a:pathLst>
                <a:path w="2395728" h="914400">
                  <a:moveTo>
                    <a:pt x="0" y="0"/>
                  </a:moveTo>
                  <a:lnTo>
                    <a:pt x="2395728" y="0"/>
                  </a:lnTo>
                  <a:lnTo>
                    <a:pt x="239572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0" b="-1050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2395728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Compute</a:t>
              </a:r>
            </a:p>
          </p:txBody>
        </p:sp>
      </p:grpSp>
      <p:sp>
        <p:nvSpPr>
          <p:cNvPr id="44" name="AutoShape 44"/>
          <p:cNvSpPr/>
          <p:nvPr/>
        </p:nvSpPr>
        <p:spPr>
          <a:xfrm rot="254580">
            <a:off x="16224923" y="3213735"/>
            <a:ext cx="386248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5" name="Group 45"/>
          <p:cNvGrpSpPr/>
          <p:nvPr/>
        </p:nvGrpSpPr>
        <p:grpSpPr>
          <a:xfrm>
            <a:off x="16696563" y="2733675"/>
            <a:ext cx="1390650" cy="979170"/>
            <a:chOff x="0" y="0"/>
            <a:chExt cx="1854200" cy="130556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854200" cy="1305560"/>
            </a:xfrm>
            <a:custGeom>
              <a:avLst/>
              <a:gdLst/>
              <a:ahLst/>
              <a:cxnLst/>
              <a:rect l="l" t="t" r="r" b="b"/>
              <a:pathLst>
                <a:path w="1854200" h="1305560">
                  <a:moveTo>
                    <a:pt x="0" y="93218"/>
                  </a:moveTo>
                  <a:cubicBezTo>
                    <a:pt x="0" y="41783"/>
                    <a:pt x="41783" y="0"/>
                    <a:pt x="93218" y="0"/>
                  </a:cubicBezTo>
                  <a:lnTo>
                    <a:pt x="1760982" y="0"/>
                  </a:lnTo>
                  <a:cubicBezTo>
                    <a:pt x="1812417" y="0"/>
                    <a:pt x="1854200" y="41783"/>
                    <a:pt x="1854200" y="93218"/>
                  </a:cubicBezTo>
                  <a:lnTo>
                    <a:pt x="1854200" y="1212342"/>
                  </a:lnTo>
                  <a:cubicBezTo>
                    <a:pt x="1854200" y="1263904"/>
                    <a:pt x="1812417" y="1305560"/>
                    <a:pt x="1760982" y="1305560"/>
                  </a:cubicBezTo>
                  <a:lnTo>
                    <a:pt x="93218" y="1305560"/>
                  </a:lnTo>
                  <a:cubicBezTo>
                    <a:pt x="41783" y="1305560"/>
                    <a:pt x="0" y="1263777"/>
                    <a:pt x="0" y="1212342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6870680" y="2880360"/>
            <a:ext cx="1216533" cy="685800"/>
            <a:chOff x="0" y="0"/>
            <a:chExt cx="1622044" cy="914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622044" cy="914400"/>
            </a:xfrm>
            <a:custGeom>
              <a:avLst/>
              <a:gdLst/>
              <a:ahLst/>
              <a:cxnLst/>
              <a:rect l="l" t="t" r="r" b="b"/>
              <a:pathLst>
                <a:path w="1622044" h="914400">
                  <a:moveTo>
                    <a:pt x="0" y="0"/>
                  </a:moveTo>
                  <a:lnTo>
                    <a:pt x="1622044" y="0"/>
                  </a:lnTo>
                  <a:lnTo>
                    <a:pt x="16220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485" r="-15172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1622044" cy="914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10"/>
                </a:lnSpc>
              </a:pPr>
              <a:r>
                <a:rPr lang="en-US" sz="217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Network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432981" y="5005579"/>
            <a:ext cx="15224760" cy="2061567"/>
            <a:chOff x="0" y="0"/>
            <a:chExt cx="20299680" cy="274875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0299680" cy="2748756"/>
            </a:xfrm>
            <a:custGeom>
              <a:avLst/>
              <a:gdLst/>
              <a:ahLst/>
              <a:cxnLst/>
              <a:rect l="l" t="t" r="r" b="b"/>
              <a:pathLst>
                <a:path w="20299680" h="2748756">
                  <a:moveTo>
                    <a:pt x="0" y="0"/>
                  </a:moveTo>
                  <a:lnTo>
                    <a:pt x="20299680" y="0"/>
                  </a:lnTo>
                  <a:lnTo>
                    <a:pt x="20299680" y="2748756"/>
                  </a:lnTo>
                  <a:lnTo>
                    <a:pt x="0" y="27487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3998" b="-93796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9525"/>
              <a:ext cx="20299680" cy="27392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90879" lvl="1" indent="-345439" algn="l">
                <a:lnSpc>
                  <a:spcPts val="3839"/>
                </a:lnSpc>
                <a:buFont typeface="Arial"/>
                <a:buChar char="•"/>
              </a:pPr>
              <a:r>
                <a:rPr lang="en-US" sz="3199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AzureApi centralise token local, pagination, api-version et appels Storage.</a:t>
              </a:r>
            </a:p>
            <a:p>
              <a:pPr marL="690879" lvl="1" indent="-345439" algn="l">
                <a:lnSpc>
                  <a:spcPts val="3839"/>
                </a:lnSpc>
                <a:buFont typeface="Arial"/>
                <a:buChar char="•"/>
              </a:pPr>
              <a:r>
                <a:rPr lang="en-US" sz="3199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Le control plane découvre les ressources Azure et le data plane lit les containers Blob.</a:t>
              </a:r>
            </a:p>
            <a:p>
              <a:pPr marL="690879" lvl="1" indent="-345439" algn="l">
                <a:lnSpc>
                  <a:spcPts val="3839"/>
                </a:lnSpc>
                <a:buFont typeface="Arial"/>
                <a:buChar char="•"/>
              </a:pPr>
              <a:r>
                <a:rPr lang="en-US" sz="3199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Les relations entre VM, NIC, Public IP et disques servent à détecter les orphelins.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Azure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Azure : règles de détection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19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2032" y="1913573"/>
            <a:ext cx="2276475" cy="973455"/>
            <a:chOff x="0" y="0"/>
            <a:chExt cx="3035300" cy="12979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35300" cy="1297940"/>
            </a:xfrm>
            <a:custGeom>
              <a:avLst/>
              <a:gdLst/>
              <a:ahLst/>
              <a:cxnLst/>
              <a:rect l="l" t="t" r="r" b="b"/>
              <a:pathLst>
                <a:path w="3035300" h="1297940">
                  <a:moveTo>
                    <a:pt x="0" y="0"/>
                  </a:moveTo>
                  <a:lnTo>
                    <a:pt x="3035300" y="0"/>
                  </a:lnTo>
                  <a:lnTo>
                    <a:pt x="3035300" y="1297940"/>
                  </a:lnTo>
                  <a:lnTo>
                    <a:pt x="0" y="1297940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097280" y="2043684"/>
            <a:ext cx="2125980" cy="822960"/>
            <a:chOff x="0" y="0"/>
            <a:chExt cx="2834640" cy="10972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834640" cy="1097280"/>
            </a:xfrm>
            <a:custGeom>
              <a:avLst/>
              <a:gdLst/>
              <a:ahLst/>
              <a:cxnLst/>
              <a:rect l="l" t="t" r="r" b="b"/>
              <a:pathLst>
                <a:path w="2834640" h="1097280">
                  <a:moveTo>
                    <a:pt x="0" y="0"/>
                  </a:moveTo>
                  <a:lnTo>
                    <a:pt x="2834640" y="0"/>
                  </a:lnTo>
                  <a:lnTo>
                    <a:pt x="2834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6" b="-33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283464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Famille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285172" y="1913573"/>
            <a:ext cx="4128135" cy="973455"/>
            <a:chOff x="0" y="0"/>
            <a:chExt cx="5504180" cy="12979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504180" cy="1297940"/>
            </a:xfrm>
            <a:custGeom>
              <a:avLst/>
              <a:gdLst/>
              <a:ahLst/>
              <a:cxnLst/>
              <a:rect l="l" t="t" r="r" b="b"/>
              <a:pathLst>
                <a:path w="5504180" h="1297940">
                  <a:moveTo>
                    <a:pt x="0" y="0"/>
                  </a:moveTo>
                  <a:lnTo>
                    <a:pt x="5504180" y="0"/>
                  </a:lnTo>
                  <a:lnTo>
                    <a:pt x="5504180" y="1297940"/>
                  </a:lnTo>
                  <a:lnTo>
                    <a:pt x="0" y="1297940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3360420" y="2043684"/>
            <a:ext cx="3977640" cy="822960"/>
            <a:chOff x="0" y="0"/>
            <a:chExt cx="5303520" cy="10972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303520" cy="1097280"/>
            </a:xfrm>
            <a:custGeom>
              <a:avLst/>
              <a:gdLst/>
              <a:ahLst/>
              <a:cxnLst/>
              <a:rect l="l" t="t" r="r" b="b"/>
              <a:pathLst>
                <a:path w="5303520" h="109728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177" b="-44177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530352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Règles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399972" y="1913573"/>
            <a:ext cx="9888855" cy="973455"/>
            <a:chOff x="0" y="0"/>
            <a:chExt cx="13185140" cy="12979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3185139" cy="1297940"/>
            </a:xfrm>
            <a:custGeom>
              <a:avLst/>
              <a:gdLst/>
              <a:ahLst/>
              <a:cxnLst/>
              <a:rect l="l" t="t" r="r" b="b"/>
              <a:pathLst>
                <a:path w="13185139" h="1297940">
                  <a:moveTo>
                    <a:pt x="0" y="0"/>
                  </a:moveTo>
                  <a:lnTo>
                    <a:pt x="13185139" y="0"/>
                  </a:lnTo>
                  <a:lnTo>
                    <a:pt x="13185139" y="1297940"/>
                  </a:lnTo>
                  <a:lnTo>
                    <a:pt x="0" y="1297940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475220" y="2043684"/>
            <a:ext cx="9738360" cy="822960"/>
            <a:chOff x="0" y="0"/>
            <a:chExt cx="12984480" cy="10972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984480" cy="1097280"/>
            </a:xfrm>
            <a:custGeom>
              <a:avLst/>
              <a:gdLst/>
              <a:ahLst/>
              <a:cxnLst/>
              <a:rect l="l" t="t" r="r" b="b"/>
              <a:pathLst>
                <a:path w="12984480" h="1097280">
                  <a:moveTo>
                    <a:pt x="0" y="0"/>
                  </a:moveTo>
                  <a:lnTo>
                    <a:pt x="12984480" y="0"/>
                  </a:lnTo>
                  <a:lnTo>
                    <a:pt x="1298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572" b="-180572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1298448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Conditions principales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23938" y="2875598"/>
            <a:ext cx="2272665" cy="969645"/>
            <a:chOff x="0" y="0"/>
            <a:chExt cx="3030220" cy="12928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030220" cy="1292860"/>
            </a:xfrm>
            <a:custGeom>
              <a:avLst/>
              <a:gdLst/>
              <a:ahLst/>
              <a:cxnLst/>
              <a:rect l="l" t="t" r="r" b="b"/>
              <a:pathLst>
                <a:path w="3030220" h="1292860">
                  <a:moveTo>
                    <a:pt x="0" y="0"/>
                  </a:moveTo>
                  <a:lnTo>
                    <a:pt x="3030220" y="0"/>
                  </a:lnTo>
                  <a:lnTo>
                    <a:pt x="3030220" y="1292860"/>
                  </a:lnTo>
                  <a:lnTo>
                    <a:pt x="0" y="129286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097280" y="2990088"/>
            <a:ext cx="2125980" cy="822960"/>
            <a:chOff x="0" y="0"/>
            <a:chExt cx="2834640" cy="10972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834640" cy="1097280"/>
            </a:xfrm>
            <a:custGeom>
              <a:avLst/>
              <a:gdLst/>
              <a:ahLst/>
              <a:cxnLst/>
              <a:rect l="l" t="t" r="r" b="b"/>
              <a:pathLst>
                <a:path w="2834640" h="1097280">
                  <a:moveTo>
                    <a:pt x="0" y="0"/>
                  </a:moveTo>
                  <a:lnTo>
                    <a:pt x="2834640" y="0"/>
                  </a:lnTo>
                  <a:lnTo>
                    <a:pt x="2834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6" b="-33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83464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RBAC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287078" y="2875598"/>
            <a:ext cx="4124325" cy="969645"/>
            <a:chOff x="0" y="0"/>
            <a:chExt cx="5499100" cy="12928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499100" cy="1292860"/>
            </a:xfrm>
            <a:custGeom>
              <a:avLst/>
              <a:gdLst/>
              <a:ahLst/>
              <a:cxnLst/>
              <a:rect l="l" t="t" r="r" b="b"/>
              <a:pathLst>
                <a:path w="5499100" h="1292860">
                  <a:moveTo>
                    <a:pt x="0" y="0"/>
                  </a:moveTo>
                  <a:lnTo>
                    <a:pt x="5499100" y="0"/>
                  </a:lnTo>
                  <a:lnTo>
                    <a:pt x="5499100" y="1292860"/>
                  </a:lnTo>
                  <a:lnTo>
                    <a:pt x="0" y="129286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3360420" y="2990088"/>
            <a:ext cx="3977640" cy="822960"/>
            <a:chOff x="0" y="0"/>
            <a:chExt cx="5303520" cy="109728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303520" cy="1097280"/>
            </a:xfrm>
            <a:custGeom>
              <a:avLst/>
              <a:gdLst/>
              <a:ahLst/>
              <a:cxnLst/>
              <a:rect l="l" t="t" r="r" b="b"/>
              <a:pathLst>
                <a:path w="5303520" h="109728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177" b="-44177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530352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AZ-RBAC-001 à 003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401878" y="2875598"/>
            <a:ext cx="9885045" cy="969645"/>
            <a:chOff x="0" y="0"/>
            <a:chExt cx="13180060" cy="12928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180061" cy="1292860"/>
            </a:xfrm>
            <a:custGeom>
              <a:avLst/>
              <a:gdLst/>
              <a:ahLst/>
              <a:cxnLst/>
              <a:rect l="l" t="t" r="r" b="b"/>
              <a:pathLst>
                <a:path w="13180061" h="1292860">
                  <a:moveTo>
                    <a:pt x="0" y="0"/>
                  </a:moveTo>
                  <a:lnTo>
                    <a:pt x="13180061" y="0"/>
                  </a:lnTo>
                  <a:lnTo>
                    <a:pt x="13180061" y="1292860"/>
                  </a:lnTo>
                  <a:lnTo>
                    <a:pt x="0" y="129286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7475220" y="2990088"/>
            <a:ext cx="9738360" cy="822960"/>
            <a:chOff x="0" y="0"/>
            <a:chExt cx="12984480" cy="109728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984480" cy="1097280"/>
            </a:xfrm>
            <a:custGeom>
              <a:avLst/>
              <a:gdLst/>
              <a:ahLst/>
              <a:cxnLst/>
              <a:rect l="l" t="t" r="r" b="b"/>
              <a:pathLst>
                <a:path w="12984480" h="1097280">
                  <a:moveTo>
                    <a:pt x="0" y="0"/>
                  </a:moveTo>
                  <a:lnTo>
                    <a:pt x="12984480" y="0"/>
                  </a:lnTo>
                  <a:lnTo>
                    <a:pt x="1298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572" b="-180572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1298448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Owner/Contributor au scope subscription, principal absent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23938" y="3835717"/>
            <a:ext cx="2272665" cy="969645"/>
            <a:chOff x="0" y="0"/>
            <a:chExt cx="3030220" cy="129286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030220" cy="1292860"/>
            </a:xfrm>
            <a:custGeom>
              <a:avLst/>
              <a:gdLst/>
              <a:ahLst/>
              <a:cxnLst/>
              <a:rect l="l" t="t" r="r" b="b"/>
              <a:pathLst>
                <a:path w="3030220" h="1292860">
                  <a:moveTo>
                    <a:pt x="0" y="0"/>
                  </a:moveTo>
                  <a:lnTo>
                    <a:pt x="3030220" y="0"/>
                  </a:lnTo>
                  <a:lnTo>
                    <a:pt x="3030220" y="1292860"/>
                  </a:lnTo>
                  <a:lnTo>
                    <a:pt x="0" y="129286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097280" y="3950208"/>
            <a:ext cx="2125980" cy="822960"/>
            <a:chOff x="0" y="0"/>
            <a:chExt cx="2834640" cy="10972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834640" cy="1097280"/>
            </a:xfrm>
            <a:custGeom>
              <a:avLst/>
              <a:gdLst/>
              <a:ahLst/>
              <a:cxnLst/>
              <a:rect l="l" t="t" r="r" b="b"/>
              <a:pathLst>
                <a:path w="2834640" h="1097280">
                  <a:moveTo>
                    <a:pt x="0" y="0"/>
                  </a:moveTo>
                  <a:lnTo>
                    <a:pt x="2834640" y="0"/>
                  </a:lnTo>
                  <a:lnTo>
                    <a:pt x="2834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6" b="-33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283464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Storage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287078" y="3835717"/>
            <a:ext cx="4124325" cy="969645"/>
            <a:chOff x="0" y="0"/>
            <a:chExt cx="5499100" cy="129286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499100" cy="1292860"/>
            </a:xfrm>
            <a:custGeom>
              <a:avLst/>
              <a:gdLst/>
              <a:ahLst/>
              <a:cxnLst/>
              <a:rect l="l" t="t" r="r" b="b"/>
              <a:pathLst>
                <a:path w="5499100" h="1292860">
                  <a:moveTo>
                    <a:pt x="0" y="0"/>
                  </a:moveTo>
                  <a:lnTo>
                    <a:pt x="5499100" y="0"/>
                  </a:lnTo>
                  <a:lnTo>
                    <a:pt x="5499100" y="1292860"/>
                  </a:lnTo>
                  <a:lnTo>
                    <a:pt x="0" y="129286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3360420" y="3950208"/>
            <a:ext cx="3977640" cy="822960"/>
            <a:chOff x="0" y="0"/>
            <a:chExt cx="5303520" cy="109728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303520" cy="1097280"/>
            </a:xfrm>
            <a:custGeom>
              <a:avLst/>
              <a:gdLst/>
              <a:ahLst/>
              <a:cxnLst/>
              <a:rect l="l" t="t" r="r" b="b"/>
              <a:pathLst>
                <a:path w="5303520" h="109728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177" b="-44177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530352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AZ-STG-001 à 002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401878" y="3835717"/>
            <a:ext cx="9885045" cy="969645"/>
            <a:chOff x="0" y="0"/>
            <a:chExt cx="13180060" cy="129286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3180061" cy="1292860"/>
            </a:xfrm>
            <a:custGeom>
              <a:avLst/>
              <a:gdLst/>
              <a:ahLst/>
              <a:cxnLst/>
              <a:rect l="l" t="t" r="r" b="b"/>
              <a:pathLst>
                <a:path w="13180061" h="1292860">
                  <a:moveTo>
                    <a:pt x="0" y="0"/>
                  </a:moveTo>
                  <a:lnTo>
                    <a:pt x="13180061" y="0"/>
                  </a:lnTo>
                  <a:lnTo>
                    <a:pt x="13180061" y="1292860"/>
                  </a:lnTo>
                  <a:lnTo>
                    <a:pt x="0" y="129286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7475220" y="3950208"/>
            <a:ext cx="9738360" cy="822960"/>
            <a:chOff x="0" y="0"/>
            <a:chExt cx="12984480" cy="109728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2984480" cy="1097280"/>
            </a:xfrm>
            <a:custGeom>
              <a:avLst/>
              <a:gdLst/>
              <a:ahLst/>
              <a:cxnLst/>
              <a:rect l="l" t="t" r="r" b="b"/>
              <a:pathLst>
                <a:path w="12984480" h="1097280">
                  <a:moveTo>
                    <a:pt x="0" y="0"/>
                  </a:moveTo>
                  <a:lnTo>
                    <a:pt x="12984480" y="0"/>
                  </a:lnTo>
                  <a:lnTo>
                    <a:pt x="1298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572" b="-180572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1298448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allowBlobPublicAccess, container blob/container public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023938" y="4795838"/>
            <a:ext cx="2272665" cy="969645"/>
            <a:chOff x="0" y="0"/>
            <a:chExt cx="3030220" cy="129286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030220" cy="1292860"/>
            </a:xfrm>
            <a:custGeom>
              <a:avLst/>
              <a:gdLst/>
              <a:ahLst/>
              <a:cxnLst/>
              <a:rect l="l" t="t" r="r" b="b"/>
              <a:pathLst>
                <a:path w="3030220" h="1292860">
                  <a:moveTo>
                    <a:pt x="0" y="0"/>
                  </a:moveTo>
                  <a:lnTo>
                    <a:pt x="3030220" y="0"/>
                  </a:lnTo>
                  <a:lnTo>
                    <a:pt x="3030220" y="1292860"/>
                  </a:lnTo>
                  <a:lnTo>
                    <a:pt x="0" y="129286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1097280" y="4910328"/>
            <a:ext cx="2125980" cy="822960"/>
            <a:chOff x="0" y="0"/>
            <a:chExt cx="2834640" cy="109728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834640" cy="1097280"/>
            </a:xfrm>
            <a:custGeom>
              <a:avLst/>
              <a:gdLst/>
              <a:ahLst/>
              <a:cxnLst/>
              <a:rect l="l" t="t" r="r" b="b"/>
              <a:pathLst>
                <a:path w="2834640" h="1097280">
                  <a:moveTo>
                    <a:pt x="0" y="0"/>
                  </a:moveTo>
                  <a:lnTo>
                    <a:pt x="2834640" y="0"/>
                  </a:lnTo>
                  <a:lnTo>
                    <a:pt x="2834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6" b="-336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283464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Network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3287078" y="4795838"/>
            <a:ext cx="4124325" cy="969645"/>
            <a:chOff x="0" y="0"/>
            <a:chExt cx="5499100" cy="129286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499100" cy="1292860"/>
            </a:xfrm>
            <a:custGeom>
              <a:avLst/>
              <a:gdLst/>
              <a:ahLst/>
              <a:cxnLst/>
              <a:rect l="l" t="t" r="r" b="b"/>
              <a:pathLst>
                <a:path w="5499100" h="1292860">
                  <a:moveTo>
                    <a:pt x="0" y="0"/>
                  </a:moveTo>
                  <a:lnTo>
                    <a:pt x="5499100" y="0"/>
                  </a:lnTo>
                  <a:lnTo>
                    <a:pt x="5499100" y="1292860"/>
                  </a:lnTo>
                  <a:lnTo>
                    <a:pt x="0" y="129286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3360420" y="4910328"/>
            <a:ext cx="3977640" cy="822960"/>
            <a:chOff x="0" y="0"/>
            <a:chExt cx="5303520" cy="109728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303520" cy="1097280"/>
            </a:xfrm>
            <a:custGeom>
              <a:avLst/>
              <a:gdLst/>
              <a:ahLst/>
              <a:cxnLst/>
              <a:rect l="l" t="t" r="r" b="b"/>
              <a:pathLst>
                <a:path w="5303520" h="109728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177" b="-44177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530352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AZ-NET-001 à 002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401878" y="4795838"/>
            <a:ext cx="9885045" cy="969645"/>
            <a:chOff x="0" y="0"/>
            <a:chExt cx="13180060" cy="129286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3180061" cy="1292860"/>
            </a:xfrm>
            <a:custGeom>
              <a:avLst/>
              <a:gdLst/>
              <a:ahLst/>
              <a:cxnLst/>
              <a:rect l="l" t="t" r="r" b="b"/>
              <a:pathLst>
                <a:path w="13180061" h="1292860">
                  <a:moveTo>
                    <a:pt x="0" y="0"/>
                  </a:moveTo>
                  <a:lnTo>
                    <a:pt x="13180061" y="0"/>
                  </a:lnTo>
                  <a:lnTo>
                    <a:pt x="13180061" y="1292860"/>
                  </a:lnTo>
                  <a:lnTo>
                    <a:pt x="0" y="129286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7475220" y="4910328"/>
            <a:ext cx="9738360" cy="822960"/>
            <a:chOff x="0" y="0"/>
            <a:chExt cx="12984480" cy="109728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2984480" cy="1097280"/>
            </a:xfrm>
            <a:custGeom>
              <a:avLst/>
              <a:gdLst/>
              <a:ahLst/>
              <a:cxnLst/>
              <a:rect l="l" t="t" r="r" b="b"/>
              <a:pathLst>
                <a:path w="12984480" h="1097280">
                  <a:moveTo>
                    <a:pt x="0" y="0"/>
                  </a:moveTo>
                  <a:lnTo>
                    <a:pt x="12984480" y="0"/>
                  </a:lnTo>
                  <a:lnTo>
                    <a:pt x="1298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572" b="-180572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1298448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Ports admin publics, NIC associée à une Public IP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023938" y="5755958"/>
            <a:ext cx="2272665" cy="969645"/>
            <a:chOff x="0" y="0"/>
            <a:chExt cx="3030220" cy="129286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030220" cy="1292860"/>
            </a:xfrm>
            <a:custGeom>
              <a:avLst/>
              <a:gdLst/>
              <a:ahLst/>
              <a:cxnLst/>
              <a:rect l="l" t="t" r="r" b="b"/>
              <a:pathLst>
                <a:path w="3030220" h="1292860">
                  <a:moveTo>
                    <a:pt x="0" y="0"/>
                  </a:moveTo>
                  <a:lnTo>
                    <a:pt x="3030220" y="0"/>
                  </a:lnTo>
                  <a:lnTo>
                    <a:pt x="3030220" y="1292860"/>
                  </a:lnTo>
                  <a:lnTo>
                    <a:pt x="0" y="129286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1097280" y="5870448"/>
            <a:ext cx="2125980" cy="822960"/>
            <a:chOff x="0" y="0"/>
            <a:chExt cx="2834640" cy="109728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834640" cy="1097280"/>
            </a:xfrm>
            <a:custGeom>
              <a:avLst/>
              <a:gdLst/>
              <a:ahLst/>
              <a:cxnLst/>
              <a:rect l="l" t="t" r="r" b="b"/>
              <a:pathLst>
                <a:path w="2834640" h="1097280">
                  <a:moveTo>
                    <a:pt x="0" y="0"/>
                  </a:moveTo>
                  <a:lnTo>
                    <a:pt x="2834640" y="0"/>
                  </a:lnTo>
                  <a:lnTo>
                    <a:pt x="2834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6" b="-336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283464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Orphelins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3287078" y="5755958"/>
            <a:ext cx="4124325" cy="969645"/>
            <a:chOff x="0" y="0"/>
            <a:chExt cx="5499100" cy="129286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499100" cy="1292860"/>
            </a:xfrm>
            <a:custGeom>
              <a:avLst/>
              <a:gdLst/>
              <a:ahLst/>
              <a:cxnLst/>
              <a:rect l="l" t="t" r="r" b="b"/>
              <a:pathLst>
                <a:path w="5499100" h="1292860">
                  <a:moveTo>
                    <a:pt x="0" y="0"/>
                  </a:moveTo>
                  <a:lnTo>
                    <a:pt x="5499100" y="0"/>
                  </a:lnTo>
                  <a:lnTo>
                    <a:pt x="5499100" y="1292860"/>
                  </a:lnTo>
                  <a:lnTo>
                    <a:pt x="0" y="129286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3360420" y="5870448"/>
            <a:ext cx="3977640" cy="822960"/>
            <a:chOff x="0" y="0"/>
            <a:chExt cx="5303520" cy="109728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5303520" cy="1097280"/>
            </a:xfrm>
            <a:custGeom>
              <a:avLst/>
              <a:gdLst/>
              <a:ahLst/>
              <a:cxnLst/>
              <a:rect l="l" t="t" r="r" b="b"/>
              <a:pathLst>
                <a:path w="5303520" h="1097280">
                  <a:moveTo>
                    <a:pt x="0" y="0"/>
                  </a:moveTo>
                  <a:lnTo>
                    <a:pt x="5303520" y="0"/>
                  </a:lnTo>
                  <a:lnTo>
                    <a:pt x="5303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177" b="-44177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0"/>
              <a:ext cx="530352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AZ-ORPH-001 à 003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7401878" y="5755958"/>
            <a:ext cx="9885045" cy="969645"/>
            <a:chOff x="0" y="0"/>
            <a:chExt cx="13180060" cy="129286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3180061" cy="1292860"/>
            </a:xfrm>
            <a:custGeom>
              <a:avLst/>
              <a:gdLst/>
              <a:ahLst/>
              <a:cxnLst/>
              <a:rect l="l" t="t" r="r" b="b"/>
              <a:pathLst>
                <a:path w="13180061" h="1292860">
                  <a:moveTo>
                    <a:pt x="0" y="0"/>
                  </a:moveTo>
                  <a:lnTo>
                    <a:pt x="13180061" y="0"/>
                  </a:lnTo>
                  <a:lnTo>
                    <a:pt x="13180061" y="1292860"/>
                  </a:lnTo>
                  <a:lnTo>
                    <a:pt x="0" y="129286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7475220" y="5870448"/>
            <a:ext cx="9738360" cy="822960"/>
            <a:chOff x="0" y="0"/>
            <a:chExt cx="12984480" cy="109728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2984480" cy="1097280"/>
            </a:xfrm>
            <a:custGeom>
              <a:avLst/>
              <a:gdLst/>
              <a:ahLst/>
              <a:cxnLst/>
              <a:rect l="l" t="t" r="r" b="b"/>
              <a:pathLst>
                <a:path w="12984480" h="1097280">
                  <a:moveTo>
                    <a:pt x="0" y="0"/>
                  </a:moveTo>
                  <a:lnTo>
                    <a:pt x="12984480" y="0"/>
                  </a:lnTo>
                  <a:lnTo>
                    <a:pt x="1298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572" b="-180572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0"/>
              <a:ext cx="1298448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Disque, NIC ou Public IP non utilisés</a:t>
              </a:r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1714757" y="7612637"/>
            <a:ext cx="14812775" cy="89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0"/>
              </a:lnSpc>
            </a:pPr>
            <a:r>
              <a:rPr lang="en-US" sz="3075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rPr>
              <a:t>Le contrôle du scope RBAC est strict : un rôle au niveau subscription n’a pas la même priorité qu’un rôle limité à un Resource Group.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Azure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Azure : scoring et reporting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20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03277" y="2126237"/>
            <a:ext cx="6583175" cy="47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rPr>
              <a:t>Score Azure sur 100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93495" y="2870835"/>
            <a:ext cx="5916930" cy="2693670"/>
            <a:chOff x="0" y="0"/>
            <a:chExt cx="7889240" cy="3591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889240" cy="3591560"/>
            </a:xfrm>
            <a:custGeom>
              <a:avLst/>
              <a:gdLst/>
              <a:ahLst/>
              <a:cxnLst/>
              <a:rect l="l" t="t" r="r" b="b"/>
              <a:pathLst>
                <a:path w="7889240" h="3591560">
                  <a:moveTo>
                    <a:pt x="0" y="92075"/>
                  </a:moveTo>
                  <a:cubicBezTo>
                    <a:pt x="0" y="41275"/>
                    <a:pt x="41275" y="0"/>
                    <a:pt x="92075" y="0"/>
                  </a:cubicBezTo>
                  <a:lnTo>
                    <a:pt x="7797165" y="0"/>
                  </a:lnTo>
                  <a:cubicBezTo>
                    <a:pt x="7847965" y="0"/>
                    <a:pt x="7889240" y="41275"/>
                    <a:pt x="7889240" y="92075"/>
                  </a:cubicBezTo>
                  <a:lnTo>
                    <a:pt x="7889240" y="3499485"/>
                  </a:lnTo>
                  <a:cubicBezTo>
                    <a:pt x="7889240" y="3550285"/>
                    <a:pt x="7847965" y="3591560"/>
                    <a:pt x="7797165" y="3591560"/>
                  </a:cubicBezTo>
                  <a:lnTo>
                    <a:pt x="92075" y="3591560"/>
                  </a:lnTo>
                  <a:cubicBezTo>
                    <a:pt x="41275" y="3591560"/>
                    <a:pt x="0" y="3550285"/>
                    <a:pt x="0" y="3499485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467612" y="3017520"/>
            <a:ext cx="5568696" cy="2400300"/>
            <a:chOff x="0" y="0"/>
            <a:chExt cx="7424928" cy="3200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424928" cy="3200400"/>
            </a:xfrm>
            <a:custGeom>
              <a:avLst/>
              <a:gdLst/>
              <a:ahLst/>
              <a:cxnLst/>
              <a:rect l="l" t="t" r="r" b="b"/>
              <a:pathLst>
                <a:path w="7424928" h="3200400">
                  <a:moveTo>
                    <a:pt x="0" y="0"/>
                  </a:moveTo>
                  <a:lnTo>
                    <a:pt x="7424928" y="0"/>
                  </a:lnTo>
                  <a:lnTo>
                    <a:pt x="7424928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03" r="-5303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7424928" cy="3200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Base par sévérité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Low 15 · Medium 40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High 65 · Critical 85</a:t>
              </a:r>
            </a:p>
            <a:p>
              <a:pPr algn="ctr">
                <a:lnSpc>
                  <a:spcPts val="3240"/>
                </a:lnSpc>
              </a:pPr>
              <a:endParaRPr lang="en-US" sz="2700" b="1">
                <a:solidFill>
                  <a:srgbClr val="172033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+ facteurs de risque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03020" y="6377940"/>
            <a:ext cx="7406640" cy="2097430"/>
            <a:chOff x="0" y="0"/>
            <a:chExt cx="9875520" cy="279657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875520" cy="2796573"/>
            </a:xfrm>
            <a:custGeom>
              <a:avLst/>
              <a:gdLst/>
              <a:ahLst/>
              <a:cxnLst/>
              <a:rect l="l" t="t" r="r" b="b"/>
              <a:pathLst>
                <a:path w="9875520" h="2796573">
                  <a:moveTo>
                    <a:pt x="0" y="0"/>
                  </a:moveTo>
                  <a:lnTo>
                    <a:pt x="9875520" y="0"/>
                  </a:lnTo>
                  <a:lnTo>
                    <a:pt x="9875520" y="2796573"/>
                  </a:lnTo>
                  <a:lnTo>
                    <a:pt x="0" y="27965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301" b="-1131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9875520" cy="27965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66738" lvl="1" indent="-283369" algn="l">
                <a:lnSpc>
                  <a:spcPts val="3150"/>
                </a:lnSpc>
                <a:buFont typeface="Arial"/>
                <a:buChar char="•"/>
              </a:pPr>
              <a:r>
                <a:rPr lang="en-US" sz="26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Facteurs : internet_exposure, privilege, sensitivity, exploitability.</a:t>
              </a:r>
            </a:p>
            <a:p>
              <a:pPr marL="566738" lvl="1" indent="-283369" algn="l">
                <a:lnSpc>
                  <a:spcPts val="3150"/>
                </a:lnSpc>
                <a:buFont typeface="Arial"/>
                <a:buChar char="•"/>
              </a:pPr>
              <a:r>
                <a:rPr lang="en-US" sz="26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Le score est plafonné à 100.</a:t>
              </a:r>
            </a:p>
            <a:p>
              <a:pPr marL="566738" lvl="1" indent="-283369" algn="l">
                <a:lnSpc>
                  <a:spcPts val="3150"/>
                </a:lnSpc>
                <a:buFont typeface="Arial"/>
                <a:buChar char="•"/>
              </a:pPr>
              <a:r>
                <a:rPr lang="en-US" sz="262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La sévérité finale utilise les seuils Low, Medium, High, Critical.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670037" y="2126237"/>
            <a:ext cx="6583175" cy="47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rPr>
              <a:t>Sorties Azure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660255" y="2870835"/>
            <a:ext cx="5916930" cy="2830830"/>
            <a:chOff x="0" y="0"/>
            <a:chExt cx="7889240" cy="37744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889240" cy="3774440"/>
            </a:xfrm>
            <a:custGeom>
              <a:avLst/>
              <a:gdLst/>
              <a:ahLst/>
              <a:cxnLst/>
              <a:rect l="l" t="t" r="r" b="b"/>
              <a:pathLst>
                <a:path w="7889240" h="3774440">
                  <a:moveTo>
                    <a:pt x="0" y="92075"/>
                  </a:moveTo>
                  <a:cubicBezTo>
                    <a:pt x="0" y="41275"/>
                    <a:pt x="41275" y="0"/>
                    <a:pt x="92075" y="0"/>
                  </a:cubicBezTo>
                  <a:lnTo>
                    <a:pt x="7797165" y="0"/>
                  </a:lnTo>
                  <a:cubicBezTo>
                    <a:pt x="7847965" y="0"/>
                    <a:pt x="7889240" y="41275"/>
                    <a:pt x="7889240" y="92075"/>
                  </a:cubicBezTo>
                  <a:lnTo>
                    <a:pt x="7889240" y="3682365"/>
                  </a:lnTo>
                  <a:cubicBezTo>
                    <a:pt x="7889240" y="3733165"/>
                    <a:pt x="7847965" y="3774440"/>
                    <a:pt x="7797165" y="3774440"/>
                  </a:cubicBezTo>
                  <a:lnTo>
                    <a:pt x="92075" y="3774440"/>
                  </a:lnTo>
                  <a:cubicBezTo>
                    <a:pt x="41275" y="3774440"/>
                    <a:pt x="0" y="3733165"/>
                    <a:pt x="0" y="3682365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834372" y="3017520"/>
            <a:ext cx="5568696" cy="2537460"/>
            <a:chOff x="0" y="0"/>
            <a:chExt cx="7424928" cy="33832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424928" cy="3383280"/>
            </a:xfrm>
            <a:custGeom>
              <a:avLst/>
              <a:gdLst/>
              <a:ahLst/>
              <a:cxnLst/>
              <a:rect l="l" t="t" r="r" b="b"/>
              <a:pathLst>
                <a:path w="7424928" h="3383280">
                  <a:moveTo>
                    <a:pt x="0" y="0"/>
                  </a:moveTo>
                  <a:lnTo>
                    <a:pt x="7424928" y="0"/>
                  </a:lnTo>
                  <a:lnTo>
                    <a:pt x="7424928" y="3383280"/>
                  </a:lnTo>
                  <a:lnTo>
                    <a:pt x="0" y="3383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63" r="-8463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7424928" cy="3383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29"/>
                </a:lnSpc>
              </a:pPr>
              <a:r>
                <a:rPr lang="en-US" sz="277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inventory.json</a:t>
              </a:r>
            </a:p>
            <a:p>
              <a:pPr algn="ctr">
                <a:lnSpc>
                  <a:spcPts val="3329"/>
                </a:lnSpc>
              </a:pPr>
              <a:r>
                <a:rPr lang="en-US" sz="277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findings.json</a:t>
              </a:r>
            </a:p>
            <a:p>
              <a:pPr algn="ctr">
                <a:lnSpc>
                  <a:spcPts val="3329"/>
                </a:lnSpc>
              </a:pPr>
              <a:r>
                <a:rPr lang="en-US" sz="277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report.json</a:t>
              </a:r>
            </a:p>
            <a:p>
              <a:pPr algn="ctr">
                <a:lnSpc>
                  <a:spcPts val="3329"/>
                </a:lnSpc>
              </a:pPr>
              <a:r>
                <a:rPr lang="en-US" sz="277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report.html</a:t>
              </a:r>
            </a:p>
            <a:p>
              <a:pPr algn="ctr">
                <a:lnSpc>
                  <a:spcPts val="3329"/>
                </a:lnSpc>
              </a:pPr>
              <a:r>
                <a:rPr lang="en-US" sz="2775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lab-manifest.json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Résultats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Azure : résultats de référence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21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65860" y="2253615"/>
            <a:ext cx="2263140" cy="905256"/>
            <a:chOff x="0" y="0"/>
            <a:chExt cx="3017520" cy="12070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17520" cy="1207008"/>
            </a:xfrm>
            <a:custGeom>
              <a:avLst/>
              <a:gdLst/>
              <a:ahLst/>
              <a:cxnLst/>
              <a:rect l="l" t="t" r="r" b="b"/>
              <a:pathLst>
                <a:path w="3017520" h="1207008">
                  <a:moveTo>
                    <a:pt x="0" y="0"/>
                  </a:moveTo>
                  <a:lnTo>
                    <a:pt x="3017520" y="0"/>
                  </a:lnTo>
                  <a:lnTo>
                    <a:pt x="3017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r="-132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3017520" cy="12260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450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10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65860" y="3080614"/>
            <a:ext cx="2263140" cy="576072"/>
            <a:chOff x="0" y="0"/>
            <a:chExt cx="3017520" cy="7680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17520" cy="768096"/>
            </a:xfrm>
            <a:custGeom>
              <a:avLst/>
              <a:gdLst/>
              <a:ahLst/>
              <a:cxnLst/>
              <a:rect l="l" t="t" r="r" b="b"/>
              <a:pathLst>
                <a:path w="3017520" h="768096">
                  <a:moveTo>
                    <a:pt x="0" y="0"/>
                  </a:moveTo>
                  <a:lnTo>
                    <a:pt x="3017520" y="0"/>
                  </a:lnTo>
                  <a:lnTo>
                    <a:pt x="3017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548" b="-26548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3017520" cy="768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findings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091940" y="2341044"/>
            <a:ext cx="2606040" cy="905256"/>
            <a:chOff x="0" y="0"/>
            <a:chExt cx="3474720" cy="120700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474720" cy="1207008"/>
            </a:xfrm>
            <a:custGeom>
              <a:avLst/>
              <a:gdLst/>
              <a:ahLst/>
              <a:cxnLst/>
              <a:rect l="l" t="t" r="r" b="b"/>
              <a:pathLst>
                <a:path w="3474720" h="1207008">
                  <a:moveTo>
                    <a:pt x="0" y="0"/>
                  </a:moveTo>
                  <a:lnTo>
                    <a:pt x="3474720" y="0"/>
                  </a:lnTo>
                  <a:lnTo>
                    <a:pt x="34747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93" b="-609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3474720" cy="12260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400"/>
                </a:lnSpc>
              </a:pPr>
              <a:r>
                <a:rPr lang="en-US" sz="450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100.00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909060" y="3080614"/>
            <a:ext cx="2606040" cy="576072"/>
            <a:chOff x="0" y="0"/>
            <a:chExt cx="3474720" cy="76809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474720" cy="768096"/>
            </a:xfrm>
            <a:custGeom>
              <a:avLst/>
              <a:gdLst/>
              <a:ahLst/>
              <a:cxnLst/>
              <a:rect l="l" t="t" r="r" b="b"/>
              <a:pathLst>
                <a:path w="3474720" h="768096">
                  <a:moveTo>
                    <a:pt x="0" y="0"/>
                  </a:moveTo>
                  <a:lnTo>
                    <a:pt x="3474720" y="0"/>
                  </a:lnTo>
                  <a:lnTo>
                    <a:pt x="34747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146" b="-38146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3474720" cy="7680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score max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974455" y="3465195"/>
            <a:ext cx="1658112" cy="2442210"/>
            <a:chOff x="0" y="0"/>
            <a:chExt cx="2210816" cy="32562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10816" cy="3256280"/>
            </a:xfrm>
            <a:custGeom>
              <a:avLst/>
              <a:gdLst/>
              <a:ahLst/>
              <a:cxnLst/>
              <a:rect l="l" t="t" r="r" b="b"/>
              <a:pathLst>
                <a:path w="2210816" h="3256280">
                  <a:moveTo>
                    <a:pt x="0" y="0"/>
                  </a:moveTo>
                  <a:lnTo>
                    <a:pt x="2210816" y="0"/>
                  </a:lnTo>
                  <a:lnTo>
                    <a:pt x="2210816" y="3256280"/>
                  </a:lnTo>
                  <a:lnTo>
                    <a:pt x="0" y="3256280"/>
                  </a:lnTo>
                  <a:close/>
                </a:path>
              </a:pathLst>
            </a:custGeom>
            <a:solidFill>
              <a:srgbClr val="8F3F37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8983980" y="3035808"/>
            <a:ext cx="1639062" cy="342900"/>
            <a:chOff x="0" y="0"/>
            <a:chExt cx="2185416" cy="457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85416" cy="457200"/>
            </a:xfrm>
            <a:custGeom>
              <a:avLst/>
              <a:gdLst/>
              <a:ahLst/>
              <a:cxnLst/>
              <a:rect l="l" t="t" r="r" b="b"/>
              <a:pathLst>
                <a:path w="2185416" h="457200">
                  <a:moveTo>
                    <a:pt x="0" y="0"/>
                  </a:moveTo>
                  <a:lnTo>
                    <a:pt x="2185416" y="0"/>
                  </a:lnTo>
                  <a:lnTo>
                    <a:pt x="218541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138" b="-4313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2185416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915400" y="6213348"/>
            <a:ext cx="1776222" cy="356616"/>
            <a:chOff x="0" y="0"/>
            <a:chExt cx="2368296" cy="47548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368296" cy="475488"/>
            </a:xfrm>
            <a:custGeom>
              <a:avLst/>
              <a:gdLst/>
              <a:ahLst/>
              <a:cxnLst/>
              <a:rect l="l" t="t" r="r" b="b"/>
              <a:pathLst>
                <a:path w="2368296" h="475488">
                  <a:moveTo>
                    <a:pt x="0" y="0"/>
                  </a:moveTo>
                  <a:lnTo>
                    <a:pt x="2368296" y="0"/>
                  </a:lnTo>
                  <a:lnTo>
                    <a:pt x="23682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050" b="-4705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368296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Critical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942701" y="2253615"/>
            <a:ext cx="1658112" cy="3653790"/>
            <a:chOff x="0" y="0"/>
            <a:chExt cx="2210816" cy="48717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10816" cy="4871720"/>
            </a:xfrm>
            <a:custGeom>
              <a:avLst/>
              <a:gdLst/>
              <a:ahLst/>
              <a:cxnLst/>
              <a:rect l="l" t="t" r="r" b="b"/>
              <a:pathLst>
                <a:path w="2210816" h="4871720">
                  <a:moveTo>
                    <a:pt x="0" y="0"/>
                  </a:moveTo>
                  <a:lnTo>
                    <a:pt x="2210816" y="0"/>
                  </a:lnTo>
                  <a:lnTo>
                    <a:pt x="2210816" y="4871720"/>
                  </a:lnTo>
                  <a:lnTo>
                    <a:pt x="0" y="4871720"/>
                  </a:lnTo>
                  <a:close/>
                </a:path>
              </a:pathLst>
            </a:custGeom>
            <a:solidFill>
              <a:srgbClr val="B08431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0952226" y="1824228"/>
            <a:ext cx="1639062" cy="342900"/>
            <a:chOff x="0" y="0"/>
            <a:chExt cx="2185416" cy="457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85416" cy="457200"/>
            </a:xfrm>
            <a:custGeom>
              <a:avLst/>
              <a:gdLst/>
              <a:ahLst/>
              <a:cxnLst/>
              <a:rect l="l" t="t" r="r" b="b"/>
              <a:pathLst>
                <a:path w="2185416" h="457200">
                  <a:moveTo>
                    <a:pt x="0" y="0"/>
                  </a:moveTo>
                  <a:lnTo>
                    <a:pt x="2185416" y="0"/>
                  </a:lnTo>
                  <a:lnTo>
                    <a:pt x="218541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138" b="-43138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2185416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883646" y="6213348"/>
            <a:ext cx="1776222" cy="356616"/>
            <a:chOff x="0" y="0"/>
            <a:chExt cx="2368296" cy="47548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368296" cy="475488"/>
            </a:xfrm>
            <a:custGeom>
              <a:avLst/>
              <a:gdLst/>
              <a:ahLst/>
              <a:cxnLst/>
              <a:rect l="l" t="t" r="r" b="b"/>
              <a:pathLst>
                <a:path w="2368296" h="475488">
                  <a:moveTo>
                    <a:pt x="0" y="0"/>
                  </a:moveTo>
                  <a:lnTo>
                    <a:pt x="2368296" y="0"/>
                  </a:lnTo>
                  <a:lnTo>
                    <a:pt x="23682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050" b="-47050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2368296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High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910947" y="2253615"/>
            <a:ext cx="1658112" cy="3653790"/>
            <a:chOff x="0" y="0"/>
            <a:chExt cx="2210816" cy="48717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210816" cy="4871720"/>
            </a:xfrm>
            <a:custGeom>
              <a:avLst/>
              <a:gdLst/>
              <a:ahLst/>
              <a:cxnLst/>
              <a:rect l="l" t="t" r="r" b="b"/>
              <a:pathLst>
                <a:path w="2210816" h="4871720">
                  <a:moveTo>
                    <a:pt x="0" y="0"/>
                  </a:moveTo>
                  <a:lnTo>
                    <a:pt x="2210816" y="0"/>
                  </a:lnTo>
                  <a:lnTo>
                    <a:pt x="2210816" y="4871720"/>
                  </a:lnTo>
                  <a:lnTo>
                    <a:pt x="0" y="4871720"/>
                  </a:lnTo>
                  <a:close/>
                </a:path>
              </a:pathLst>
            </a:custGeom>
            <a:solidFill>
              <a:srgbClr val="5C718A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2920472" y="1824228"/>
            <a:ext cx="1639062" cy="342900"/>
            <a:chOff x="0" y="0"/>
            <a:chExt cx="2185416" cy="4572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85416" cy="457200"/>
            </a:xfrm>
            <a:custGeom>
              <a:avLst/>
              <a:gdLst/>
              <a:ahLst/>
              <a:cxnLst/>
              <a:rect l="l" t="t" r="r" b="b"/>
              <a:pathLst>
                <a:path w="2185416" h="457200">
                  <a:moveTo>
                    <a:pt x="0" y="0"/>
                  </a:moveTo>
                  <a:lnTo>
                    <a:pt x="2185416" y="0"/>
                  </a:lnTo>
                  <a:lnTo>
                    <a:pt x="218541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138" b="-43138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2185416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851892" y="6213348"/>
            <a:ext cx="1776222" cy="356616"/>
            <a:chOff x="0" y="0"/>
            <a:chExt cx="2368296" cy="47548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368296" cy="475488"/>
            </a:xfrm>
            <a:custGeom>
              <a:avLst/>
              <a:gdLst/>
              <a:ahLst/>
              <a:cxnLst/>
              <a:rect l="l" t="t" r="r" b="b"/>
              <a:pathLst>
                <a:path w="2368296" h="475488">
                  <a:moveTo>
                    <a:pt x="0" y="0"/>
                  </a:moveTo>
                  <a:lnTo>
                    <a:pt x="2368296" y="0"/>
                  </a:lnTo>
                  <a:lnTo>
                    <a:pt x="23682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050" b="-4705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2368296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Medium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879193" y="3465195"/>
            <a:ext cx="1658112" cy="2442210"/>
            <a:chOff x="0" y="0"/>
            <a:chExt cx="2210816" cy="325628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210816" cy="3256280"/>
            </a:xfrm>
            <a:custGeom>
              <a:avLst/>
              <a:gdLst/>
              <a:ahLst/>
              <a:cxnLst/>
              <a:rect l="l" t="t" r="r" b="b"/>
              <a:pathLst>
                <a:path w="2210816" h="3256280">
                  <a:moveTo>
                    <a:pt x="0" y="0"/>
                  </a:moveTo>
                  <a:lnTo>
                    <a:pt x="2210816" y="0"/>
                  </a:lnTo>
                  <a:lnTo>
                    <a:pt x="2210816" y="3256280"/>
                  </a:lnTo>
                  <a:lnTo>
                    <a:pt x="0" y="3256280"/>
                  </a:lnTo>
                  <a:close/>
                </a:path>
              </a:pathLst>
            </a:custGeom>
            <a:solidFill>
              <a:srgbClr val="7E8A97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4888718" y="3035808"/>
            <a:ext cx="1639062" cy="342900"/>
            <a:chOff x="0" y="0"/>
            <a:chExt cx="2185416" cy="4572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85416" cy="457200"/>
            </a:xfrm>
            <a:custGeom>
              <a:avLst/>
              <a:gdLst/>
              <a:ahLst/>
              <a:cxnLst/>
              <a:rect l="l" t="t" r="r" b="b"/>
              <a:pathLst>
                <a:path w="2185416" h="457200">
                  <a:moveTo>
                    <a:pt x="0" y="0"/>
                  </a:moveTo>
                  <a:lnTo>
                    <a:pt x="2185416" y="0"/>
                  </a:lnTo>
                  <a:lnTo>
                    <a:pt x="218541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138" b="-43138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2185416" cy="457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4820138" y="6213348"/>
            <a:ext cx="1776222" cy="356616"/>
            <a:chOff x="0" y="0"/>
            <a:chExt cx="2368296" cy="47548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368296" cy="475488"/>
            </a:xfrm>
            <a:custGeom>
              <a:avLst/>
              <a:gdLst/>
              <a:ahLst/>
              <a:cxnLst/>
              <a:rect l="l" t="t" r="r" b="b"/>
              <a:pathLst>
                <a:path w="2368296" h="475488">
                  <a:moveTo>
                    <a:pt x="0" y="0"/>
                  </a:moveTo>
                  <a:lnTo>
                    <a:pt x="2368296" y="0"/>
                  </a:lnTo>
                  <a:lnTo>
                    <a:pt x="23682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050" b="-47050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2368296" cy="475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Low</a:t>
              </a:r>
            </a:p>
          </p:txBody>
        </p:sp>
      </p:grpSp>
      <p:sp>
        <p:nvSpPr>
          <p:cNvPr id="59" name="AutoShape 59"/>
          <p:cNvSpPr/>
          <p:nvPr/>
        </p:nvSpPr>
        <p:spPr>
          <a:xfrm rot="6480">
            <a:off x="8976827" y="5961697"/>
            <a:ext cx="7558097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0" name="Group 60"/>
          <p:cNvGrpSpPr/>
          <p:nvPr/>
        </p:nvGrpSpPr>
        <p:grpSpPr>
          <a:xfrm>
            <a:off x="1296352" y="4588192"/>
            <a:ext cx="5225415" cy="753999"/>
            <a:chOff x="0" y="0"/>
            <a:chExt cx="6967220" cy="100533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967220" cy="1005332"/>
            </a:xfrm>
            <a:custGeom>
              <a:avLst/>
              <a:gdLst/>
              <a:ahLst/>
              <a:cxnLst/>
              <a:rect l="l" t="t" r="r" b="b"/>
              <a:pathLst>
                <a:path w="6967220" h="1005332">
                  <a:moveTo>
                    <a:pt x="0" y="0"/>
                  </a:moveTo>
                  <a:lnTo>
                    <a:pt x="6967220" y="0"/>
                  </a:lnTo>
                  <a:lnTo>
                    <a:pt x="6967220" y="1005332"/>
                  </a:lnTo>
                  <a:lnTo>
                    <a:pt x="0" y="1005332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1371600" y="4718304"/>
            <a:ext cx="5074920" cy="603504"/>
            <a:chOff x="0" y="0"/>
            <a:chExt cx="6766560" cy="80467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766560" cy="804672"/>
            </a:xfrm>
            <a:custGeom>
              <a:avLst/>
              <a:gdLst/>
              <a:ahLst/>
              <a:cxnLst/>
              <a:rect l="l" t="t" r="r" b="b"/>
              <a:pathLst>
                <a:path w="6766560" h="804672">
                  <a:moveTo>
                    <a:pt x="0" y="0"/>
                  </a:moveTo>
                  <a:lnTo>
                    <a:pt x="6766560" y="0"/>
                  </a:lnTo>
                  <a:lnTo>
                    <a:pt x="67665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851" b="-11385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6766560" cy="804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Exemples forts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508432" y="4588192"/>
            <a:ext cx="1522095" cy="753999"/>
            <a:chOff x="0" y="0"/>
            <a:chExt cx="2029460" cy="100533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029460" cy="1005332"/>
            </a:xfrm>
            <a:custGeom>
              <a:avLst/>
              <a:gdLst/>
              <a:ahLst/>
              <a:cxnLst/>
              <a:rect l="l" t="t" r="r" b="b"/>
              <a:pathLst>
                <a:path w="2029460" h="1005332">
                  <a:moveTo>
                    <a:pt x="0" y="0"/>
                  </a:moveTo>
                  <a:lnTo>
                    <a:pt x="2029460" y="0"/>
                  </a:lnTo>
                  <a:lnTo>
                    <a:pt x="2029460" y="1005332"/>
                  </a:lnTo>
                  <a:lnTo>
                    <a:pt x="0" y="1005332"/>
                  </a:lnTo>
                  <a:close/>
                </a:path>
              </a:pathLst>
            </a:custGeom>
            <a:solidFill>
              <a:srgbClr val="F5F7FA"/>
            </a:solidFill>
            <a:ln w="1333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6583680" y="4718304"/>
            <a:ext cx="1371600" cy="603504"/>
            <a:chOff x="0" y="0"/>
            <a:chExt cx="1828800" cy="80467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828800" cy="804672"/>
            </a:xfrm>
            <a:custGeom>
              <a:avLst/>
              <a:gdLst/>
              <a:ahLst/>
              <a:cxnLst/>
              <a:rect l="l" t="t" r="r" b="b"/>
              <a:pathLst>
                <a:path w="1828800" h="804672">
                  <a:moveTo>
                    <a:pt x="0" y="0"/>
                  </a:moveTo>
                  <a:lnTo>
                    <a:pt x="1828800" y="0"/>
                  </a:lnTo>
                  <a:lnTo>
                    <a:pt x="18288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r="-6453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0"/>
              <a:ext cx="1828800" cy="804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Score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298258" y="5330762"/>
            <a:ext cx="5221605" cy="750189"/>
            <a:chOff x="0" y="0"/>
            <a:chExt cx="6962140" cy="100025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962140" cy="1000252"/>
            </a:xfrm>
            <a:custGeom>
              <a:avLst/>
              <a:gdLst/>
              <a:ahLst/>
              <a:cxnLst/>
              <a:rect l="l" t="t" r="r" b="b"/>
              <a:pathLst>
                <a:path w="6962140" h="1000252">
                  <a:moveTo>
                    <a:pt x="0" y="0"/>
                  </a:moveTo>
                  <a:lnTo>
                    <a:pt x="6962140" y="0"/>
                  </a:lnTo>
                  <a:lnTo>
                    <a:pt x="6962140" y="1000252"/>
                  </a:lnTo>
                  <a:lnTo>
                    <a:pt x="0" y="100025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1371600" y="5445252"/>
            <a:ext cx="5074920" cy="603504"/>
            <a:chOff x="0" y="0"/>
            <a:chExt cx="6766560" cy="80467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766560" cy="804672"/>
            </a:xfrm>
            <a:custGeom>
              <a:avLst/>
              <a:gdLst/>
              <a:ahLst/>
              <a:cxnLst/>
              <a:rect l="l" t="t" r="r" b="b"/>
              <a:pathLst>
                <a:path w="6766560" h="804672">
                  <a:moveTo>
                    <a:pt x="0" y="0"/>
                  </a:moveTo>
                  <a:lnTo>
                    <a:pt x="6766560" y="0"/>
                  </a:lnTo>
                  <a:lnTo>
                    <a:pt x="67665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851" b="-113851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0"/>
              <a:ext cx="6766560" cy="804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AZ-RBAC-001 — Alice Admin Owner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510338" y="5330762"/>
            <a:ext cx="1518285" cy="750189"/>
            <a:chOff x="0" y="0"/>
            <a:chExt cx="2024380" cy="100025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2024380" cy="1000252"/>
            </a:xfrm>
            <a:custGeom>
              <a:avLst/>
              <a:gdLst/>
              <a:ahLst/>
              <a:cxnLst/>
              <a:rect l="l" t="t" r="r" b="b"/>
              <a:pathLst>
                <a:path w="2024380" h="1000252">
                  <a:moveTo>
                    <a:pt x="0" y="0"/>
                  </a:moveTo>
                  <a:lnTo>
                    <a:pt x="2024380" y="0"/>
                  </a:lnTo>
                  <a:lnTo>
                    <a:pt x="2024380" y="1000252"/>
                  </a:lnTo>
                  <a:lnTo>
                    <a:pt x="0" y="100025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6583680" y="5445252"/>
            <a:ext cx="1371600" cy="603504"/>
            <a:chOff x="0" y="0"/>
            <a:chExt cx="1828800" cy="80467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828800" cy="804672"/>
            </a:xfrm>
            <a:custGeom>
              <a:avLst/>
              <a:gdLst/>
              <a:ahLst/>
              <a:cxnLst/>
              <a:rect l="l" t="t" r="r" b="b"/>
              <a:pathLst>
                <a:path w="1828800" h="804672">
                  <a:moveTo>
                    <a:pt x="0" y="0"/>
                  </a:moveTo>
                  <a:lnTo>
                    <a:pt x="1828800" y="0"/>
                  </a:lnTo>
                  <a:lnTo>
                    <a:pt x="18288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r="-6453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1828800" cy="804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100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298258" y="6071425"/>
            <a:ext cx="5221605" cy="750189"/>
            <a:chOff x="0" y="0"/>
            <a:chExt cx="6962140" cy="100025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962140" cy="1000252"/>
            </a:xfrm>
            <a:custGeom>
              <a:avLst/>
              <a:gdLst/>
              <a:ahLst/>
              <a:cxnLst/>
              <a:rect l="l" t="t" r="r" b="b"/>
              <a:pathLst>
                <a:path w="6962140" h="1000252">
                  <a:moveTo>
                    <a:pt x="0" y="0"/>
                  </a:moveTo>
                  <a:lnTo>
                    <a:pt x="6962140" y="0"/>
                  </a:lnTo>
                  <a:lnTo>
                    <a:pt x="6962140" y="1000252"/>
                  </a:lnTo>
                  <a:lnTo>
                    <a:pt x="0" y="100025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1371600" y="6185916"/>
            <a:ext cx="5074920" cy="603504"/>
            <a:chOff x="0" y="0"/>
            <a:chExt cx="6766560" cy="80467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6766560" cy="804672"/>
            </a:xfrm>
            <a:custGeom>
              <a:avLst/>
              <a:gdLst/>
              <a:ahLst/>
              <a:cxnLst/>
              <a:rect l="l" t="t" r="r" b="b"/>
              <a:pathLst>
                <a:path w="6766560" h="804672">
                  <a:moveTo>
                    <a:pt x="0" y="0"/>
                  </a:moveTo>
                  <a:lnTo>
                    <a:pt x="6766560" y="0"/>
                  </a:lnTo>
                  <a:lnTo>
                    <a:pt x="67665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851" b="-113851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0"/>
              <a:ext cx="6766560" cy="804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AZ-STG-002 — container public-data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510338" y="6071425"/>
            <a:ext cx="1518285" cy="750189"/>
            <a:chOff x="0" y="0"/>
            <a:chExt cx="2024380" cy="1000252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2024380" cy="1000252"/>
            </a:xfrm>
            <a:custGeom>
              <a:avLst/>
              <a:gdLst/>
              <a:ahLst/>
              <a:cxnLst/>
              <a:rect l="l" t="t" r="r" b="b"/>
              <a:pathLst>
                <a:path w="2024380" h="1000252">
                  <a:moveTo>
                    <a:pt x="0" y="0"/>
                  </a:moveTo>
                  <a:lnTo>
                    <a:pt x="2024380" y="0"/>
                  </a:lnTo>
                  <a:lnTo>
                    <a:pt x="2024380" y="1000252"/>
                  </a:lnTo>
                  <a:lnTo>
                    <a:pt x="0" y="100025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6583680" y="6185916"/>
            <a:ext cx="1371600" cy="603504"/>
            <a:chOff x="0" y="0"/>
            <a:chExt cx="1828800" cy="804672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828800" cy="804672"/>
            </a:xfrm>
            <a:custGeom>
              <a:avLst/>
              <a:gdLst/>
              <a:ahLst/>
              <a:cxnLst/>
              <a:rect l="l" t="t" r="r" b="b"/>
              <a:pathLst>
                <a:path w="1828800" h="804672">
                  <a:moveTo>
                    <a:pt x="0" y="0"/>
                  </a:moveTo>
                  <a:lnTo>
                    <a:pt x="1828800" y="0"/>
                  </a:lnTo>
                  <a:lnTo>
                    <a:pt x="18288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r="-6453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0"/>
              <a:ext cx="1828800" cy="804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91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298258" y="6812090"/>
            <a:ext cx="5221605" cy="750189"/>
            <a:chOff x="0" y="0"/>
            <a:chExt cx="6962140" cy="1000252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6962140" cy="1000252"/>
            </a:xfrm>
            <a:custGeom>
              <a:avLst/>
              <a:gdLst/>
              <a:ahLst/>
              <a:cxnLst/>
              <a:rect l="l" t="t" r="r" b="b"/>
              <a:pathLst>
                <a:path w="6962140" h="1000252">
                  <a:moveTo>
                    <a:pt x="0" y="0"/>
                  </a:moveTo>
                  <a:lnTo>
                    <a:pt x="6962140" y="0"/>
                  </a:lnTo>
                  <a:lnTo>
                    <a:pt x="6962140" y="1000252"/>
                  </a:lnTo>
                  <a:lnTo>
                    <a:pt x="0" y="100025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92" name="Group 92"/>
          <p:cNvGrpSpPr/>
          <p:nvPr/>
        </p:nvGrpSpPr>
        <p:grpSpPr>
          <a:xfrm>
            <a:off x="1371600" y="6926580"/>
            <a:ext cx="5074920" cy="603504"/>
            <a:chOff x="0" y="0"/>
            <a:chExt cx="6766560" cy="804672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6766560" cy="804672"/>
            </a:xfrm>
            <a:custGeom>
              <a:avLst/>
              <a:gdLst/>
              <a:ahLst/>
              <a:cxnLst/>
              <a:rect l="l" t="t" r="r" b="b"/>
              <a:pathLst>
                <a:path w="6766560" h="804672">
                  <a:moveTo>
                    <a:pt x="0" y="0"/>
                  </a:moveTo>
                  <a:lnTo>
                    <a:pt x="6766560" y="0"/>
                  </a:lnTo>
                  <a:lnTo>
                    <a:pt x="67665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851" b="-113851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0"/>
              <a:ext cx="6766560" cy="804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AZ-NET-001 — RDP/SSH publics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510338" y="6812090"/>
            <a:ext cx="1518285" cy="750189"/>
            <a:chOff x="0" y="0"/>
            <a:chExt cx="2024380" cy="1000252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2024380" cy="1000252"/>
            </a:xfrm>
            <a:custGeom>
              <a:avLst/>
              <a:gdLst/>
              <a:ahLst/>
              <a:cxnLst/>
              <a:rect l="l" t="t" r="r" b="b"/>
              <a:pathLst>
                <a:path w="2024380" h="1000252">
                  <a:moveTo>
                    <a:pt x="0" y="0"/>
                  </a:moveTo>
                  <a:lnTo>
                    <a:pt x="2024380" y="0"/>
                  </a:lnTo>
                  <a:lnTo>
                    <a:pt x="2024380" y="1000252"/>
                  </a:lnTo>
                  <a:lnTo>
                    <a:pt x="0" y="1000252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97" name="Group 97"/>
          <p:cNvGrpSpPr/>
          <p:nvPr/>
        </p:nvGrpSpPr>
        <p:grpSpPr>
          <a:xfrm>
            <a:off x="6583680" y="6926580"/>
            <a:ext cx="1371600" cy="603504"/>
            <a:chOff x="0" y="0"/>
            <a:chExt cx="1828800" cy="804672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1828800" cy="804672"/>
            </a:xfrm>
            <a:custGeom>
              <a:avLst/>
              <a:gdLst/>
              <a:ahLst/>
              <a:cxnLst/>
              <a:rect l="l" t="t" r="r" b="b"/>
              <a:pathLst>
                <a:path w="1828800" h="804672">
                  <a:moveTo>
                    <a:pt x="0" y="0"/>
                  </a:moveTo>
                  <a:lnTo>
                    <a:pt x="1828800" y="0"/>
                  </a:lnTo>
                  <a:lnTo>
                    <a:pt x="18288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r="-6453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0"/>
              <a:ext cx="1828800" cy="804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83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Tests et résultats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Validation des détections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22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2075" y="2527935"/>
            <a:ext cx="3173730" cy="1184910"/>
            <a:chOff x="0" y="0"/>
            <a:chExt cx="4231640" cy="15798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31640" cy="1579880"/>
            </a:xfrm>
            <a:custGeom>
              <a:avLst/>
              <a:gdLst/>
              <a:ahLst/>
              <a:cxnLst/>
              <a:rect l="l" t="t" r="r" b="b"/>
              <a:pathLst>
                <a:path w="4231640" h="1579880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4138676" y="0"/>
                  </a:lnTo>
                  <a:cubicBezTo>
                    <a:pt x="4189984" y="0"/>
                    <a:pt x="4231640" y="41656"/>
                    <a:pt x="4231640" y="92964"/>
                  </a:cubicBezTo>
                  <a:lnTo>
                    <a:pt x="4231640" y="1486916"/>
                  </a:lnTo>
                  <a:cubicBezTo>
                    <a:pt x="4231640" y="1538224"/>
                    <a:pt x="4189984" y="1579880"/>
                    <a:pt x="4138676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536192" y="2674620"/>
            <a:ext cx="2825496" cy="891540"/>
            <a:chOff x="0" y="0"/>
            <a:chExt cx="3767328" cy="11887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67328" cy="1188720"/>
            </a:xfrm>
            <a:custGeom>
              <a:avLst/>
              <a:gdLst/>
              <a:ahLst/>
              <a:cxnLst/>
              <a:rect l="l" t="t" r="r" b="b"/>
              <a:pathLst>
                <a:path w="3767328" h="1188720">
                  <a:moveTo>
                    <a:pt x="0" y="0"/>
                  </a:moveTo>
                  <a:lnTo>
                    <a:pt x="3767328" y="0"/>
                  </a:lnTo>
                  <a:lnTo>
                    <a:pt x="376732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52" b="-1175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3767328" cy="1188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Cas introduit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dans le lab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rot="70140">
            <a:off x="4854750" y="3117723"/>
            <a:ext cx="1400470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1" name="Group 21"/>
          <p:cNvGrpSpPr/>
          <p:nvPr/>
        </p:nvGrpSpPr>
        <p:grpSpPr>
          <a:xfrm>
            <a:off x="6436995" y="2527935"/>
            <a:ext cx="3173730" cy="1184910"/>
            <a:chOff x="0" y="0"/>
            <a:chExt cx="4231640" cy="15798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31640" cy="1579880"/>
            </a:xfrm>
            <a:custGeom>
              <a:avLst/>
              <a:gdLst/>
              <a:ahLst/>
              <a:cxnLst/>
              <a:rect l="l" t="t" r="r" b="b"/>
              <a:pathLst>
                <a:path w="4231640" h="1579880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4138676" y="0"/>
                  </a:lnTo>
                  <a:cubicBezTo>
                    <a:pt x="4189984" y="0"/>
                    <a:pt x="4231640" y="41656"/>
                    <a:pt x="4231640" y="92964"/>
                  </a:cubicBezTo>
                  <a:lnTo>
                    <a:pt x="4231640" y="1486916"/>
                  </a:lnTo>
                  <a:cubicBezTo>
                    <a:pt x="4231640" y="1538224"/>
                    <a:pt x="4189984" y="1579880"/>
                    <a:pt x="4138676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611112" y="2674620"/>
            <a:ext cx="2825496" cy="891540"/>
            <a:chOff x="0" y="0"/>
            <a:chExt cx="3767328" cy="11887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67328" cy="1188720"/>
            </a:xfrm>
            <a:custGeom>
              <a:avLst/>
              <a:gdLst/>
              <a:ahLst/>
              <a:cxnLst/>
              <a:rect l="l" t="t" r="r" b="b"/>
              <a:pathLst>
                <a:path w="3767328" h="1188720">
                  <a:moveTo>
                    <a:pt x="0" y="0"/>
                  </a:moveTo>
                  <a:lnTo>
                    <a:pt x="3767328" y="0"/>
                  </a:lnTo>
                  <a:lnTo>
                    <a:pt x="376732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52" b="-11752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3767328" cy="1188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Ressource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découverte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 rot="70140">
            <a:off x="9929670" y="3117723"/>
            <a:ext cx="1400470" cy="0"/>
          </a:xfrm>
          <a:prstGeom prst="line">
            <a:avLst/>
          </a:prstGeom>
          <a:ln w="19050" cap="rnd">
            <a:solidFill>
              <a:srgbClr val="456A84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7" name="Group 27"/>
          <p:cNvGrpSpPr/>
          <p:nvPr/>
        </p:nvGrpSpPr>
        <p:grpSpPr>
          <a:xfrm>
            <a:off x="11511915" y="2527935"/>
            <a:ext cx="3173730" cy="1184910"/>
            <a:chOff x="0" y="0"/>
            <a:chExt cx="4231640" cy="15798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31640" cy="1579880"/>
            </a:xfrm>
            <a:custGeom>
              <a:avLst/>
              <a:gdLst/>
              <a:ahLst/>
              <a:cxnLst/>
              <a:rect l="l" t="t" r="r" b="b"/>
              <a:pathLst>
                <a:path w="4231640" h="1579880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4138676" y="0"/>
                  </a:lnTo>
                  <a:cubicBezTo>
                    <a:pt x="4189984" y="0"/>
                    <a:pt x="4231640" y="41656"/>
                    <a:pt x="4231640" y="92964"/>
                  </a:cubicBezTo>
                  <a:lnTo>
                    <a:pt x="4231640" y="1486916"/>
                  </a:lnTo>
                  <a:cubicBezTo>
                    <a:pt x="4231640" y="1538224"/>
                    <a:pt x="4189984" y="1579880"/>
                    <a:pt x="4138676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1686032" y="2674620"/>
            <a:ext cx="2825496" cy="891540"/>
            <a:chOff x="0" y="0"/>
            <a:chExt cx="3767328" cy="11887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767328" cy="1188720"/>
            </a:xfrm>
            <a:custGeom>
              <a:avLst/>
              <a:gdLst/>
              <a:ahLst/>
              <a:cxnLst/>
              <a:rect l="l" t="t" r="r" b="b"/>
              <a:pathLst>
                <a:path w="3767328" h="1188720">
                  <a:moveTo>
                    <a:pt x="0" y="0"/>
                  </a:moveTo>
                  <a:lnTo>
                    <a:pt x="3767328" y="0"/>
                  </a:lnTo>
                  <a:lnTo>
                    <a:pt x="376732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52" b="-11752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3767328" cy="1188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Règle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déclenchée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28700" y="4503420"/>
            <a:ext cx="14813280" cy="1988820"/>
            <a:chOff x="0" y="0"/>
            <a:chExt cx="19751040" cy="26517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9751039" cy="2651760"/>
            </a:xfrm>
            <a:custGeom>
              <a:avLst/>
              <a:gdLst/>
              <a:ahLst/>
              <a:cxnLst/>
              <a:rect l="l" t="t" r="r" b="b"/>
              <a:pathLst>
                <a:path w="19751039" h="2651760">
                  <a:moveTo>
                    <a:pt x="0" y="0"/>
                  </a:moveTo>
                  <a:lnTo>
                    <a:pt x="19751039" y="0"/>
                  </a:lnTo>
                  <a:lnTo>
                    <a:pt x="19751039" y="2651760"/>
                  </a:lnTo>
                  <a:lnTo>
                    <a:pt x="0" y="265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129" b="-95129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19751040" cy="2651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47700" lvl="1" indent="-323850" algn="l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La validation ne se limite pas au nombre global de findings.</a:t>
              </a:r>
            </a:p>
            <a:p>
              <a:pPr marL="647700" lvl="1" indent="-323850" algn="l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Les ressources sûres doivent être visibles dans l’inventaire sans générer de finding équivalent.</a:t>
              </a:r>
            </a:p>
            <a:p>
              <a:pPr marL="647700" lvl="1" indent="-323850" algn="l">
                <a:lnSpc>
                  <a:spcPts val="3600"/>
                </a:lnSpc>
                <a:buFont typeface="Arial"/>
                <a:buChar char="•"/>
              </a:pPr>
              <a:r>
                <a:rPr lang="en-US" sz="3000">
                  <a:solidFill>
                    <a:srgbClr val="172033"/>
                  </a:solidFill>
                  <a:latin typeface="Aptos"/>
                  <a:ea typeface="Aptos"/>
                  <a:cs typeface="Aptos"/>
                  <a:sym typeface="Aptos"/>
                </a:rPr>
                <a:t>Le rapport HTML doit refléter les mêmes findings que les fichiers JSON.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Synthèse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Apports, limites et perspectives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23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3495" y="2253615"/>
            <a:ext cx="4751070" cy="4476750"/>
            <a:chOff x="0" y="0"/>
            <a:chExt cx="6334760" cy="5969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34760" cy="5969000"/>
            </a:xfrm>
            <a:custGeom>
              <a:avLst/>
              <a:gdLst/>
              <a:ahLst/>
              <a:cxnLst/>
              <a:rect l="l" t="t" r="r" b="b"/>
              <a:pathLst>
                <a:path w="6334760" h="5969000">
                  <a:moveTo>
                    <a:pt x="0" y="91821"/>
                  </a:moveTo>
                  <a:cubicBezTo>
                    <a:pt x="0" y="41148"/>
                    <a:pt x="41148" y="0"/>
                    <a:pt x="91821" y="0"/>
                  </a:cubicBezTo>
                  <a:lnTo>
                    <a:pt x="6242939" y="0"/>
                  </a:lnTo>
                  <a:cubicBezTo>
                    <a:pt x="6293612" y="0"/>
                    <a:pt x="6334760" y="41148"/>
                    <a:pt x="6334760" y="91821"/>
                  </a:cubicBezTo>
                  <a:lnTo>
                    <a:pt x="6334760" y="5877179"/>
                  </a:lnTo>
                  <a:cubicBezTo>
                    <a:pt x="6334760" y="5927852"/>
                    <a:pt x="6293612" y="5969000"/>
                    <a:pt x="6242939" y="5969000"/>
                  </a:cubicBezTo>
                  <a:lnTo>
                    <a:pt x="91821" y="5969000"/>
                  </a:lnTo>
                  <a:cubicBezTo>
                    <a:pt x="41148" y="5969000"/>
                    <a:pt x="0" y="5927852"/>
                    <a:pt x="0" y="587717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467612" y="2400300"/>
            <a:ext cx="4402836" cy="4183380"/>
            <a:chOff x="0" y="0"/>
            <a:chExt cx="5870448" cy="55778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870448" cy="5577840"/>
            </a:xfrm>
            <a:custGeom>
              <a:avLst/>
              <a:gdLst/>
              <a:ahLst/>
              <a:cxnLst/>
              <a:rect l="l" t="t" r="r" b="b"/>
              <a:pathLst>
                <a:path w="5870448" h="5577840">
                  <a:moveTo>
                    <a:pt x="0" y="0"/>
                  </a:moveTo>
                  <a:lnTo>
                    <a:pt x="5870448" y="0"/>
                  </a:lnTo>
                  <a:lnTo>
                    <a:pt x="5870448" y="5577840"/>
                  </a:lnTo>
                  <a:lnTo>
                    <a:pt x="0" y="5577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908" r="-71908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5870448" cy="5577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Apports</a:t>
              </a:r>
            </a:p>
            <a:p>
              <a:pPr algn="ctr">
                <a:lnSpc>
                  <a:spcPts val="3240"/>
                </a:lnSpc>
              </a:pPr>
              <a:endParaRPr lang="en-US" sz="270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  <a:p>
              <a:pPr marL="582930" lvl="1" indent="-291465" algn="l">
                <a:lnSpc>
                  <a:spcPts val="3240"/>
                </a:lnSpc>
                <a:buFont typeface="Arial"/>
                <a:buChar char="•"/>
              </a:pPr>
              <a:r>
                <a:rPr lang="en-US" sz="27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Pipeline complet</a:t>
              </a:r>
            </a:p>
            <a:p>
              <a:pPr marL="582930" lvl="1" indent="-291465" algn="l">
                <a:lnSpc>
                  <a:spcPts val="3240"/>
                </a:lnSpc>
                <a:buFont typeface="Arial"/>
                <a:buChar char="•"/>
              </a:pPr>
              <a:r>
                <a:rPr lang="en-US" sz="27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Règles explicites</a:t>
              </a:r>
            </a:p>
            <a:p>
              <a:pPr marL="582930" lvl="1" indent="-291465" algn="l">
                <a:lnSpc>
                  <a:spcPts val="3240"/>
                </a:lnSpc>
                <a:buFont typeface="Arial"/>
                <a:buChar char="•"/>
              </a:pPr>
              <a:r>
                <a:rPr lang="en-US" sz="27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Scoring priorisé</a:t>
              </a:r>
            </a:p>
            <a:p>
              <a:pPr marL="582930" lvl="1" indent="-291465" algn="l">
                <a:lnSpc>
                  <a:spcPts val="3240"/>
                </a:lnSpc>
                <a:buFont typeface="Arial"/>
                <a:buChar char="•"/>
              </a:pPr>
              <a:r>
                <a:rPr lang="en-US" sz="27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Reporting exploitable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79895" y="2253615"/>
            <a:ext cx="4751070" cy="4476750"/>
            <a:chOff x="0" y="0"/>
            <a:chExt cx="6334760" cy="5969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34760" cy="5969000"/>
            </a:xfrm>
            <a:custGeom>
              <a:avLst/>
              <a:gdLst/>
              <a:ahLst/>
              <a:cxnLst/>
              <a:rect l="l" t="t" r="r" b="b"/>
              <a:pathLst>
                <a:path w="6334760" h="5969000">
                  <a:moveTo>
                    <a:pt x="0" y="91821"/>
                  </a:moveTo>
                  <a:cubicBezTo>
                    <a:pt x="0" y="41148"/>
                    <a:pt x="41148" y="0"/>
                    <a:pt x="91821" y="0"/>
                  </a:cubicBezTo>
                  <a:lnTo>
                    <a:pt x="6242939" y="0"/>
                  </a:lnTo>
                  <a:cubicBezTo>
                    <a:pt x="6293612" y="0"/>
                    <a:pt x="6334760" y="41148"/>
                    <a:pt x="6334760" y="91821"/>
                  </a:cubicBezTo>
                  <a:lnTo>
                    <a:pt x="6334760" y="5877179"/>
                  </a:lnTo>
                  <a:cubicBezTo>
                    <a:pt x="6334760" y="5927852"/>
                    <a:pt x="6293612" y="5969000"/>
                    <a:pt x="6242939" y="5969000"/>
                  </a:cubicBezTo>
                  <a:lnTo>
                    <a:pt x="91821" y="5969000"/>
                  </a:lnTo>
                  <a:cubicBezTo>
                    <a:pt x="41148" y="5969000"/>
                    <a:pt x="0" y="5927852"/>
                    <a:pt x="0" y="587717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954012" y="2400300"/>
            <a:ext cx="4402836" cy="4183380"/>
            <a:chOff x="0" y="0"/>
            <a:chExt cx="5870448" cy="55778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70448" cy="5577840"/>
            </a:xfrm>
            <a:custGeom>
              <a:avLst/>
              <a:gdLst/>
              <a:ahLst/>
              <a:cxnLst/>
              <a:rect l="l" t="t" r="r" b="b"/>
              <a:pathLst>
                <a:path w="5870448" h="5577840">
                  <a:moveTo>
                    <a:pt x="0" y="0"/>
                  </a:moveTo>
                  <a:lnTo>
                    <a:pt x="5870448" y="0"/>
                  </a:lnTo>
                  <a:lnTo>
                    <a:pt x="5870448" y="5577840"/>
                  </a:lnTo>
                  <a:lnTo>
                    <a:pt x="0" y="5577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908" r="-7190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5870448" cy="5577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Limites</a:t>
              </a:r>
            </a:p>
            <a:p>
              <a:pPr algn="ctr">
                <a:lnSpc>
                  <a:spcPts val="3240"/>
                </a:lnSpc>
              </a:pPr>
              <a:endParaRPr lang="en-US" sz="270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  <a:p>
              <a:pPr marL="582930" lvl="1" indent="-291465" algn="l">
                <a:lnSpc>
                  <a:spcPts val="3240"/>
                </a:lnSpc>
                <a:buFont typeface="Arial"/>
                <a:buChar char="•"/>
              </a:pPr>
              <a:r>
                <a:rPr lang="en-US" sz="27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Lab local contrôlé</a:t>
              </a:r>
            </a:p>
            <a:p>
              <a:pPr marL="582930" lvl="1" indent="-291465" algn="l">
                <a:lnSpc>
                  <a:spcPts val="3240"/>
                </a:lnSpc>
                <a:buFont typeface="Arial"/>
                <a:buChar char="•"/>
              </a:pPr>
              <a:r>
                <a:rPr lang="en-US" sz="27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Couverture volontairement limitée</a:t>
              </a:r>
            </a:p>
            <a:p>
              <a:pPr marL="582930" lvl="1" indent="-291465" algn="l">
                <a:lnSpc>
                  <a:spcPts val="3240"/>
                </a:lnSpc>
                <a:buFont typeface="Arial"/>
                <a:buChar char="•"/>
              </a:pPr>
              <a:r>
                <a:rPr lang="en-US" sz="2700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Pas un produit CSPM complet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266295" y="2253615"/>
            <a:ext cx="4751070" cy="4476750"/>
            <a:chOff x="0" y="0"/>
            <a:chExt cx="6334760" cy="5969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34760" cy="5969000"/>
            </a:xfrm>
            <a:custGeom>
              <a:avLst/>
              <a:gdLst/>
              <a:ahLst/>
              <a:cxnLst/>
              <a:rect l="l" t="t" r="r" b="b"/>
              <a:pathLst>
                <a:path w="6334760" h="5969000">
                  <a:moveTo>
                    <a:pt x="0" y="91821"/>
                  </a:moveTo>
                  <a:cubicBezTo>
                    <a:pt x="0" y="41148"/>
                    <a:pt x="41148" y="0"/>
                    <a:pt x="91821" y="0"/>
                  </a:cubicBezTo>
                  <a:lnTo>
                    <a:pt x="6242939" y="0"/>
                  </a:lnTo>
                  <a:cubicBezTo>
                    <a:pt x="6293612" y="0"/>
                    <a:pt x="6334760" y="41148"/>
                    <a:pt x="6334760" y="91821"/>
                  </a:cubicBezTo>
                  <a:lnTo>
                    <a:pt x="6334760" y="5877179"/>
                  </a:lnTo>
                  <a:cubicBezTo>
                    <a:pt x="6334760" y="5927852"/>
                    <a:pt x="6293612" y="5969000"/>
                    <a:pt x="6242939" y="5969000"/>
                  </a:cubicBezTo>
                  <a:lnTo>
                    <a:pt x="91821" y="5969000"/>
                  </a:lnTo>
                  <a:cubicBezTo>
                    <a:pt x="41148" y="5969000"/>
                    <a:pt x="0" y="5927852"/>
                    <a:pt x="0" y="587717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440412" y="2400300"/>
            <a:ext cx="4402836" cy="4183380"/>
            <a:chOff x="0" y="0"/>
            <a:chExt cx="5870448" cy="55778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870448" cy="5577840"/>
            </a:xfrm>
            <a:custGeom>
              <a:avLst/>
              <a:gdLst/>
              <a:ahLst/>
              <a:cxnLst/>
              <a:rect l="l" t="t" r="r" b="b"/>
              <a:pathLst>
                <a:path w="5870448" h="5577840">
                  <a:moveTo>
                    <a:pt x="0" y="0"/>
                  </a:moveTo>
                  <a:lnTo>
                    <a:pt x="5870448" y="0"/>
                  </a:lnTo>
                  <a:lnTo>
                    <a:pt x="5870448" y="5577840"/>
                  </a:lnTo>
                  <a:lnTo>
                    <a:pt x="0" y="5577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908" r="-7190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5870448" cy="5577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Perspectives</a:t>
              </a:r>
            </a:p>
            <a:p>
              <a:pPr algn="ctr">
                <a:lnSpc>
                  <a:spcPts val="3150"/>
                </a:lnSpc>
              </a:pPr>
              <a:endParaRPr lang="en-US" sz="2625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  <a:p>
              <a:pPr marL="566738" lvl="1" indent="-283369" algn="l">
                <a:lnSpc>
                  <a:spcPts val="3150"/>
                </a:lnSpc>
                <a:buFont typeface="Arial"/>
                <a:buChar char="•"/>
              </a:pPr>
              <a:r>
                <a:rPr lang="en-US" sz="262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Nouvelles règles</a:t>
              </a:r>
            </a:p>
            <a:p>
              <a:pPr marL="566738" lvl="1" indent="-283369" algn="l">
                <a:lnSpc>
                  <a:spcPts val="3150"/>
                </a:lnSpc>
                <a:buFont typeface="Arial"/>
                <a:buChar char="•"/>
              </a:pPr>
              <a:r>
                <a:rPr lang="en-US" sz="262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Ressources supplémentaires</a:t>
              </a:r>
            </a:p>
            <a:p>
              <a:pPr marL="566738" lvl="1" indent="-283369" algn="l">
                <a:lnSpc>
                  <a:spcPts val="3150"/>
                </a:lnSpc>
                <a:buFont typeface="Arial"/>
                <a:buChar char="•"/>
              </a:pPr>
              <a:r>
                <a:rPr lang="en-US" sz="2625" b="1">
                  <a:solidFill>
                    <a:srgbClr val="1F2A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Autres formats de sortie</a:t>
              </a:r>
            </a:p>
            <a:p>
              <a:pPr algn="ctr">
                <a:lnSpc>
                  <a:spcPts val="3150"/>
                </a:lnSpc>
              </a:pPr>
              <a:endParaRPr lang="en-US" sz="2625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886202" y="7597140"/>
            <a:ext cx="14538455" cy="75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rPr>
              <a:t>L’architecture actuelle reste extensible : ajouter une règle n’impose pas de modifier tout le pipeline.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4048"/>
            <a:ext cx="3634740" cy="342900"/>
            <a:chOff x="0" y="0"/>
            <a:chExt cx="4846320" cy="45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320" cy="457200"/>
            </a:xfrm>
            <a:custGeom>
              <a:avLst/>
              <a:gdLst/>
              <a:ahLst/>
              <a:cxnLst/>
              <a:rect l="l" t="t" r="r" b="b"/>
              <a:pathLst>
                <a:path w="4846320" h="457200">
                  <a:moveTo>
                    <a:pt x="0" y="0"/>
                  </a:moveTo>
                  <a:lnTo>
                    <a:pt x="4846320" y="0"/>
                  </a:lnTo>
                  <a:lnTo>
                    <a:pt x="4846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6541" b="-156541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6670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Conclusion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8096"/>
            <a:ext cx="16253460" cy="617220"/>
            <a:chOff x="0" y="0"/>
            <a:chExt cx="21671280" cy="8229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71280" cy="822960"/>
            </a:xfrm>
            <a:custGeom>
              <a:avLst/>
              <a:gdLst/>
              <a:ahLst/>
              <a:cxnLst/>
              <a:rect l="l" t="t" r="r" b="b"/>
              <a:pathLst>
                <a:path w="21671280" h="822960">
                  <a:moveTo>
                    <a:pt x="0" y="0"/>
                  </a:moveTo>
                  <a:lnTo>
                    <a:pt x="21671280" y="0"/>
                  </a:lnTo>
                  <a:lnTo>
                    <a:pt x="216712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3105" b="-46310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1671280" cy="842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1F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Conclusion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4020">
            <a:off x="1019165" y="1531430"/>
            <a:ext cx="16272520" cy="0"/>
          </a:xfrm>
          <a:prstGeom prst="line">
            <a:avLst/>
          </a:prstGeom>
          <a:ln w="9525" cap="rnd">
            <a:solidFill>
              <a:srgbClr val="C9D1D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28700" y="9793224"/>
            <a:ext cx="6858000" cy="246888"/>
            <a:chOff x="0" y="0"/>
            <a:chExt cx="9144000" cy="329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4000" cy="329184"/>
            </a:xfrm>
            <a:custGeom>
              <a:avLst/>
              <a:gdLst/>
              <a:ahLst/>
              <a:cxnLst/>
              <a:rect l="l" t="t" r="r" b="b"/>
              <a:pathLst>
                <a:path w="9144000" h="329184">
                  <a:moveTo>
                    <a:pt x="0" y="0"/>
                  </a:moveTo>
                  <a:lnTo>
                    <a:pt x="9144000" y="0"/>
                  </a:lnTo>
                  <a:lnTo>
                    <a:pt x="9144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1251" b="-4912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1440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Cloud Risk Assessment Tool — PFA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3520" y="9738360"/>
            <a:ext cx="548640" cy="274320"/>
            <a:chOff x="0" y="0"/>
            <a:chExt cx="731520" cy="365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0"/>
                  </a:moveTo>
                  <a:lnTo>
                    <a:pt x="731520" y="0"/>
                  </a:lnTo>
                  <a:lnTo>
                    <a:pt x="731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1520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667085"/>
                  </a:solidFill>
                  <a:latin typeface="Aptos"/>
                  <a:ea typeface="Aptos"/>
                  <a:cs typeface="Aptos"/>
                  <a:sym typeface="Aptos"/>
                </a:rPr>
                <a:t>24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71857" y="2263397"/>
            <a:ext cx="15498575" cy="987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rPr>
              <a:t>Le projet aboutit à deux implémentations cohérentes d’un même modèle d’évaluation Cloud.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430655" y="4105275"/>
            <a:ext cx="3928110" cy="1802130"/>
            <a:chOff x="0" y="0"/>
            <a:chExt cx="5237480" cy="24028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237480" cy="2402840"/>
            </a:xfrm>
            <a:custGeom>
              <a:avLst/>
              <a:gdLst/>
              <a:ahLst/>
              <a:cxnLst/>
              <a:rect l="l" t="t" r="r" b="b"/>
              <a:pathLst>
                <a:path w="5237480" h="2402840">
                  <a:moveTo>
                    <a:pt x="0" y="92456"/>
                  </a:moveTo>
                  <a:cubicBezTo>
                    <a:pt x="0" y="41402"/>
                    <a:pt x="41402" y="0"/>
                    <a:pt x="92456" y="0"/>
                  </a:cubicBezTo>
                  <a:lnTo>
                    <a:pt x="5145024" y="0"/>
                  </a:lnTo>
                  <a:cubicBezTo>
                    <a:pt x="5196078" y="0"/>
                    <a:pt x="5237480" y="41402"/>
                    <a:pt x="5237480" y="92456"/>
                  </a:cubicBezTo>
                  <a:lnTo>
                    <a:pt x="5237480" y="2310384"/>
                  </a:lnTo>
                  <a:cubicBezTo>
                    <a:pt x="5237480" y="2361438"/>
                    <a:pt x="5196078" y="2402840"/>
                    <a:pt x="5145024" y="2402840"/>
                  </a:cubicBezTo>
                  <a:lnTo>
                    <a:pt x="92456" y="2402840"/>
                  </a:lnTo>
                  <a:cubicBezTo>
                    <a:pt x="41402" y="2402840"/>
                    <a:pt x="0" y="2361438"/>
                    <a:pt x="0" y="2310384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604772" y="4251960"/>
            <a:ext cx="3579876" cy="1508760"/>
            <a:chOff x="0" y="0"/>
            <a:chExt cx="4773168" cy="20116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773168" cy="2011680"/>
            </a:xfrm>
            <a:custGeom>
              <a:avLst/>
              <a:gdLst/>
              <a:ahLst/>
              <a:cxnLst/>
              <a:rect l="l" t="t" r="r" b="b"/>
              <a:pathLst>
                <a:path w="4773168" h="2011680">
                  <a:moveTo>
                    <a:pt x="0" y="0"/>
                  </a:moveTo>
                  <a:lnTo>
                    <a:pt x="4773168" y="0"/>
                  </a:lnTo>
                  <a:lnTo>
                    <a:pt x="4773168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74" r="-4074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4773168" cy="20116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AWS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LocalStack + boto3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Score sur 10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191375" y="3693795"/>
            <a:ext cx="3928110" cy="2625090"/>
            <a:chOff x="0" y="0"/>
            <a:chExt cx="5237480" cy="35001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237480" cy="3500120"/>
            </a:xfrm>
            <a:custGeom>
              <a:avLst/>
              <a:gdLst/>
              <a:ahLst/>
              <a:cxnLst/>
              <a:rect l="l" t="t" r="r" b="b"/>
              <a:pathLst>
                <a:path w="5237480" h="3500120">
                  <a:moveTo>
                    <a:pt x="0" y="92075"/>
                  </a:moveTo>
                  <a:cubicBezTo>
                    <a:pt x="0" y="41275"/>
                    <a:pt x="41275" y="0"/>
                    <a:pt x="92075" y="0"/>
                  </a:cubicBezTo>
                  <a:lnTo>
                    <a:pt x="5145405" y="0"/>
                  </a:lnTo>
                  <a:cubicBezTo>
                    <a:pt x="5196332" y="0"/>
                    <a:pt x="5237480" y="41275"/>
                    <a:pt x="5237480" y="92075"/>
                  </a:cubicBezTo>
                  <a:lnTo>
                    <a:pt x="5237480" y="3408045"/>
                  </a:lnTo>
                  <a:cubicBezTo>
                    <a:pt x="5237480" y="3458972"/>
                    <a:pt x="5196205" y="3500120"/>
                    <a:pt x="5145405" y="3500120"/>
                  </a:cubicBezTo>
                  <a:lnTo>
                    <a:pt x="92075" y="3500120"/>
                  </a:lnTo>
                  <a:cubicBezTo>
                    <a:pt x="41148" y="3500120"/>
                    <a:pt x="0" y="3458845"/>
                    <a:pt x="0" y="3408045"/>
                  </a:cubicBezTo>
                  <a:close/>
                </a:path>
              </a:pathLst>
            </a:custGeom>
            <a:solidFill>
              <a:srgbClr val="1F2A44"/>
            </a:solidFill>
            <a:ln w="19050" cap="sq">
              <a:solidFill>
                <a:srgbClr val="1F2A44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365492" y="3840480"/>
            <a:ext cx="3579876" cy="2331720"/>
            <a:chOff x="0" y="0"/>
            <a:chExt cx="4773168" cy="31089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773168" cy="3108960"/>
            </a:xfrm>
            <a:custGeom>
              <a:avLst/>
              <a:gdLst/>
              <a:ahLst/>
              <a:cxnLst/>
              <a:rect l="l" t="t" r="r" b="b"/>
              <a:pathLst>
                <a:path w="4773168" h="3108960">
                  <a:moveTo>
                    <a:pt x="0" y="0"/>
                  </a:moveTo>
                  <a:lnTo>
                    <a:pt x="4773168" y="0"/>
                  </a:lnTo>
                  <a:lnTo>
                    <a:pt x="4773168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569" r="-33569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4773168" cy="3108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Pipeline commun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Discovery → Analysis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→ Scoring → Reporting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952095" y="4105275"/>
            <a:ext cx="3928110" cy="1802130"/>
            <a:chOff x="0" y="0"/>
            <a:chExt cx="5237480" cy="24028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237480" cy="2402840"/>
            </a:xfrm>
            <a:custGeom>
              <a:avLst/>
              <a:gdLst/>
              <a:ahLst/>
              <a:cxnLst/>
              <a:rect l="l" t="t" r="r" b="b"/>
              <a:pathLst>
                <a:path w="5237480" h="2402840">
                  <a:moveTo>
                    <a:pt x="0" y="92456"/>
                  </a:moveTo>
                  <a:cubicBezTo>
                    <a:pt x="0" y="41402"/>
                    <a:pt x="41402" y="0"/>
                    <a:pt x="92456" y="0"/>
                  </a:cubicBezTo>
                  <a:lnTo>
                    <a:pt x="5145024" y="0"/>
                  </a:lnTo>
                  <a:cubicBezTo>
                    <a:pt x="5196078" y="0"/>
                    <a:pt x="5237480" y="41402"/>
                    <a:pt x="5237480" y="92456"/>
                  </a:cubicBezTo>
                  <a:lnTo>
                    <a:pt x="5237480" y="2310384"/>
                  </a:lnTo>
                  <a:cubicBezTo>
                    <a:pt x="5237480" y="2361438"/>
                    <a:pt x="5196078" y="2402840"/>
                    <a:pt x="5145024" y="2402840"/>
                  </a:cubicBezTo>
                  <a:lnTo>
                    <a:pt x="92456" y="2402840"/>
                  </a:lnTo>
                  <a:cubicBezTo>
                    <a:pt x="41402" y="2402840"/>
                    <a:pt x="0" y="2361438"/>
                    <a:pt x="0" y="2310384"/>
                  </a:cubicBez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C9D1D9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3126212" y="4251960"/>
            <a:ext cx="3579876" cy="1508760"/>
            <a:chOff x="0" y="0"/>
            <a:chExt cx="4773168" cy="20116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773168" cy="2011680"/>
            </a:xfrm>
            <a:custGeom>
              <a:avLst/>
              <a:gdLst/>
              <a:ahLst/>
              <a:cxnLst/>
              <a:rect l="l" t="t" r="r" b="b"/>
              <a:pathLst>
                <a:path w="4773168" h="2011680">
                  <a:moveTo>
                    <a:pt x="0" y="0"/>
                  </a:moveTo>
                  <a:lnTo>
                    <a:pt x="4773168" y="0"/>
                  </a:lnTo>
                  <a:lnTo>
                    <a:pt x="4773168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74" r="-4074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4773168" cy="20116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Azure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Topaz + REST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17203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Score sur 100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817622" y="7319010"/>
            <a:ext cx="14675615" cy="89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1">
                <a:solidFill>
                  <a:srgbClr val="1F2A44"/>
                </a:solidFill>
                <a:latin typeface="Aptos Bold"/>
                <a:ea typeface="Aptos Bold"/>
                <a:cs typeface="Aptos Bold"/>
                <a:sym typeface="Aptos Bold"/>
              </a:rPr>
              <a:t>La solution découvre des ressources, détecte les configurations à risque, les priorise et produit un résultat lisible et réutilisable.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1621</Words>
  <Application>Microsoft Office PowerPoint</Application>
  <PresentationFormat>Custom</PresentationFormat>
  <Paragraphs>486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Georgia Bold</vt:lpstr>
      <vt:lpstr>Arial</vt:lpstr>
      <vt:lpstr>Aptos Bold</vt:lpstr>
      <vt:lpstr>Calibri</vt:lpstr>
      <vt:lpstr>Aptos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Rapport-Projet-Cloud.pptx</dc:title>
  <cp:lastModifiedBy>Khalid Khaled</cp:lastModifiedBy>
  <cp:revision>3</cp:revision>
  <dcterms:created xsi:type="dcterms:W3CDTF">2006-08-16T00:00:00Z</dcterms:created>
  <dcterms:modified xsi:type="dcterms:W3CDTF">2026-09-10T14:54:50Z</dcterms:modified>
  <dc:identifier>DAHRv3_vrGU</dc:identifier>
</cp:coreProperties>
</file>