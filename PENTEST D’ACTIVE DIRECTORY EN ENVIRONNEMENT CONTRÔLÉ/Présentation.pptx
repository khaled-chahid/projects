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Hagrid Text Bold" charset="1" panose="00000800000000000000"/>
      <p:regular r:id="rId42"/>
    </p:embeddedFont>
    <p:embeddedFont>
      <p:font typeface="Roboto" charset="1" panose="02000000000000000000"/>
      <p:regular r:id="rId43"/>
    </p:embeddedFont>
    <p:embeddedFont>
      <p:font typeface="Roboto Condensed" charset="1" panose="02000000000000000000"/>
      <p:regular r:id="rId44"/>
    </p:embeddedFont>
    <p:embeddedFont>
      <p:font typeface="Questrial" charset="1" panose="02000000000000000000"/>
      <p:regular r:id="rId45"/>
    </p:embeddedFont>
    <p:embeddedFont>
      <p:font typeface="Oswald Bold" charset="1" panose="00000800000000000000"/>
      <p:regular r:id="rId46"/>
    </p:embeddedFont>
    <p:embeddedFont>
      <p:font typeface="Calibri (MS) Bold" charset="1" panose="020F0702030404030204"/>
      <p:regular r:id="rId47"/>
    </p:embeddedFont>
    <p:embeddedFont>
      <p:font typeface="Calibri (MS)" charset="1" panose="020F0502020204030204"/>
      <p:regular r:id="rId48"/>
    </p:embeddedFont>
    <p:embeddedFont>
      <p:font typeface="Lato Bold" charset="1" panose="020F0502020204030203"/>
      <p:regular r:id="rId49"/>
    </p:embeddedFont>
    <p:embeddedFont>
      <p:font typeface="Calibri (MS) Bold Italics" charset="1" panose="020F07020304040A0204"/>
      <p:regular r:id="rId50"/>
    </p:embeddedFont>
    <p:embeddedFont>
      <p:font typeface="Lato" charset="1" panose="020F0502020204030203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4950" y="4750074"/>
            <a:ext cx="13985955" cy="181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6"/>
              </a:lnSpc>
            </a:pPr>
            <a:r>
              <a:rPr lang="en-US" b="true" sz="5076">
                <a:solidFill>
                  <a:srgbClr val="000000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 PENTEST D’ACTIVE DIRECTORY</a:t>
            </a:r>
          </a:p>
          <a:p>
            <a:pPr algn="ctr">
              <a:lnSpc>
                <a:spcPts val="7106"/>
              </a:lnSpc>
              <a:spcBef>
                <a:spcPct val="0"/>
              </a:spcBef>
            </a:pPr>
            <a:r>
              <a:rPr lang="en-US" b="true" sz="5076">
                <a:solidFill>
                  <a:srgbClr val="000000"/>
                </a:solidFill>
                <a:latin typeface="Hagrid Text Bold"/>
                <a:ea typeface="Hagrid Text Bold"/>
                <a:cs typeface="Hagrid Text Bold"/>
                <a:sym typeface="Hagrid Text Bold"/>
              </a:rPr>
              <a:t>EN ENVIRONNEMENT CONTRÔLÉ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314950" y="4625860"/>
            <a:ext cx="14036196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2314976" y="6778619"/>
            <a:ext cx="14036196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314976" y="4663960"/>
            <a:ext cx="0" cy="21146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332096" y="4644910"/>
            <a:ext cx="0" cy="21146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939404" y="393651"/>
            <a:ext cx="3117931" cy="1762309"/>
          </a:xfrm>
          <a:custGeom>
            <a:avLst/>
            <a:gdLst/>
            <a:ahLst/>
            <a:cxnLst/>
            <a:rect r="r" b="b" t="t" l="l"/>
            <a:pathLst>
              <a:path h="1762309" w="3117931">
                <a:moveTo>
                  <a:pt x="0" y="0"/>
                </a:moveTo>
                <a:lnTo>
                  <a:pt x="3117931" y="0"/>
                </a:lnTo>
                <a:lnTo>
                  <a:pt x="3117931" y="1762308"/>
                </a:lnTo>
                <a:lnTo>
                  <a:pt x="0" y="176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4283" y="219594"/>
            <a:ext cx="2471356" cy="2471356"/>
          </a:xfrm>
          <a:custGeom>
            <a:avLst/>
            <a:gdLst/>
            <a:ahLst/>
            <a:cxnLst/>
            <a:rect r="r" b="b" t="t" l="l"/>
            <a:pathLst>
              <a:path h="2471356" w="2471356">
                <a:moveTo>
                  <a:pt x="0" y="0"/>
                </a:moveTo>
                <a:lnTo>
                  <a:pt x="2471357" y="0"/>
                </a:lnTo>
                <a:lnTo>
                  <a:pt x="2471357" y="2471357"/>
                </a:lnTo>
                <a:lnTo>
                  <a:pt x="0" y="2471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03371" y="8076489"/>
            <a:ext cx="5424014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KHALED Chahid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OUTASRA Mohammed Amine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RACHDI Youssef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SEBBAR Oualid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55756" y="375524"/>
            <a:ext cx="8776488" cy="159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UNIVERSITÉ MOHAMMED PREMIER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ÉCOLE NATIONALE DES SCIENCES APPLIQUÉES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OUJDA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05340" y="2007892"/>
            <a:ext cx="10440572" cy="222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sz="33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RAPPORT DE PROJET DE FIN D’ANNÉE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FILIÈRE : SÉCURITÉ INFORMATIQUE &amp; CYBER SÉCURITÉ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PRÉSENTÉ LE : 26/06/2026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29217" y="7417918"/>
            <a:ext cx="5928118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ENCADRÉ PAR : 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43559" y="9857740"/>
            <a:ext cx="4600882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ANNÉE UN</a:t>
            </a:r>
            <a:r>
              <a:rPr lang="en-US" sz="2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IVERSITAIRE 2025 - 2026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3559" y="7448398"/>
            <a:ext cx="199390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RÉALISÉ PAR</a:t>
            </a:r>
            <a:r>
              <a:rPr lang="en-US" b="true" sz="2699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7738" y="7448398"/>
            <a:ext cx="2830513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MEMBRE</a:t>
            </a:r>
            <a:r>
              <a:rPr lang="en-US" b="true" sz="2699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S </a:t>
            </a:r>
            <a:r>
              <a:rPr lang="en-US" b="true" sz="2699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DU JU</a:t>
            </a:r>
            <a:r>
              <a:rPr lang="en-US" b="true" sz="2699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R</a:t>
            </a:r>
            <a:r>
              <a:rPr lang="en-US" b="true" sz="2699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Y</a:t>
            </a:r>
            <a:r>
              <a:rPr lang="en-US" b="true" sz="2699" strike="noStrike" u="non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3191" y="8194675"/>
            <a:ext cx="3647827" cy="12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Prof. JABRI Youssef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Prof. REGAD Youssef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Prof. Malek Rachid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69363" y="8187539"/>
            <a:ext cx="3647827" cy="41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Mr. Jabri Youssef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9265" y="1905874"/>
            <a:ext cx="10416259" cy="7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3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Concepts fondamentaux</a:t>
            </a:r>
            <a:r>
              <a:rPr lang="en-US" sz="3849">
                <a:solidFill>
                  <a:srgbClr val="030303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 problématique</a:t>
            </a:r>
          </a:p>
          <a:p>
            <a:pPr algn="l">
              <a:lnSpc>
                <a:spcPts val="7333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Planification et méthodologie</a:t>
            </a:r>
          </a:p>
          <a:p>
            <a:pPr algn="l">
              <a:lnSpc>
                <a:spcPts val="7333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Mise en place du lab</a:t>
            </a:r>
          </a:p>
          <a:p>
            <a:pPr algn="l">
              <a:lnSpc>
                <a:spcPts val="7333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Accès initial</a:t>
            </a:r>
          </a:p>
          <a:p>
            <a:pPr algn="l">
              <a:lnSpc>
                <a:spcPts val="6401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Attaque authentifiée</a:t>
            </a:r>
          </a:p>
          <a:p>
            <a:pPr algn="l">
              <a:lnSpc>
                <a:spcPts val="9196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Compromission du domaine</a:t>
            </a:r>
          </a:p>
          <a:p>
            <a:pPr algn="l">
              <a:lnSpc>
                <a:spcPts val="6401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Analyse des risques et remédiation</a:t>
            </a:r>
          </a:p>
          <a:p>
            <a:pPr algn="l">
              <a:lnSpc>
                <a:spcPts val="9119"/>
              </a:lnSpc>
            </a:pP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lang="en-US" b="true" sz="384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1250" y="853297"/>
            <a:ext cx="8451383" cy="76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6"/>
              </a:lnSpc>
              <a:spcBef>
                <a:spcPct val="0"/>
              </a:spcBef>
            </a:pPr>
            <a:r>
              <a:rPr lang="en-US" b="true" sz="6207" spc="-310">
                <a:solidFill>
                  <a:srgbClr val="030303"/>
                </a:solidFill>
                <a:latin typeface="Lato Bold"/>
                <a:ea typeface="Lato Bold"/>
                <a:cs typeface="Lato Bold"/>
                <a:sym typeface="Lato Bold"/>
              </a:rPr>
              <a:t>Plan de la présentation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44038"/>
            <a:ext cx="356141" cy="210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1"/>
              </a:lnSpc>
              <a:spcBef>
                <a:spcPct val="0"/>
              </a:spcBef>
            </a:pPr>
            <a:r>
              <a:rPr lang="en-US" b="true" sz="10785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588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2098" y="4097230"/>
            <a:ext cx="14870179" cy="104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Concepts fondamentaux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96006" y="1827603"/>
            <a:ext cx="8695987" cy="4565393"/>
          </a:xfrm>
          <a:custGeom>
            <a:avLst/>
            <a:gdLst/>
            <a:ahLst/>
            <a:cxnLst/>
            <a:rect r="r" b="b" t="t" l="l"/>
            <a:pathLst>
              <a:path h="4565393" w="8695987">
                <a:moveTo>
                  <a:pt x="0" y="0"/>
                </a:moveTo>
                <a:lnTo>
                  <a:pt x="8695988" y="0"/>
                </a:lnTo>
                <a:lnTo>
                  <a:pt x="8695988" y="4565393"/>
                </a:lnTo>
                <a:lnTo>
                  <a:pt x="0" y="456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725" y="853297"/>
            <a:ext cx="4455816" cy="76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6"/>
              </a:lnSpc>
              <a:spcBef>
                <a:spcPct val="0"/>
              </a:spcBef>
            </a:pPr>
            <a:r>
              <a:rPr lang="en-US" b="true" sz="6207" spc="-310">
                <a:solidFill>
                  <a:srgbClr val="030303"/>
                </a:solidFill>
                <a:latin typeface="Lato Bold"/>
                <a:ea typeface="Lato Bold"/>
                <a:cs typeface="Lato Bold"/>
                <a:sym typeface="Lato Bold"/>
              </a:rPr>
              <a:t>Définition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44038"/>
            <a:ext cx="356141" cy="210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1"/>
              </a:lnSpc>
              <a:spcBef>
                <a:spcPct val="0"/>
              </a:spcBef>
            </a:pPr>
            <a:r>
              <a:rPr lang="en-US" b="true" sz="10785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0675" y="6712638"/>
            <a:ext cx="7893730" cy="78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5"/>
              </a:lnSpc>
            </a:pPr>
            <a:r>
              <a:rPr lang="en-US" b="true" sz="3983">
                <a:solidFill>
                  <a:srgbClr val="004A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Protocoles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8024" y="7479792"/>
            <a:ext cx="10882344" cy="253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89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Lightweight 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Directory Access Protocol (LDAP)</a:t>
            </a:r>
          </a:p>
          <a:p>
            <a:pPr algn="l" marL="734058" indent="-367029" lvl="1">
              <a:lnSpc>
                <a:spcPts val="489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Kerberos</a:t>
            </a:r>
          </a:p>
          <a:p>
            <a:pPr algn="l" marL="734058" indent="-367029" lvl="1">
              <a:lnSpc>
                <a:spcPts val="489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Domain Name System (DNS)</a:t>
            </a:r>
          </a:p>
          <a:p>
            <a:pPr algn="l">
              <a:lnSpc>
                <a:spcPts val="489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81725" y="7105346"/>
            <a:ext cx="358052" cy="179026"/>
            <a:chOff x="0" y="0"/>
            <a:chExt cx="8128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141" y="1683643"/>
            <a:ext cx="7017280" cy="1417697"/>
            <a:chOff x="0" y="0"/>
            <a:chExt cx="2603624" cy="526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3627" cy="526004"/>
            </a:xfrm>
            <a:custGeom>
              <a:avLst/>
              <a:gdLst/>
              <a:ahLst/>
              <a:cxnLst/>
              <a:rect r="r" b="b" t="t" l="l"/>
              <a:pathLst>
                <a:path h="526004" w="2603627">
                  <a:moveTo>
                    <a:pt x="0" y="0"/>
                  </a:moveTo>
                  <a:lnTo>
                    <a:pt x="2603627" y="0"/>
                  </a:lnTo>
                  <a:lnTo>
                    <a:pt x="2603627" y="526004"/>
                  </a:lnTo>
                  <a:lnTo>
                    <a:pt x="0" y="526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0" r="-78938" b="-12258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603624" cy="668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68"/>
                </a:lnSpc>
              </a:pPr>
              <a:r>
                <a:rPr lang="en-US" sz="3311" b="true">
                  <a:solidFill>
                    <a:srgbClr val="004A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 </a:t>
              </a:r>
              <a:r>
                <a:rPr lang="en-US" sz="3311" b="true">
                  <a:solidFill>
                    <a:srgbClr val="004A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 logique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22738" y="1758500"/>
            <a:ext cx="7655612" cy="1267982"/>
            <a:chOff x="0" y="0"/>
            <a:chExt cx="2940392" cy="4870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0395" cy="487007"/>
            </a:xfrm>
            <a:custGeom>
              <a:avLst/>
              <a:gdLst/>
              <a:ahLst/>
              <a:cxnLst/>
              <a:rect r="r" b="b" t="t" l="l"/>
              <a:pathLst>
                <a:path h="487007" w="2940395">
                  <a:moveTo>
                    <a:pt x="0" y="0"/>
                  </a:moveTo>
                  <a:lnTo>
                    <a:pt x="2940395" y="0"/>
                  </a:lnTo>
                  <a:lnTo>
                    <a:pt x="2940395" y="487007"/>
                  </a:lnTo>
                  <a:lnTo>
                    <a:pt x="0" y="4870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884" r="0" b="-25188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2940392" cy="629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68"/>
                </a:lnSpc>
              </a:pPr>
              <a:r>
                <a:rPr lang="en-US" sz="3311" b="true">
                  <a:solidFill>
                    <a:srgbClr val="004A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 physique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780347" y="5295900"/>
            <a:ext cx="9068510" cy="4963315"/>
          </a:xfrm>
          <a:custGeom>
            <a:avLst/>
            <a:gdLst/>
            <a:ahLst/>
            <a:cxnLst/>
            <a:rect r="r" b="b" t="t" l="l"/>
            <a:pathLst>
              <a:path h="4963315" w="9068510">
                <a:moveTo>
                  <a:pt x="0" y="0"/>
                </a:moveTo>
                <a:lnTo>
                  <a:pt x="9068509" y="0"/>
                </a:lnTo>
                <a:lnTo>
                  <a:pt x="9068509" y="4963315"/>
                </a:lnTo>
                <a:lnTo>
                  <a:pt x="0" y="4963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09" r="0" b="-894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41834" y="2302978"/>
            <a:ext cx="358052" cy="179026"/>
            <a:chOff x="0" y="0"/>
            <a:chExt cx="8128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50270" y="849279"/>
            <a:ext cx="5272730" cy="7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8"/>
              </a:lnSpc>
              <a:spcBef>
                <a:spcPct val="0"/>
              </a:spcBef>
            </a:pPr>
            <a:r>
              <a:rPr lang="en-US" b="true" sz="6209" spc="-31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Architecture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0677" y="2740733"/>
            <a:ext cx="8830638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Contrôleurs de Domaine (DC) </a:t>
            </a:r>
          </a:p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Serveurs de catalogue global (Global Catalog)</a:t>
            </a:r>
          </a:p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Maîtres des opérations (FSMO)</a:t>
            </a:r>
          </a:p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Contrôleurs de domaine en lecture seule (RODC)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6844" y="2740733"/>
            <a:ext cx="518700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Domains</a:t>
            </a:r>
          </a:p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Arbres (Trees)</a:t>
            </a:r>
          </a:p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Forêts (Forests)</a:t>
            </a:r>
          </a:p>
          <a:p>
            <a:pPr algn="l" marL="647700" indent="-323850" lvl="1">
              <a:lnSpc>
                <a:spcPts val="432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Unités d’Organisation (OU)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2200" y="-44038"/>
            <a:ext cx="356141" cy="210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1"/>
              </a:lnSpc>
              <a:spcBef>
                <a:spcPct val="0"/>
              </a:spcBef>
            </a:pPr>
            <a:r>
              <a:rPr lang="en-US" b="true" sz="10785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95809" y="2302978"/>
            <a:ext cx="358052" cy="179026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6128" y="3771961"/>
            <a:ext cx="11715744" cy="4933889"/>
          </a:xfrm>
          <a:custGeom>
            <a:avLst/>
            <a:gdLst/>
            <a:ahLst/>
            <a:cxnLst/>
            <a:rect r="r" b="b" t="t" l="l"/>
            <a:pathLst>
              <a:path h="4933889" w="11715744">
                <a:moveTo>
                  <a:pt x="0" y="0"/>
                </a:moveTo>
                <a:lnTo>
                  <a:pt x="11715744" y="0"/>
                </a:lnTo>
                <a:lnTo>
                  <a:pt x="11715744" y="4933889"/>
                </a:lnTo>
                <a:lnTo>
                  <a:pt x="0" y="493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42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0270" y="849279"/>
            <a:ext cx="5272730" cy="7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8"/>
              </a:lnSpc>
              <a:spcBef>
                <a:spcPct val="0"/>
              </a:spcBef>
            </a:pPr>
            <a:r>
              <a:rPr lang="en-US" b="true" sz="6209" spc="-31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Architecture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44038"/>
            <a:ext cx="356141" cy="210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1"/>
              </a:lnSpc>
              <a:spcBef>
                <a:spcPct val="0"/>
              </a:spcBef>
            </a:pPr>
            <a:r>
              <a:rPr lang="en-US" b="true" sz="10785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9894" y="2617927"/>
            <a:ext cx="7893730" cy="7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b="true" sz="3583">
                <a:solidFill>
                  <a:srgbClr val="004A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Objets Fondamentaux de l'Annuaire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98775" y="2959581"/>
            <a:ext cx="358052" cy="179026"/>
            <a:chOff x="0" y="0"/>
            <a:chExt cx="8128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2404" y="3106678"/>
            <a:ext cx="15823192" cy="328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2"/>
              </a:lnSpc>
            </a:pPr>
          </a:p>
          <a:p>
            <a:pPr algn="ctr">
              <a:lnSpc>
                <a:spcPts val="5122"/>
              </a:lnSpc>
            </a:pPr>
            <a:r>
              <a:rPr lang="en-US" b="true" sz="3658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Comment évaluer concrètement, à travers une démarche offensive structurée, les vulnérabilités d'un environnement Active Directory ?</a:t>
            </a:r>
          </a:p>
          <a:p>
            <a:pPr algn="ctr">
              <a:lnSpc>
                <a:spcPts val="5122"/>
              </a:lnSpc>
            </a:pPr>
          </a:p>
          <a:p>
            <a:pPr algn="ctr">
              <a:lnSpc>
                <a:spcPts val="512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156204" y="849279"/>
            <a:ext cx="6067428" cy="7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8"/>
              </a:lnSpc>
              <a:spcBef>
                <a:spcPct val="0"/>
              </a:spcBef>
            </a:pPr>
            <a:r>
              <a:rPr lang="en-US" b="true" sz="6209" spc="-31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Problématique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44038"/>
            <a:ext cx="356141" cy="210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1"/>
              </a:lnSpc>
              <a:spcBef>
                <a:spcPct val="0"/>
              </a:spcBef>
            </a:pPr>
            <a:r>
              <a:rPr lang="en-US" b="true" sz="10785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3583" y="2738184"/>
            <a:ext cx="7821276" cy="883057"/>
            <a:chOff x="0" y="0"/>
            <a:chExt cx="4658881" cy="526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58884" cy="526004"/>
            </a:xfrm>
            <a:custGeom>
              <a:avLst/>
              <a:gdLst/>
              <a:ahLst/>
              <a:cxnLst/>
              <a:rect r="r" b="b" t="t" l="l"/>
              <a:pathLst>
                <a:path h="526004" w="4658884">
                  <a:moveTo>
                    <a:pt x="0" y="0"/>
                  </a:moveTo>
                  <a:lnTo>
                    <a:pt x="4658884" y="0"/>
                  </a:lnTo>
                  <a:lnTo>
                    <a:pt x="4658884" y="526004"/>
                  </a:lnTo>
                  <a:lnTo>
                    <a:pt x="0" y="526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580" r="0" b="-12258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80975"/>
              <a:ext cx="4658881" cy="706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85184" indent="-442592" lvl="1">
                <a:lnSpc>
                  <a:spcPts val="5903"/>
                </a:lnSpc>
                <a:buFont typeface="Arial"/>
                <a:buChar char="•"/>
              </a:pPr>
              <a:r>
                <a:rPr lang="en-US" b="true" sz="4099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Déploiement du lab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33583" y="4077819"/>
            <a:ext cx="7555472" cy="820109"/>
            <a:chOff x="0" y="0"/>
            <a:chExt cx="4658881" cy="505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58884" cy="505694"/>
            </a:xfrm>
            <a:custGeom>
              <a:avLst/>
              <a:gdLst/>
              <a:ahLst/>
              <a:cxnLst/>
              <a:rect r="r" b="b" t="t" l="l"/>
              <a:pathLst>
                <a:path h="505694" w="4658884">
                  <a:moveTo>
                    <a:pt x="0" y="0"/>
                  </a:moveTo>
                  <a:lnTo>
                    <a:pt x="4658884" y="0"/>
                  </a:lnTo>
                  <a:lnTo>
                    <a:pt x="4658884" y="505694"/>
                  </a:lnTo>
                  <a:lnTo>
                    <a:pt x="0" y="5056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04" r="0" b="-131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80975"/>
              <a:ext cx="4658881" cy="686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85184" indent="-442592" lvl="1">
                <a:lnSpc>
                  <a:spcPts val="5903"/>
                </a:lnSpc>
                <a:buFont typeface="Arial"/>
                <a:buChar char="•"/>
              </a:pPr>
              <a:r>
                <a:rPr lang="en-US" b="true" sz="4099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Vulnérabilisation Contrôlée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33583" y="5328734"/>
            <a:ext cx="6791435" cy="864373"/>
            <a:chOff x="0" y="0"/>
            <a:chExt cx="4132885" cy="5260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32882" cy="526004"/>
            </a:xfrm>
            <a:custGeom>
              <a:avLst/>
              <a:gdLst/>
              <a:ahLst/>
              <a:cxnLst/>
              <a:rect r="r" b="b" t="t" l="l"/>
              <a:pathLst>
                <a:path h="526004" w="4132882">
                  <a:moveTo>
                    <a:pt x="0" y="0"/>
                  </a:moveTo>
                  <a:lnTo>
                    <a:pt x="4132882" y="0"/>
                  </a:lnTo>
                  <a:lnTo>
                    <a:pt x="4132882" y="526004"/>
                  </a:lnTo>
                  <a:lnTo>
                    <a:pt x="0" y="526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80975"/>
              <a:ext cx="4132885" cy="706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85184" indent="-442592" lvl="1">
                <a:lnSpc>
                  <a:spcPts val="5903"/>
                </a:lnSpc>
                <a:buFont typeface="Arial"/>
                <a:buChar char="•"/>
              </a:pPr>
              <a:r>
                <a:rPr lang="en-US" b="true" sz="4099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Offensif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33583" y="6654219"/>
            <a:ext cx="6837210" cy="894596"/>
            <a:chOff x="0" y="0"/>
            <a:chExt cx="4020172" cy="5260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0166" cy="526004"/>
            </a:xfrm>
            <a:custGeom>
              <a:avLst/>
              <a:gdLst/>
              <a:ahLst/>
              <a:cxnLst/>
              <a:rect r="r" b="b" t="t" l="l"/>
              <a:pathLst>
                <a:path h="526004" w="4020166">
                  <a:moveTo>
                    <a:pt x="0" y="0"/>
                  </a:moveTo>
                  <a:lnTo>
                    <a:pt x="4020166" y="0"/>
                  </a:lnTo>
                  <a:lnTo>
                    <a:pt x="4020166" y="526004"/>
                  </a:lnTo>
                  <a:lnTo>
                    <a:pt x="0" y="526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920" r="0" b="-989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80975"/>
              <a:ext cx="4020172" cy="706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85184" indent="-442592" lvl="1">
                <a:lnSpc>
                  <a:spcPts val="5903"/>
                </a:lnSpc>
                <a:buFont typeface="Arial"/>
                <a:buChar char="•"/>
              </a:pPr>
              <a:r>
                <a:rPr lang="en-US" b="true" sz="4099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Analyse &amp; Remédiation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50270" y="849279"/>
            <a:ext cx="6994577" cy="7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8"/>
              </a:lnSpc>
              <a:spcBef>
                <a:spcPct val="0"/>
              </a:spcBef>
            </a:pPr>
            <a:r>
              <a:rPr lang="en-US" b="true" sz="6209" spc="-31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Objectifs du projet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2200" y="-44038"/>
            <a:ext cx="356141" cy="210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1"/>
              </a:lnSpc>
              <a:spcBef>
                <a:spcPct val="0"/>
              </a:spcBef>
            </a:pPr>
            <a:r>
              <a:rPr lang="en-US" b="true" sz="10785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588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2098" y="4097230"/>
            <a:ext cx="14870179" cy="104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Planification du projet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4600" y="1465873"/>
            <a:ext cx="7062035" cy="724493"/>
            <a:chOff x="0" y="0"/>
            <a:chExt cx="8920137" cy="915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20128" cy="915119"/>
            </a:xfrm>
            <a:custGeom>
              <a:avLst/>
              <a:gdLst/>
              <a:ahLst/>
              <a:cxnLst/>
              <a:rect r="r" b="b" t="t" l="l"/>
              <a:pathLst>
                <a:path h="915119" w="8920128">
                  <a:moveTo>
                    <a:pt x="0" y="0"/>
                  </a:moveTo>
                  <a:lnTo>
                    <a:pt x="8920128" y="0"/>
                  </a:lnTo>
                  <a:lnTo>
                    <a:pt x="892012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32290" b="-786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920137" cy="96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1"/>
                </a:lnSpc>
              </a:pPr>
              <a:r>
                <a:rPr lang="en-US" sz="2826" b="true">
                  <a:solidFill>
                    <a:srgbClr val="16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Penetration Testing Execution Standard (PTES)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71424" y="2190365"/>
            <a:ext cx="10345151" cy="7753993"/>
          </a:xfrm>
          <a:custGeom>
            <a:avLst/>
            <a:gdLst/>
            <a:ahLst/>
            <a:cxnLst/>
            <a:rect r="r" b="b" t="t" l="l"/>
            <a:pathLst>
              <a:path h="7753993" w="10345151">
                <a:moveTo>
                  <a:pt x="0" y="0"/>
                </a:moveTo>
                <a:lnTo>
                  <a:pt x="10345152" y="0"/>
                </a:lnTo>
                <a:lnTo>
                  <a:pt x="10345152" y="7753993"/>
                </a:lnTo>
                <a:lnTo>
                  <a:pt x="0" y="7753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3400" y="501182"/>
            <a:ext cx="7910600" cy="69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Méthodologie Adoptée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9154" y="3138123"/>
            <a:ext cx="11081019" cy="5177197"/>
          </a:xfrm>
          <a:custGeom>
            <a:avLst/>
            <a:gdLst/>
            <a:ahLst/>
            <a:cxnLst/>
            <a:rect r="r" b="b" t="t" l="l"/>
            <a:pathLst>
              <a:path h="5177197" w="11081019">
                <a:moveTo>
                  <a:pt x="0" y="0"/>
                </a:moveTo>
                <a:lnTo>
                  <a:pt x="11081019" y="0"/>
                </a:lnTo>
                <a:lnTo>
                  <a:pt x="11081019" y="5177198"/>
                </a:lnTo>
                <a:lnTo>
                  <a:pt x="0" y="5177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3400" y="1818515"/>
            <a:ext cx="11531441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projet s'est étalé sur une durée de 4 mois, du 26 février au 19 juin 2026.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3450" y="501130"/>
            <a:ext cx="7910600" cy="69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Diagramme de Gannt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588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2098" y="4097402"/>
            <a:ext cx="14870179" cy="10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Mise en place du LAB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9479" y="2507111"/>
            <a:ext cx="13225535" cy="7219799"/>
          </a:xfrm>
          <a:custGeom>
            <a:avLst/>
            <a:gdLst/>
            <a:ahLst/>
            <a:cxnLst/>
            <a:rect r="r" b="b" t="t" l="l"/>
            <a:pathLst>
              <a:path h="7219799" w="13225535">
                <a:moveTo>
                  <a:pt x="0" y="0"/>
                </a:moveTo>
                <a:lnTo>
                  <a:pt x="13225535" y="0"/>
                </a:lnTo>
                <a:lnTo>
                  <a:pt x="13225535" y="7219800"/>
                </a:lnTo>
                <a:lnTo>
                  <a:pt x="0" y="7219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8697" y="1285922"/>
            <a:ext cx="16350606" cy="124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 segmentation réseau isole l'infrastructure Active Directory de la machine d'attaque, imposant le passage par un serveur pivot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3450" y="501117"/>
            <a:ext cx="7910600" cy="6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Segmentation Réseau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386117" y="1613081"/>
          <a:ext cx="9244012" cy="5657850"/>
        </p:xfrm>
        <a:graphic>
          <a:graphicData uri="http://schemas.openxmlformats.org/presentationml/2006/ole">
            <p:oleObj imgW="11087100" imgH="7505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933450" y="501117"/>
            <a:ext cx="10328056" cy="6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Configuration des vulnérabilités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45451" y="1883730"/>
            <a:ext cx="11939999" cy="6519539"/>
          </a:xfrm>
          <a:custGeom>
            <a:avLst/>
            <a:gdLst/>
            <a:ahLst/>
            <a:cxnLst/>
            <a:rect r="r" b="b" t="t" l="l"/>
            <a:pathLst>
              <a:path h="6519539" w="11939999">
                <a:moveTo>
                  <a:pt x="0" y="0"/>
                </a:moveTo>
                <a:lnTo>
                  <a:pt x="11939999" y="0"/>
                </a:lnTo>
                <a:lnTo>
                  <a:pt x="11939999" y="6519540"/>
                </a:lnTo>
                <a:lnTo>
                  <a:pt x="0" y="6519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155480" y="483972"/>
            <a:ext cx="10328056" cy="69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Chaîne d’attaque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588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2098" y="4097230"/>
            <a:ext cx="14870179" cy="104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Accès initial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4693" y="3297453"/>
            <a:ext cx="12055038" cy="6450404"/>
          </a:xfrm>
          <a:custGeom>
            <a:avLst/>
            <a:gdLst/>
            <a:ahLst/>
            <a:cxnLst/>
            <a:rect r="r" b="b" t="t" l="l"/>
            <a:pathLst>
              <a:path h="6450404" w="12055038">
                <a:moveTo>
                  <a:pt x="0" y="0"/>
                </a:moveTo>
                <a:lnTo>
                  <a:pt x="12055038" y="0"/>
                </a:lnTo>
                <a:lnTo>
                  <a:pt x="12055038" y="6450404"/>
                </a:lnTo>
                <a:lnTo>
                  <a:pt x="0" y="6450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9221" y="485994"/>
            <a:ext cx="13793877" cy="197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9"/>
              </a:lnSpc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Découverte de la fonctionnalité File Upload</a:t>
            </a:r>
          </a:p>
          <a:p>
            <a:pPr algn="ctr">
              <a:lnSpc>
                <a:spcPts val="5059"/>
              </a:lnSpc>
            </a:pPr>
          </a:p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212" y="1550760"/>
            <a:ext cx="17110088" cy="251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8" indent="-367029" lvl="1">
              <a:lnSpc>
                <a:spcPts val="4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Après la phase de reconnaissance, une fonctionnalité File Upload a été identifiée sur l'application web.</a:t>
            </a:r>
          </a:p>
          <a:p>
            <a:pPr algn="l">
              <a:lnSpc>
                <a:spcPts val="4895"/>
              </a:lnSpc>
              <a:spcBef>
                <a:spcPct val="0"/>
              </a:spcBef>
            </a:pPr>
          </a:p>
          <a:p>
            <a:pPr algn="l">
              <a:lnSpc>
                <a:spcPts val="48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939" y="4009213"/>
            <a:ext cx="16994123" cy="2935862"/>
          </a:xfrm>
          <a:custGeom>
            <a:avLst/>
            <a:gdLst/>
            <a:ahLst/>
            <a:cxnLst/>
            <a:rect r="r" b="b" t="t" l="l"/>
            <a:pathLst>
              <a:path h="2935862" w="16994123">
                <a:moveTo>
                  <a:pt x="0" y="0"/>
                </a:moveTo>
                <a:lnTo>
                  <a:pt x="16994122" y="0"/>
                </a:lnTo>
                <a:lnTo>
                  <a:pt x="16994122" y="2935861"/>
                </a:lnTo>
                <a:lnTo>
                  <a:pt x="0" y="2935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35833"/>
            <a:ext cx="13793877" cy="13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9"/>
              </a:lnSpc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Obtention d'un accès au serveur web</a:t>
            </a:r>
          </a:p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0973" y="2048967"/>
            <a:ext cx="17110088" cy="19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Upload d'un script PHP Reverse Shell, permettant d'obtenir un accès CMD sur le serveur web et de recevoir une connexion sur la machine d'attaque Kali Linux.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2244" y="1613081"/>
            <a:ext cx="10978332" cy="6012748"/>
          </a:xfrm>
          <a:custGeom>
            <a:avLst/>
            <a:gdLst/>
            <a:ahLst/>
            <a:cxnLst/>
            <a:rect r="r" b="b" t="t" l="l"/>
            <a:pathLst>
              <a:path h="6012748" w="10978332">
                <a:moveTo>
                  <a:pt x="0" y="0"/>
                </a:moveTo>
                <a:lnTo>
                  <a:pt x="10978332" y="0"/>
                </a:lnTo>
                <a:lnTo>
                  <a:pt x="10978332" y="6012748"/>
                </a:lnTo>
                <a:lnTo>
                  <a:pt x="0" y="6012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2244" y="8613522"/>
            <a:ext cx="10978332" cy="1289556"/>
          </a:xfrm>
          <a:custGeom>
            <a:avLst/>
            <a:gdLst/>
            <a:ahLst/>
            <a:cxnLst/>
            <a:rect r="r" b="b" t="t" l="l"/>
            <a:pathLst>
              <a:path h="1289556" w="10978332">
                <a:moveTo>
                  <a:pt x="0" y="0"/>
                </a:moveTo>
                <a:lnTo>
                  <a:pt x="10978332" y="0"/>
                </a:lnTo>
                <a:lnTo>
                  <a:pt x="10978332" y="1289556"/>
                </a:lnTo>
                <a:lnTo>
                  <a:pt x="0" y="1289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14" t="-2795" r="-1574" b="-279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6699" y="435833"/>
            <a:ext cx="13793877" cy="13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9"/>
              </a:lnSpc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Pivoting avec Dynamic Port Forwarding</a:t>
            </a:r>
          </a:p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701528"/>
            <a:ext cx="17110088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Commande 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6402" y="4976407"/>
            <a:ext cx="10640885" cy="4881341"/>
          </a:xfrm>
          <a:custGeom>
            <a:avLst/>
            <a:gdLst/>
            <a:ahLst/>
            <a:cxnLst/>
            <a:rect r="r" b="b" t="t" l="l"/>
            <a:pathLst>
              <a:path h="4881341" w="10640885">
                <a:moveTo>
                  <a:pt x="0" y="0"/>
                </a:moveTo>
                <a:lnTo>
                  <a:pt x="10640885" y="0"/>
                </a:lnTo>
                <a:lnTo>
                  <a:pt x="10640885" y="4881341"/>
                </a:lnTo>
                <a:lnTo>
                  <a:pt x="0" y="4881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912652" y="435833"/>
            <a:ext cx="13793877" cy="13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9"/>
              </a:lnSpc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Énumération du réseau interne</a:t>
            </a:r>
          </a:p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13767" y="1460681"/>
            <a:ext cx="11413520" cy="341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504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Scan Nmap :</a:t>
            </a:r>
          </a:p>
          <a:p>
            <a:pPr algn="l" marL="628437" indent="-314219" lvl="1">
              <a:lnSpc>
                <a:spcPts val="4191"/>
              </a:lnSpc>
              <a:buFont typeface="Arial"/>
              <a:buChar char="•"/>
            </a:pPr>
            <a:r>
              <a:rPr lang="en-US" b="true" sz="29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192.168.100.10 → Domain Controller</a:t>
            </a:r>
          </a:p>
          <a:p>
            <a:pPr algn="l" marL="628437" indent="-314219" lvl="1">
              <a:lnSpc>
                <a:spcPts val="4191"/>
              </a:lnSpc>
              <a:buFont typeface="Arial"/>
              <a:buChar char="•"/>
            </a:pPr>
            <a:r>
              <a:rPr lang="en-US" b="true" sz="29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192.168.100.20 → Windows 11 Client 01</a:t>
            </a:r>
          </a:p>
          <a:p>
            <a:pPr algn="l" marL="628437" indent="-314219" lvl="1">
              <a:lnSpc>
                <a:spcPts val="4191"/>
              </a:lnSpc>
              <a:buFont typeface="Arial"/>
              <a:buChar char="•"/>
            </a:pPr>
            <a:r>
              <a:rPr lang="en-US" b="true" sz="29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192.168.100.21 → Windows 11 Client 02</a:t>
            </a:r>
          </a:p>
          <a:p>
            <a:pPr algn="l">
              <a:lnSpc>
                <a:spcPts val="4191"/>
              </a:lnSpc>
            </a:pPr>
          </a:p>
          <a:p>
            <a:pPr algn="l">
              <a:lnSpc>
                <a:spcPts val="5055"/>
              </a:lnSpc>
              <a:spcBef>
                <a:spcPct val="0"/>
              </a:spcBef>
            </a:pPr>
            <a:r>
              <a:rPr lang="en-US" b="true" sz="35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Identification des comptes Active Directory avec Kerbrute 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92005" y="3380328"/>
            <a:ext cx="13366703" cy="6129483"/>
          </a:xfrm>
          <a:custGeom>
            <a:avLst/>
            <a:gdLst/>
            <a:ahLst/>
            <a:cxnLst/>
            <a:rect r="r" b="b" t="t" l="l"/>
            <a:pathLst>
              <a:path h="6129483" w="13366703">
                <a:moveTo>
                  <a:pt x="0" y="0"/>
                </a:moveTo>
                <a:lnTo>
                  <a:pt x="13366703" y="0"/>
                </a:lnTo>
                <a:lnTo>
                  <a:pt x="13366703" y="6129482"/>
                </a:lnTo>
                <a:lnTo>
                  <a:pt x="0" y="612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596986" y="461192"/>
            <a:ext cx="13793877" cy="69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Attaque AS-REP Roasting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09946" y="1460681"/>
            <a:ext cx="14151999" cy="237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60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Recherche des comptes sans pré-authentification Kerberos</a:t>
            </a:r>
          </a:p>
          <a:p>
            <a:pPr algn="l" marL="690879" indent="-345439" lvl="1">
              <a:lnSpc>
                <a:spcPts val="4607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Extraction du hash AS-REP</a:t>
            </a:r>
          </a:p>
          <a:p>
            <a:pPr algn="l" marL="690879" indent="-345439" lvl="1">
              <a:lnSpc>
                <a:spcPts val="46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Craquage du mot de passe</a:t>
            </a:r>
          </a:p>
          <a:p>
            <a:pPr algn="l">
              <a:lnSpc>
                <a:spcPts val="46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588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2098" y="4097230"/>
            <a:ext cx="14870179" cy="104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Attaque authentifiée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2544492"/>
            <a:ext cx="12511931" cy="2901204"/>
          </a:xfrm>
          <a:custGeom>
            <a:avLst/>
            <a:gdLst/>
            <a:ahLst/>
            <a:cxnLst/>
            <a:rect r="r" b="b" t="t" l="l"/>
            <a:pathLst>
              <a:path h="2901204" w="12511931">
                <a:moveTo>
                  <a:pt x="0" y="0"/>
                </a:moveTo>
                <a:lnTo>
                  <a:pt x="12511931" y="0"/>
                </a:lnTo>
                <a:lnTo>
                  <a:pt x="12511931" y="2901204"/>
                </a:lnTo>
                <a:lnTo>
                  <a:pt x="0" y="290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6475849"/>
            <a:ext cx="12511931" cy="3011075"/>
          </a:xfrm>
          <a:custGeom>
            <a:avLst/>
            <a:gdLst/>
            <a:ahLst/>
            <a:cxnLst/>
            <a:rect r="r" b="b" t="t" l="l"/>
            <a:pathLst>
              <a:path h="3011075" w="12511931">
                <a:moveTo>
                  <a:pt x="0" y="0"/>
                </a:moveTo>
                <a:lnTo>
                  <a:pt x="12511931" y="0"/>
                </a:lnTo>
                <a:lnTo>
                  <a:pt x="12511931" y="3011076"/>
                </a:lnTo>
                <a:lnTo>
                  <a:pt x="0" y="3011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243782" y="461910"/>
            <a:ext cx="13793877" cy="69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Énumération authentifiée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2200" y="-284944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212" y="1541235"/>
            <a:ext cx="17110088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Énumération des utilisateurs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212" y="5692667"/>
            <a:ext cx="17110088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Énumération des groupes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600" y="3887644"/>
            <a:ext cx="15456616" cy="2193984"/>
          </a:xfrm>
          <a:custGeom>
            <a:avLst/>
            <a:gdLst/>
            <a:ahLst/>
            <a:cxnLst/>
            <a:rect r="r" b="b" t="t" l="l"/>
            <a:pathLst>
              <a:path h="2193984" w="15456616">
                <a:moveTo>
                  <a:pt x="0" y="0"/>
                </a:moveTo>
                <a:lnTo>
                  <a:pt x="15456615" y="0"/>
                </a:lnTo>
                <a:lnTo>
                  <a:pt x="15456615" y="2193984"/>
                </a:lnTo>
                <a:lnTo>
                  <a:pt x="0" y="2193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3119" y="1415669"/>
            <a:ext cx="15581976" cy="13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059"/>
              </a:lnSpc>
              <a:spcBef>
                <a:spcPct val="0"/>
              </a:spcBef>
            </a:pPr>
            <a:r>
              <a:rPr lang="en-US" b="true" sz="5621" spc="-28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Kerberoasting : Validation du second foothold avec le compte svc_sql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0720" y="987903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8463" y="3713693"/>
            <a:ext cx="15008601" cy="2577654"/>
          </a:xfrm>
          <a:custGeom>
            <a:avLst/>
            <a:gdLst/>
            <a:ahLst/>
            <a:cxnLst/>
            <a:rect r="r" b="b" t="t" l="l"/>
            <a:pathLst>
              <a:path h="2577654" w="15008601">
                <a:moveTo>
                  <a:pt x="0" y="0"/>
                </a:moveTo>
                <a:lnTo>
                  <a:pt x="15008601" y="0"/>
                </a:lnTo>
                <a:lnTo>
                  <a:pt x="15008601" y="2577655"/>
                </a:lnTo>
                <a:lnTo>
                  <a:pt x="0" y="2577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982333"/>
            <a:ext cx="18628366" cy="56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69"/>
              </a:lnSpc>
              <a:spcBef>
                <a:spcPct val="0"/>
              </a:spcBef>
            </a:pPr>
            <a:r>
              <a:rPr lang="en-US" b="true" sz="4521" spc="-22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GPO : Validation de l'élévation de privilèges sur Windows 11 Client 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3444" y="1134770"/>
            <a:ext cx="322400" cy="189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9"/>
              </a:lnSpc>
              <a:spcBef>
                <a:spcPct val="0"/>
              </a:spcBef>
            </a:pPr>
            <a:r>
              <a:rPr lang="en-US" b="true" sz="9763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588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2098" y="4097230"/>
            <a:ext cx="14870179" cy="104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Compromission du domaine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81255"/>
            <a:ext cx="851059" cy="713794"/>
            <a:chOff x="0" y="0"/>
            <a:chExt cx="1134745" cy="951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4743" cy="951720"/>
            </a:xfrm>
            <a:custGeom>
              <a:avLst/>
              <a:gdLst/>
              <a:ahLst/>
              <a:cxnLst/>
              <a:rect r="r" b="b" t="t" l="l"/>
              <a:pathLst>
                <a:path h="951720" w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609" t="0" r="-5761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34745" cy="999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4621" y="1427977"/>
            <a:ext cx="16811861" cy="7011959"/>
          </a:xfrm>
          <a:custGeom>
            <a:avLst/>
            <a:gdLst/>
            <a:ahLst/>
            <a:cxnLst/>
            <a:rect r="r" b="b" t="t" l="l"/>
            <a:pathLst>
              <a:path h="7011959" w="16811861">
                <a:moveTo>
                  <a:pt x="0" y="0"/>
                </a:moveTo>
                <a:lnTo>
                  <a:pt x="16811861" y="0"/>
                </a:lnTo>
                <a:lnTo>
                  <a:pt x="16811861" y="7011959"/>
                </a:lnTo>
                <a:lnTo>
                  <a:pt x="0" y="7011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68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58301" y="8154560"/>
            <a:ext cx="10924501" cy="1783592"/>
          </a:xfrm>
          <a:custGeom>
            <a:avLst/>
            <a:gdLst/>
            <a:ahLst/>
            <a:cxnLst/>
            <a:rect r="r" b="b" t="t" l="l"/>
            <a:pathLst>
              <a:path h="1783592" w="10924501">
                <a:moveTo>
                  <a:pt x="0" y="0"/>
                </a:moveTo>
                <a:lnTo>
                  <a:pt x="10924501" y="0"/>
                </a:lnTo>
                <a:lnTo>
                  <a:pt x="10924501" y="1783592"/>
                </a:lnTo>
                <a:lnTo>
                  <a:pt x="0" y="1783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851625" y="523390"/>
            <a:ext cx="6775083" cy="74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69"/>
              </a:lnSpc>
              <a:spcBef>
                <a:spcPct val="0"/>
              </a:spcBef>
            </a:pPr>
            <a:r>
              <a:rPr lang="en-US" b="true" sz="5966" spc="-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Pass-The-Hash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3964" y="-323044"/>
            <a:ext cx="342155" cy="202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21"/>
              </a:lnSpc>
              <a:spcBef>
                <a:spcPct val="0"/>
              </a:spcBef>
            </a:pPr>
            <a:r>
              <a:rPr lang="en-US" b="true" sz="10362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0199" y="2198032"/>
            <a:ext cx="19137458" cy="7867247"/>
          </a:xfrm>
          <a:custGeom>
            <a:avLst/>
            <a:gdLst/>
            <a:ahLst/>
            <a:cxnLst/>
            <a:rect r="r" b="b" t="t" l="l"/>
            <a:pathLst>
              <a:path h="7867247" w="19137458">
                <a:moveTo>
                  <a:pt x="0" y="0"/>
                </a:moveTo>
                <a:lnTo>
                  <a:pt x="19137458" y="0"/>
                </a:lnTo>
                <a:lnTo>
                  <a:pt x="19137458" y="7867248"/>
                </a:lnTo>
                <a:lnTo>
                  <a:pt x="0" y="7867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3697" y="633031"/>
            <a:ext cx="9366241" cy="74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69"/>
              </a:lnSpc>
              <a:spcBef>
                <a:spcPct val="0"/>
              </a:spcBef>
            </a:pPr>
            <a:r>
              <a:rPr lang="en-US" b="true" sz="5966" spc="-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Énumération des ACL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3964" y="-323044"/>
            <a:ext cx="342155" cy="202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21"/>
              </a:lnSpc>
              <a:spcBef>
                <a:spcPct val="0"/>
              </a:spcBef>
            </a:pPr>
            <a:r>
              <a:rPr lang="en-US" b="true" sz="10362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3400" y="1818515"/>
            <a:ext cx="16271227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Dans cette partie, nous allons chercher le meilleur chemin pour exploiter une permission accordée par erreur à un utilisateur par l'administrateur.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4471" y="8681607"/>
            <a:ext cx="5057670" cy="102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010"/>
            <a:ext cx="18288000" cy="10206990"/>
          </a:xfrm>
          <a:custGeom>
            <a:avLst/>
            <a:gdLst/>
            <a:ahLst/>
            <a:cxnLst/>
            <a:rect r="r" b="b" t="t" l="l"/>
            <a:pathLst>
              <a:path h="10206990" w="18288000">
                <a:moveTo>
                  <a:pt x="0" y="0"/>
                </a:moveTo>
                <a:lnTo>
                  <a:pt x="18288000" y="0"/>
                </a:lnTo>
                <a:lnTo>
                  <a:pt x="18288000" y="10206990"/>
                </a:lnTo>
                <a:lnTo>
                  <a:pt x="0" y="10206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3697" y="633031"/>
            <a:ext cx="9366241" cy="74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69"/>
              </a:lnSpc>
              <a:spcBef>
                <a:spcPct val="0"/>
              </a:spcBef>
            </a:pPr>
            <a:r>
              <a:rPr lang="en-US" b="true" sz="5966" spc="-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WriteDACL → DCSync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3964" y="-323044"/>
            <a:ext cx="342155" cy="202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21"/>
              </a:lnSpc>
              <a:spcBef>
                <a:spcPct val="0"/>
              </a:spcBef>
            </a:pPr>
            <a:r>
              <a:rPr lang="en-US" b="true" sz="10362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56" y="0"/>
            <a:ext cx="17884488" cy="1365229"/>
          </a:xfrm>
          <a:custGeom>
            <a:avLst/>
            <a:gdLst/>
            <a:ahLst/>
            <a:cxnLst/>
            <a:rect r="r" b="b" t="t" l="l"/>
            <a:pathLst>
              <a:path h="1365229" w="17884488">
                <a:moveTo>
                  <a:pt x="0" y="0"/>
                </a:moveTo>
                <a:lnTo>
                  <a:pt x="17884488" y="0"/>
                </a:lnTo>
                <a:lnTo>
                  <a:pt x="17884488" y="1365229"/>
                </a:lnTo>
                <a:lnTo>
                  <a:pt x="0" y="136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27" r="0" b="-56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1756" y="1365229"/>
            <a:ext cx="14204944" cy="4071367"/>
          </a:xfrm>
          <a:custGeom>
            <a:avLst/>
            <a:gdLst/>
            <a:ahLst/>
            <a:cxnLst/>
            <a:rect r="r" b="b" t="t" l="l"/>
            <a:pathLst>
              <a:path h="4071367" w="14204944">
                <a:moveTo>
                  <a:pt x="0" y="0"/>
                </a:moveTo>
                <a:lnTo>
                  <a:pt x="14204944" y="0"/>
                </a:lnTo>
                <a:lnTo>
                  <a:pt x="14204944" y="4071367"/>
                </a:lnTo>
                <a:lnTo>
                  <a:pt x="0" y="4071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1756" y="5436596"/>
            <a:ext cx="16824607" cy="4111814"/>
          </a:xfrm>
          <a:custGeom>
            <a:avLst/>
            <a:gdLst/>
            <a:ahLst/>
            <a:cxnLst/>
            <a:rect r="r" b="b" t="t" l="l"/>
            <a:pathLst>
              <a:path h="4111814" w="16824607">
                <a:moveTo>
                  <a:pt x="0" y="0"/>
                </a:moveTo>
                <a:lnTo>
                  <a:pt x="16824607" y="0"/>
                </a:lnTo>
                <a:lnTo>
                  <a:pt x="16824607" y="4111814"/>
                </a:lnTo>
                <a:lnTo>
                  <a:pt x="0" y="4111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816" y="1028700"/>
            <a:ext cx="16610484" cy="9278513"/>
          </a:xfrm>
          <a:custGeom>
            <a:avLst/>
            <a:gdLst/>
            <a:ahLst/>
            <a:cxnLst/>
            <a:rect r="r" b="b" t="t" l="l"/>
            <a:pathLst>
              <a:path h="9278513" w="16610484">
                <a:moveTo>
                  <a:pt x="0" y="0"/>
                </a:moveTo>
                <a:lnTo>
                  <a:pt x="16610484" y="0"/>
                </a:lnTo>
                <a:lnTo>
                  <a:pt x="16610484" y="9278513"/>
                </a:lnTo>
                <a:lnTo>
                  <a:pt x="0" y="927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3697" y="633031"/>
            <a:ext cx="6955862" cy="74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69"/>
              </a:lnSpc>
              <a:spcBef>
                <a:spcPct val="0"/>
              </a:spcBef>
            </a:pPr>
            <a:r>
              <a:rPr lang="en-US" b="true" sz="5966" spc="-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Persistance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3964" y="-323044"/>
            <a:ext cx="342155" cy="202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21"/>
              </a:lnSpc>
              <a:spcBef>
                <a:spcPct val="0"/>
              </a:spcBef>
            </a:pPr>
            <a:r>
              <a:rPr lang="en-US" b="true" sz="10362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566807"/>
            <a:ext cx="9525" cy="102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4754" y="494560"/>
            <a:ext cx="16492470" cy="9297880"/>
          </a:xfrm>
          <a:custGeom>
            <a:avLst/>
            <a:gdLst/>
            <a:ahLst/>
            <a:cxnLst/>
            <a:rect r="r" b="b" t="t" l="l"/>
            <a:pathLst>
              <a:path h="9297880" w="16492470">
                <a:moveTo>
                  <a:pt x="0" y="0"/>
                </a:moveTo>
                <a:lnTo>
                  <a:pt x="16492470" y="0"/>
                </a:lnTo>
                <a:lnTo>
                  <a:pt x="16492470" y="9297880"/>
                </a:lnTo>
                <a:lnTo>
                  <a:pt x="0" y="9297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39588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2098" y="4097402"/>
            <a:ext cx="14870179" cy="10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Analyse des risques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8757" y="1703118"/>
            <a:ext cx="11332097" cy="8312689"/>
          </a:xfrm>
          <a:custGeom>
            <a:avLst/>
            <a:gdLst/>
            <a:ahLst/>
            <a:cxnLst/>
            <a:rect r="r" b="b" t="t" l="l"/>
            <a:pathLst>
              <a:path h="8312689" w="11332097">
                <a:moveTo>
                  <a:pt x="0" y="0"/>
                </a:moveTo>
                <a:lnTo>
                  <a:pt x="11332096" y="0"/>
                </a:lnTo>
                <a:lnTo>
                  <a:pt x="11332096" y="8312690"/>
                </a:lnTo>
                <a:lnTo>
                  <a:pt x="0" y="8312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7101" y="507751"/>
            <a:ext cx="9366241" cy="74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69"/>
              </a:lnSpc>
              <a:spcBef>
                <a:spcPct val="0"/>
              </a:spcBef>
            </a:pPr>
            <a:r>
              <a:rPr lang="en-US" b="true" sz="5966" spc="-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Cartographie des risques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3964" y="-323044"/>
            <a:ext cx="342155" cy="202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21"/>
              </a:lnSpc>
              <a:spcBef>
                <a:spcPct val="0"/>
              </a:spcBef>
            </a:pPr>
            <a:r>
              <a:rPr lang="en-US" b="true" sz="10362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24596" y="1412171"/>
            <a:ext cx="12283290" cy="8219416"/>
          </a:xfrm>
          <a:custGeom>
            <a:avLst/>
            <a:gdLst/>
            <a:ahLst/>
            <a:cxnLst/>
            <a:rect r="r" b="b" t="t" l="l"/>
            <a:pathLst>
              <a:path h="8219416" w="12283290">
                <a:moveTo>
                  <a:pt x="0" y="0"/>
                </a:moveTo>
                <a:lnTo>
                  <a:pt x="12283290" y="0"/>
                </a:lnTo>
                <a:lnTo>
                  <a:pt x="12283290" y="8219416"/>
                </a:lnTo>
                <a:lnTo>
                  <a:pt x="0" y="821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507751"/>
            <a:ext cx="9366241" cy="74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369"/>
              </a:lnSpc>
              <a:spcBef>
                <a:spcPct val="0"/>
              </a:spcBef>
            </a:pPr>
            <a:r>
              <a:rPr lang="en-US" b="true" sz="5966" spc="-2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Plan de remédiation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3964" y="-323044"/>
            <a:ext cx="342155" cy="202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21"/>
              </a:lnSpc>
              <a:spcBef>
                <a:spcPct val="0"/>
              </a:spcBef>
            </a:pPr>
            <a:r>
              <a:rPr lang="en-US" b="true" sz="10362">
                <a:solidFill>
                  <a:srgbClr val="5170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5376021"/>
            <a:ext cx="7315200" cy="159604"/>
          </a:xfrm>
          <a:custGeom>
            <a:avLst/>
            <a:gdLst/>
            <a:ahLst/>
            <a:cxnLst/>
            <a:rect r="r" b="b" t="t" l="l"/>
            <a:pathLst>
              <a:path h="159604" w="7315200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8910" y="4097402"/>
            <a:ext cx="14870179" cy="10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606"/>
              </a:lnSpc>
              <a:spcBef>
                <a:spcPct val="0"/>
              </a:spcBef>
            </a:pPr>
            <a:r>
              <a:rPr lang="en-US" b="true" sz="8452" spc="-42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Questions et échanges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22778" y="6018279"/>
            <a:ext cx="6242445" cy="64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3"/>
              </a:lnSpc>
              <a:spcBef>
                <a:spcPct val="0"/>
              </a:spcBef>
            </a:pPr>
            <a:r>
              <a:rPr lang="en-US" sz="3752" spc="-1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Merci pour votre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7304" y="714724"/>
            <a:ext cx="7417481" cy="51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3"/>
              </a:lnSpc>
              <a:spcBef>
                <a:spcPct val="0"/>
              </a:spcBef>
            </a:pPr>
            <a:r>
              <a:rPr lang="en-US" sz="2652" spc="-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UNIVERSITÉ MOHAMMED PREMIER · ENSA OUJDA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DAHNlUpdfwQ</dc:identifier>
  <dcterms:modified xsi:type="dcterms:W3CDTF">2011-08-01T06:04:30Z</dcterms:modified>
  <cp:revision>1</cp:revision>
  <dc:title>PFA</dc:title>
</cp:coreProperties>
</file>