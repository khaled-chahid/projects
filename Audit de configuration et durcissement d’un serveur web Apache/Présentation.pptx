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T Chocolates Bold" charset="1" panose="02000803020000020003"/>
      <p:regular r:id="rId16"/>
    </p:embeddedFont>
    <p:embeddedFont>
      <p:font typeface="TT Chocolates" charset="1" panose="02000503020000020003"/>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 Id="rId8" Target="../media/image2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8.svg" Type="http://schemas.openxmlformats.org/officeDocument/2006/relationships/image"/><Relationship Id="rId11" Target="../media/image32.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 Id="rId9" Target="../media/image2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10D1B">
                <a:alpha val="100000"/>
              </a:srgbClr>
            </a:gs>
            <a:gs pos="100000">
              <a:srgbClr val="041E3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432250" y="7057997"/>
            <a:ext cx="5973819" cy="5800035"/>
          </a:xfrm>
          <a:custGeom>
            <a:avLst/>
            <a:gdLst/>
            <a:ahLst/>
            <a:cxnLst/>
            <a:rect r="r" b="b" t="t" l="l"/>
            <a:pathLst>
              <a:path h="5800035" w="5973819">
                <a:moveTo>
                  <a:pt x="0" y="0"/>
                </a:moveTo>
                <a:lnTo>
                  <a:pt x="5973819" y="0"/>
                </a:lnTo>
                <a:lnTo>
                  <a:pt x="5973819" y="5800035"/>
                </a:lnTo>
                <a:lnTo>
                  <a:pt x="0" y="58000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355437" y="1447905"/>
            <a:ext cx="7903863" cy="7903863"/>
          </a:xfrm>
          <a:custGeom>
            <a:avLst/>
            <a:gdLst/>
            <a:ahLst/>
            <a:cxnLst/>
            <a:rect r="r" b="b" t="t" l="l"/>
            <a:pathLst>
              <a:path h="7903863" w="7903863">
                <a:moveTo>
                  <a:pt x="0" y="0"/>
                </a:moveTo>
                <a:lnTo>
                  <a:pt x="7903863" y="0"/>
                </a:lnTo>
                <a:lnTo>
                  <a:pt x="7903863" y="7903863"/>
                </a:lnTo>
                <a:lnTo>
                  <a:pt x="0" y="7903863"/>
                </a:lnTo>
                <a:lnTo>
                  <a:pt x="0" y="0"/>
                </a:lnTo>
                <a:close/>
              </a:path>
            </a:pathLst>
          </a:custGeom>
          <a:blipFill>
            <a:blip r:embed="rId4">
              <a:alphaModFix amt="61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746431" y="-2571032"/>
            <a:ext cx="5973819" cy="5800035"/>
          </a:xfrm>
          <a:custGeom>
            <a:avLst/>
            <a:gdLst/>
            <a:ahLst/>
            <a:cxnLst/>
            <a:rect r="r" b="b" t="t" l="l"/>
            <a:pathLst>
              <a:path h="5800035" w="5973819">
                <a:moveTo>
                  <a:pt x="0" y="0"/>
                </a:moveTo>
                <a:lnTo>
                  <a:pt x="5973819" y="0"/>
                </a:lnTo>
                <a:lnTo>
                  <a:pt x="5973819" y="5800035"/>
                </a:lnTo>
                <a:lnTo>
                  <a:pt x="0" y="58000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5" id="5"/>
          <p:cNvSpPr/>
          <p:nvPr/>
        </p:nvSpPr>
        <p:spPr>
          <a:xfrm>
            <a:off x="1665241" y="6738060"/>
            <a:ext cx="8249506" cy="0"/>
          </a:xfrm>
          <a:prstGeom prst="line">
            <a:avLst/>
          </a:prstGeom>
          <a:ln cap="flat" w="28575">
            <a:gradFill>
              <a:gsLst>
                <a:gs pos="0">
                  <a:srgbClr val="9B40D1">
                    <a:alpha val="100000"/>
                  </a:srgbClr>
                </a:gs>
                <a:gs pos="100000">
                  <a:srgbClr val="FC35A5">
                    <a:alpha val="100000"/>
                  </a:srgbClr>
                </a:gs>
              </a:gsLst>
              <a:lin ang="2700000"/>
            </a:gradFill>
            <a:prstDash val="solid"/>
            <a:headEnd type="none" len="sm" w="sm"/>
            <a:tailEnd type="none" len="sm" w="sm"/>
          </a:ln>
        </p:spPr>
      </p:sp>
      <p:grpSp>
        <p:nvGrpSpPr>
          <p:cNvPr name="Group 6" id="6"/>
          <p:cNvGrpSpPr/>
          <p:nvPr/>
        </p:nvGrpSpPr>
        <p:grpSpPr>
          <a:xfrm rot="0">
            <a:off x="-1028662" y="1725350"/>
            <a:ext cx="2057324" cy="205732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B40D1">
                    <a:alpha val="100000"/>
                  </a:srgbClr>
                </a:gs>
                <a:gs pos="100000">
                  <a:srgbClr val="FC35A5">
                    <a:alpha val="100000"/>
                  </a:srgbClr>
                </a:gs>
              </a:gsLst>
              <a:lin ang="2700000"/>
            </a:gradFill>
          </p:spPr>
        </p:sp>
        <p:sp>
          <p:nvSpPr>
            <p:cNvPr name="TextBox 8" id="8"/>
            <p:cNvSpPr txBox="true"/>
            <p:nvPr/>
          </p:nvSpPr>
          <p:spPr>
            <a:xfrm>
              <a:off x="76200" y="133350"/>
              <a:ext cx="660400" cy="603250"/>
            </a:xfrm>
            <a:prstGeom prst="rect">
              <a:avLst/>
            </a:prstGeom>
          </p:spPr>
          <p:txBody>
            <a:bodyPr anchor="ctr" rtlCol="false" tIns="50800" lIns="50800" bIns="50800" rIns="50800"/>
            <a:lstStyle/>
            <a:p>
              <a:pPr algn="ctr">
                <a:lnSpc>
                  <a:spcPts val="1660"/>
                </a:lnSpc>
              </a:pPr>
            </a:p>
          </p:txBody>
        </p:sp>
      </p:grpSp>
      <p:grpSp>
        <p:nvGrpSpPr>
          <p:cNvPr name="Group 9" id="9"/>
          <p:cNvGrpSpPr/>
          <p:nvPr/>
        </p:nvGrpSpPr>
        <p:grpSpPr>
          <a:xfrm rot="0">
            <a:off x="17259300" y="7565881"/>
            <a:ext cx="2057324" cy="205732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B40D1">
                    <a:alpha val="100000"/>
                  </a:srgbClr>
                </a:gs>
                <a:gs pos="100000">
                  <a:srgbClr val="FC35A5">
                    <a:alpha val="100000"/>
                  </a:srgbClr>
                </a:gs>
              </a:gsLst>
              <a:lin ang="2700000"/>
            </a:gradFill>
          </p:spPr>
        </p:sp>
        <p:sp>
          <p:nvSpPr>
            <p:cNvPr name="TextBox 11" id="11"/>
            <p:cNvSpPr txBox="true"/>
            <p:nvPr/>
          </p:nvSpPr>
          <p:spPr>
            <a:xfrm>
              <a:off x="76200" y="133350"/>
              <a:ext cx="660400" cy="603250"/>
            </a:xfrm>
            <a:prstGeom prst="rect">
              <a:avLst/>
            </a:prstGeom>
          </p:spPr>
          <p:txBody>
            <a:bodyPr anchor="ctr" rtlCol="false" tIns="50800" lIns="50800" bIns="50800" rIns="50800"/>
            <a:lstStyle/>
            <a:p>
              <a:pPr algn="ctr">
                <a:lnSpc>
                  <a:spcPts val="1660"/>
                </a:lnSpc>
              </a:pPr>
            </a:p>
          </p:txBody>
        </p:sp>
      </p:grpSp>
      <p:sp>
        <p:nvSpPr>
          <p:cNvPr name="Freeform 12" id="12"/>
          <p:cNvSpPr/>
          <p:nvPr/>
        </p:nvSpPr>
        <p:spPr>
          <a:xfrm flipH="false" flipV="false" rot="0">
            <a:off x="10748184" y="2170319"/>
            <a:ext cx="6706379" cy="4082508"/>
          </a:xfrm>
          <a:custGeom>
            <a:avLst/>
            <a:gdLst/>
            <a:ahLst/>
            <a:cxnLst/>
            <a:rect r="r" b="b" t="t" l="l"/>
            <a:pathLst>
              <a:path h="4082508" w="6706379">
                <a:moveTo>
                  <a:pt x="0" y="0"/>
                </a:moveTo>
                <a:lnTo>
                  <a:pt x="6706378" y="0"/>
                </a:lnTo>
                <a:lnTo>
                  <a:pt x="6706378" y="4082508"/>
                </a:lnTo>
                <a:lnTo>
                  <a:pt x="0" y="4082508"/>
                </a:lnTo>
                <a:lnTo>
                  <a:pt x="0" y="0"/>
                </a:lnTo>
                <a:close/>
              </a:path>
            </a:pathLst>
          </a:custGeom>
          <a:blipFill>
            <a:blip r:embed="rId8"/>
            <a:stretch>
              <a:fillRect l="0" t="0" r="0" b="0"/>
            </a:stretch>
          </a:blipFill>
        </p:spPr>
      </p:sp>
      <p:sp>
        <p:nvSpPr>
          <p:cNvPr name="Freeform 13" id="13"/>
          <p:cNvSpPr/>
          <p:nvPr/>
        </p:nvSpPr>
        <p:spPr>
          <a:xfrm flipH="false" flipV="false" rot="0">
            <a:off x="12125842" y="3757923"/>
            <a:ext cx="3391753" cy="5320397"/>
          </a:xfrm>
          <a:custGeom>
            <a:avLst/>
            <a:gdLst/>
            <a:ahLst/>
            <a:cxnLst/>
            <a:rect r="r" b="b" t="t" l="l"/>
            <a:pathLst>
              <a:path h="5320397" w="3391753">
                <a:moveTo>
                  <a:pt x="0" y="0"/>
                </a:moveTo>
                <a:lnTo>
                  <a:pt x="3391753" y="0"/>
                </a:lnTo>
                <a:lnTo>
                  <a:pt x="3391753" y="5320398"/>
                </a:lnTo>
                <a:lnTo>
                  <a:pt x="0" y="5320398"/>
                </a:lnTo>
                <a:lnTo>
                  <a:pt x="0" y="0"/>
                </a:lnTo>
                <a:close/>
              </a:path>
            </a:pathLst>
          </a:custGeom>
          <a:blipFill>
            <a:blip r:embed="rId9"/>
            <a:stretch>
              <a:fillRect l="0" t="0" r="0" b="0"/>
            </a:stretch>
          </a:blipFill>
        </p:spPr>
      </p:sp>
      <p:sp>
        <p:nvSpPr>
          <p:cNvPr name="TextBox 14" id="14"/>
          <p:cNvSpPr txBox="true"/>
          <p:nvPr/>
        </p:nvSpPr>
        <p:spPr>
          <a:xfrm rot="0">
            <a:off x="1665241" y="2856796"/>
            <a:ext cx="8249506" cy="3561326"/>
          </a:xfrm>
          <a:prstGeom prst="rect">
            <a:avLst/>
          </a:prstGeom>
        </p:spPr>
        <p:txBody>
          <a:bodyPr anchor="t" rtlCol="false" tIns="0" lIns="0" bIns="0" rIns="0">
            <a:spAutoFit/>
          </a:bodyPr>
          <a:lstStyle/>
          <a:p>
            <a:pPr algn="l">
              <a:lnSpc>
                <a:spcPts val="13343"/>
              </a:lnSpc>
            </a:pPr>
            <a:r>
              <a:rPr lang="en-US" sz="16077" b="true">
                <a:solidFill>
                  <a:srgbClr val="E93CB0"/>
                </a:solidFill>
                <a:latin typeface="TT Chocolates Bold"/>
                <a:ea typeface="TT Chocolates Bold"/>
                <a:cs typeface="TT Chocolates Bold"/>
                <a:sym typeface="TT Chocolates Bold"/>
              </a:rPr>
              <a:t>serveur</a:t>
            </a:r>
          </a:p>
          <a:p>
            <a:pPr algn="l" marL="0" indent="0" lvl="0">
              <a:lnSpc>
                <a:spcPts val="13343"/>
              </a:lnSpc>
            </a:pPr>
            <a:r>
              <a:rPr lang="en-US" b="true" sz="16077">
                <a:solidFill>
                  <a:srgbClr val="E93CB0"/>
                </a:solidFill>
                <a:latin typeface="TT Chocolates Bold"/>
                <a:ea typeface="TT Chocolates Bold"/>
                <a:cs typeface="TT Chocolates Bold"/>
                <a:sym typeface="TT Chocolates Bold"/>
              </a:rPr>
              <a:t>web</a:t>
            </a:r>
          </a:p>
        </p:txBody>
      </p:sp>
      <p:sp>
        <p:nvSpPr>
          <p:cNvPr name="TextBox 15" id="15"/>
          <p:cNvSpPr txBox="true"/>
          <p:nvPr/>
        </p:nvSpPr>
        <p:spPr>
          <a:xfrm rot="0">
            <a:off x="1665241" y="1925375"/>
            <a:ext cx="8990383" cy="689913"/>
          </a:xfrm>
          <a:prstGeom prst="rect">
            <a:avLst/>
          </a:prstGeom>
        </p:spPr>
        <p:txBody>
          <a:bodyPr anchor="t" rtlCol="false" tIns="0" lIns="0" bIns="0" rIns="0">
            <a:spAutoFit/>
          </a:bodyPr>
          <a:lstStyle/>
          <a:p>
            <a:pPr algn="l" marL="0" indent="0" lvl="0">
              <a:lnSpc>
                <a:spcPts val="4867"/>
              </a:lnSpc>
            </a:pPr>
            <a:r>
              <a:rPr lang="en-US" b="true" sz="5863">
                <a:solidFill>
                  <a:srgbClr val="FFFBF7"/>
                </a:solidFill>
                <a:latin typeface="TT Chocolates Bold"/>
                <a:ea typeface="TT Chocolates Bold"/>
                <a:cs typeface="TT Chocolates Bold"/>
                <a:sym typeface="TT Chocolates Bold"/>
              </a:rPr>
              <a:t>Audi</a:t>
            </a:r>
            <a:r>
              <a:rPr lang="en-US" b="true" sz="5863">
                <a:solidFill>
                  <a:srgbClr val="FFFBF7"/>
                </a:solidFill>
                <a:latin typeface="TT Chocolates Bold"/>
                <a:ea typeface="TT Chocolates Bold"/>
                <a:cs typeface="TT Chocolates Bold"/>
                <a:sym typeface="TT Chocolates Bold"/>
              </a:rPr>
              <a:t>t et durcissement d’un</a:t>
            </a:r>
          </a:p>
        </p:txBody>
      </p:sp>
      <p:sp>
        <p:nvSpPr>
          <p:cNvPr name="TextBox 16" id="16"/>
          <p:cNvSpPr txBox="true"/>
          <p:nvPr/>
        </p:nvSpPr>
        <p:spPr>
          <a:xfrm rot="0">
            <a:off x="1633823" y="7584931"/>
            <a:ext cx="7721614" cy="1073644"/>
          </a:xfrm>
          <a:prstGeom prst="rect">
            <a:avLst/>
          </a:prstGeom>
        </p:spPr>
        <p:txBody>
          <a:bodyPr anchor="t" rtlCol="false" tIns="0" lIns="0" bIns="0" rIns="0">
            <a:spAutoFit/>
          </a:bodyPr>
          <a:lstStyle/>
          <a:p>
            <a:pPr algn="l" marL="0" indent="0" lvl="0">
              <a:lnSpc>
                <a:spcPts val="2814"/>
              </a:lnSpc>
            </a:pPr>
            <a:r>
              <a:rPr lang="en-US" sz="2558">
                <a:solidFill>
                  <a:srgbClr val="FFFBF7"/>
                </a:solidFill>
                <a:latin typeface="TT Chocolates"/>
                <a:ea typeface="TT Chocolates"/>
                <a:cs typeface="TT Chocolates"/>
                <a:sym typeface="TT Chocolates"/>
              </a:rPr>
              <a:t>Ce proj</a:t>
            </a:r>
            <a:r>
              <a:rPr lang="en-US" sz="2558">
                <a:solidFill>
                  <a:srgbClr val="FFFBF7"/>
                </a:solidFill>
                <a:latin typeface="TT Chocolates"/>
                <a:ea typeface="TT Chocolates"/>
                <a:cs typeface="TT Chocolates"/>
                <a:sym typeface="TT Chocolates"/>
              </a:rPr>
              <a:t>et consiste à sécuriser un serveur vulnérable en suivant une méthodologie en sept étapes visant à réduire les risques et améliorer la sécurité.</a:t>
            </a:r>
          </a:p>
        </p:txBody>
      </p:sp>
      <p:sp>
        <p:nvSpPr>
          <p:cNvPr name="Freeform 17" id="17"/>
          <p:cNvSpPr/>
          <p:nvPr/>
        </p:nvSpPr>
        <p:spPr>
          <a:xfrm flipH="false" flipV="false" rot="0">
            <a:off x="18288000" y="938844"/>
            <a:ext cx="5374037" cy="4520909"/>
          </a:xfrm>
          <a:custGeom>
            <a:avLst/>
            <a:gdLst/>
            <a:ahLst/>
            <a:cxnLst/>
            <a:rect r="r" b="b" t="t" l="l"/>
            <a:pathLst>
              <a:path h="4520909" w="5374037">
                <a:moveTo>
                  <a:pt x="0" y="0"/>
                </a:moveTo>
                <a:lnTo>
                  <a:pt x="5374037" y="0"/>
                </a:lnTo>
                <a:lnTo>
                  <a:pt x="5374037" y="4520909"/>
                </a:lnTo>
                <a:lnTo>
                  <a:pt x="0" y="4520909"/>
                </a:lnTo>
                <a:lnTo>
                  <a:pt x="0" y="0"/>
                </a:lnTo>
                <a:close/>
              </a:path>
            </a:pathLst>
          </a:custGeom>
          <a:blipFill>
            <a:blip r:embed="rId10"/>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E3D">
                <a:alpha val="100000"/>
              </a:srgbClr>
            </a:gs>
            <a:gs pos="100000">
              <a:srgbClr val="010D1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958209" y="-2864618"/>
            <a:ext cx="5973819" cy="5800035"/>
          </a:xfrm>
          <a:custGeom>
            <a:avLst/>
            <a:gdLst/>
            <a:ahLst/>
            <a:cxnLst/>
            <a:rect r="r" b="b" t="t" l="l"/>
            <a:pathLst>
              <a:path h="5800035" w="5973819">
                <a:moveTo>
                  <a:pt x="0" y="0"/>
                </a:moveTo>
                <a:lnTo>
                  <a:pt x="5973818" y="0"/>
                </a:lnTo>
                <a:lnTo>
                  <a:pt x="5973818" y="5800035"/>
                </a:lnTo>
                <a:lnTo>
                  <a:pt x="0" y="58000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78766" y="5394595"/>
            <a:ext cx="5973819" cy="5800035"/>
          </a:xfrm>
          <a:custGeom>
            <a:avLst/>
            <a:gdLst/>
            <a:ahLst/>
            <a:cxnLst/>
            <a:rect r="r" b="b" t="t" l="l"/>
            <a:pathLst>
              <a:path h="5800035" w="5973819">
                <a:moveTo>
                  <a:pt x="0" y="0"/>
                </a:moveTo>
                <a:lnTo>
                  <a:pt x="5973819" y="0"/>
                </a:lnTo>
                <a:lnTo>
                  <a:pt x="5973819" y="5800035"/>
                </a:lnTo>
                <a:lnTo>
                  <a:pt x="0" y="5800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78766" y="-2623117"/>
            <a:ext cx="6465224" cy="6465224"/>
          </a:xfrm>
          <a:custGeom>
            <a:avLst/>
            <a:gdLst/>
            <a:ahLst/>
            <a:cxnLst/>
            <a:rect r="r" b="b" t="t" l="l"/>
            <a:pathLst>
              <a:path h="6465224" w="6465224">
                <a:moveTo>
                  <a:pt x="0" y="0"/>
                </a:moveTo>
                <a:lnTo>
                  <a:pt x="6465224" y="0"/>
                </a:lnTo>
                <a:lnTo>
                  <a:pt x="6465224" y="6465224"/>
                </a:lnTo>
                <a:lnTo>
                  <a:pt x="0" y="6465224"/>
                </a:lnTo>
                <a:lnTo>
                  <a:pt x="0" y="0"/>
                </a:lnTo>
                <a:close/>
              </a:path>
            </a:pathLst>
          </a:custGeom>
          <a:blipFill>
            <a:blip r:embed="rId6">
              <a:alphaModFix amt="61000"/>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865506" y="609495"/>
            <a:ext cx="16143324" cy="1018259"/>
            <a:chOff x="0" y="0"/>
            <a:chExt cx="7885176" cy="497367"/>
          </a:xfrm>
        </p:grpSpPr>
        <p:sp>
          <p:nvSpPr>
            <p:cNvPr name="Freeform 6" id="6"/>
            <p:cNvSpPr/>
            <p:nvPr/>
          </p:nvSpPr>
          <p:spPr>
            <a:xfrm flipH="false" flipV="false" rot="0">
              <a:off x="0" y="0"/>
              <a:ext cx="7885176" cy="497367"/>
            </a:xfrm>
            <a:custGeom>
              <a:avLst/>
              <a:gdLst/>
              <a:ahLst/>
              <a:cxnLst/>
              <a:rect r="r" b="b" t="t" l="l"/>
              <a:pathLst>
                <a:path h="497367" w="7885176">
                  <a:moveTo>
                    <a:pt x="7681976" y="0"/>
                  </a:moveTo>
                  <a:cubicBezTo>
                    <a:pt x="7794200" y="0"/>
                    <a:pt x="7885176" y="111339"/>
                    <a:pt x="7885176" y="248683"/>
                  </a:cubicBezTo>
                  <a:cubicBezTo>
                    <a:pt x="7885176" y="386027"/>
                    <a:pt x="7794200" y="497367"/>
                    <a:pt x="7681976" y="497367"/>
                  </a:cubicBezTo>
                  <a:lnTo>
                    <a:pt x="203200" y="497367"/>
                  </a:lnTo>
                  <a:cubicBezTo>
                    <a:pt x="90976" y="497367"/>
                    <a:pt x="0" y="386027"/>
                    <a:pt x="0" y="248683"/>
                  </a:cubicBezTo>
                  <a:cubicBezTo>
                    <a:pt x="0" y="111339"/>
                    <a:pt x="90976" y="0"/>
                    <a:pt x="203200" y="0"/>
                  </a:cubicBezTo>
                  <a:close/>
                </a:path>
              </a:pathLst>
            </a:custGeom>
            <a:gradFill rotWithShape="true">
              <a:gsLst>
                <a:gs pos="0">
                  <a:srgbClr val="004AAD">
                    <a:alpha val="100000"/>
                  </a:srgbClr>
                </a:gs>
                <a:gs pos="100000">
                  <a:srgbClr val="CB6CE6">
                    <a:alpha val="100000"/>
                  </a:srgbClr>
                </a:gs>
              </a:gsLst>
              <a:lin ang="0"/>
            </a:gradFill>
          </p:spPr>
        </p:sp>
        <p:sp>
          <p:nvSpPr>
            <p:cNvPr name="TextBox 7" id="7"/>
            <p:cNvSpPr txBox="true"/>
            <p:nvPr/>
          </p:nvSpPr>
          <p:spPr>
            <a:xfrm>
              <a:off x="0" y="57150"/>
              <a:ext cx="7885176" cy="440217"/>
            </a:xfrm>
            <a:prstGeom prst="rect">
              <a:avLst/>
            </a:prstGeom>
          </p:spPr>
          <p:txBody>
            <a:bodyPr anchor="ctr" rtlCol="false" tIns="50800" lIns="50800" bIns="50800" rIns="50800"/>
            <a:lstStyle/>
            <a:p>
              <a:pPr algn="ctr">
                <a:lnSpc>
                  <a:spcPts val="1660"/>
                </a:lnSpc>
              </a:pPr>
            </a:p>
          </p:txBody>
        </p:sp>
      </p:grpSp>
      <p:sp>
        <p:nvSpPr>
          <p:cNvPr name="Freeform 8" id="8"/>
          <p:cNvSpPr/>
          <p:nvPr/>
        </p:nvSpPr>
        <p:spPr>
          <a:xfrm flipH="false" flipV="false" rot="0">
            <a:off x="-3774594" y="6745007"/>
            <a:ext cx="6465224" cy="6465224"/>
          </a:xfrm>
          <a:custGeom>
            <a:avLst/>
            <a:gdLst/>
            <a:ahLst/>
            <a:cxnLst/>
            <a:rect r="r" b="b" t="t" l="l"/>
            <a:pathLst>
              <a:path h="6465224" w="6465224">
                <a:moveTo>
                  <a:pt x="0" y="0"/>
                </a:moveTo>
                <a:lnTo>
                  <a:pt x="6465225" y="0"/>
                </a:lnTo>
                <a:lnTo>
                  <a:pt x="6465225" y="6465224"/>
                </a:lnTo>
                <a:lnTo>
                  <a:pt x="0" y="6465224"/>
                </a:lnTo>
                <a:lnTo>
                  <a:pt x="0" y="0"/>
                </a:lnTo>
                <a:close/>
              </a:path>
            </a:pathLst>
          </a:custGeom>
          <a:blipFill>
            <a:blip r:embed="rId6">
              <a:alphaModFix amt="61000"/>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1833144" y="7530147"/>
            <a:ext cx="8311714" cy="1219044"/>
            <a:chOff x="0" y="0"/>
            <a:chExt cx="2189093" cy="321065"/>
          </a:xfrm>
        </p:grpSpPr>
        <p:sp>
          <p:nvSpPr>
            <p:cNvPr name="Freeform 10" id="10"/>
            <p:cNvSpPr/>
            <p:nvPr/>
          </p:nvSpPr>
          <p:spPr>
            <a:xfrm flipH="false" flipV="false" rot="0">
              <a:off x="0" y="0"/>
              <a:ext cx="2189093" cy="321065"/>
            </a:xfrm>
            <a:custGeom>
              <a:avLst/>
              <a:gdLst/>
              <a:ahLst/>
              <a:cxnLst/>
              <a:rect r="r" b="b" t="t" l="l"/>
              <a:pathLst>
                <a:path h="321065" w="2189093">
                  <a:moveTo>
                    <a:pt x="23286" y="0"/>
                  </a:moveTo>
                  <a:lnTo>
                    <a:pt x="2165807" y="0"/>
                  </a:lnTo>
                  <a:cubicBezTo>
                    <a:pt x="2178668" y="0"/>
                    <a:pt x="2189093" y="10426"/>
                    <a:pt x="2189093" y="23286"/>
                  </a:cubicBezTo>
                  <a:lnTo>
                    <a:pt x="2189093" y="297779"/>
                  </a:lnTo>
                  <a:cubicBezTo>
                    <a:pt x="2189093" y="303955"/>
                    <a:pt x="2186640" y="309878"/>
                    <a:pt x="2182273" y="314245"/>
                  </a:cubicBezTo>
                  <a:cubicBezTo>
                    <a:pt x="2177906" y="318612"/>
                    <a:pt x="2171983" y="321065"/>
                    <a:pt x="2165807" y="321065"/>
                  </a:cubicBezTo>
                  <a:lnTo>
                    <a:pt x="23286" y="321065"/>
                  </a:lnTo>
                  <a:cubicBezTo>
                    <a:pt x="10426" y="321065"/>
                    <a:pt x="0" y="310639"/>
                    <a:pt x="0" y="297779"/>
                  </a:cubicBezTo>
                  <a:lnTo>
                    <a:pt x="0" y="23286"/>
                  </a:lnTo>
                  <a:cubicBezTo>
                    <a:pt x="0" y="10426"/>
                    <a:pt x="10426" y="0"/>
                    <a:pt x="23286" y="0"/>
                  </a:cubicBezTo>
                  <a:close/>
                </a:path>
              </a:pathLst>
            </a:custGeom>
            <a:gradFill rotWithShape="true">
              <a:gsLst>
                <a:gs pos="0">
                  <a:srgbClr val="010D1B">
                    <a:alpha val="68000"/>
                  </a:srgbClr>
                </a:gs>
                <a:gs pos="100000">
                  <a:srgbClr val="041E3D">
                    <a:alpha val="68000"/>
                  </a:srgbClr>
                </a:gs>
              </a:gsLst>
              <a:lin ang="0"/>
            </a:gradFill>
            <a:ln w="38100" cap="rnd">
              <a:solidFill>
                <a:srgbClr val="E93CB0">
                  <a:alpha val="67843"/>
                </a:srgbClr>
              </a:solidFill>
              <a:prstDash val="solid"/>
              <a:round/>
            </a:ln>
          </p:spPr>
        </p:sp>
        <p:sp>
          <p:nvSpPr>
            <p:cNvPr name="TextBox 11" id="11"/>
            <p:cNvSpPr txBox="true"/>
            <p:nvPr/>
          </p:nvSpPr>
          <p:spPr>
            <a:xfrm>
              <a:off x="0" y="57150"/>
              <a:ext cx="2189093" cy="263915"/>
            </a:xfrm>
            <a:prstGeom prst="rect">
              <a:avLst/>
            </a:prstGeom>
          </p:spPr>
          <p:txBody>
            <a:bodyPr anchor="ctr" rtlCol="false" tIns="50800" lIns="50800" bIns="50800" rIns="50800"/>
            <a:lstStyle/>
            <a:p>
              <a:pPr algn="ctr">
                <a:lnSpc>
                  <a:spcPts val="1660"/>
                </a:lnSpc>
              </a:pPr>
            </a:p>
          </p:txBody>
        </p:sp>
      </p:grpSp>
      <p:grpSp>
        <p:nvGrpSpPr>
          <p:cNvPr name="Group 12" id="12"/>
          <p:cNvGrpSpPr/>
          <p:nvPr/>
        </p:nvGrpSpPr>
        <p:grpSpPr>
          <a:xfrm rot="0">
            <a:off x="1833144" y="3505522"/>
            <a:ext cx="12309877" cy="3454519"/>
            <a:chOff x="0" y="0"/>
            <a:chExt cx="2458669" cy="689976"/>
          </a:xfrm>
        </p:grpSpPr>
        <p:sp>
          <p:nvSpPr>
            <p:cNvPr name="Freeform 13" id="13"/>
            <p:cNvSpPr/>
            <p:nvPr/>
          </p:nvSpPr>
          <p:spPr>
            <a:xfrm flipH="false" flipV="false" rot="0">
              <a:off x="0" y="0"/>
              <a:ext cx="2458669" cy="689976"/>
            </a:xfrm>
            <a:custGeom>
              <a:avLst/>
              <a:gdLst/>
              <a:ahLst/>
              <a:cxnLst/>
              <a:rect r="r" b="b" t="t" l="l"/>
              <a:pathLst>
                <a:path h="689976" w="2458669">
                  <a:moveTo>
                    <a:pt x="15723" y="0"/>
                  </a:moveTo>
                  <a:lnTo>
                    <a:pt x="2442946" y="0"/>
                  </a:lnTo>
                  <a:cubicBezTo>
                    <a:pt x="2451630" y="0"/>
                    <a:pt x="2458669" y="7039"/>
                    <a:pt x="2458669" y="15723"/>
                  </a:cubicBezTo>
                  <a:lnTo>
                    <a:pt x="2458669" y="674253"/>
                  </a:lnTo>
                  <a:cubicBezTo>
                    <a:pt x="2458669" y="682937"/>
                    <a:pt x="2451630" y="689976"/>
                    <a:pt x="2442946" y="689976"/>
                  </a:cubicBezTo>
                  <a:lnTo>
                    <a:pt x="15723" y="689976"/>
                  </a:lnTo>
                  <a:cubicBezTo>
                    <a:pt x="7039" y="689976"/>
                    <a:pt x="0" y="682937"/>
                    <a:pt x="0" y="674253"/>
                  </a:cubicBezTo>
                  <a:lnTo>
                    <a:pt x="0" y="15723"/>
                  </a:lnTo>
                  <a:cubicBezTo>
                    <a:pt x="0" y="7039"/>
                    <a:pt x="7039" y="0"/>
                    <a:pt x="15723" y="0"/>
                  </a:cubicBezTo>
                  <a:close/>
                </a:path>
              </a:pathLst>
            </a:custGeom>
            <a:gradFill rotWithShape="true">
              <a:gsLst>
                <a:gs pos="0">
                  <a:srgbClr val="010D1B">
                    <a:alpha val="68000"/>
                  </a:srgbClr>
                </a:gs>
                <a:gs pos="100000">
                  <a:srgbClr val="041E3D">
                    <a:alpha val="68000"/>
                  </a:srgbClr>
                </a:gs>
              </a:gsLst>
              <a:lin ang="0"/>
            </a:gradFill>
            <a:ln w="38100" cap="rnd">
              <a:solidFill>
                <a:srgbClr val="E93CB0">
                  <a:alpha val="67843"/>
                </a:srgbClr>
              </a:solidFill>
              <a:prstDash val="solid"/>
              <a:round/>
            </a:ln>
          </p:spPr>
        </p:sp>
        <p:sp>
          <p:nvSpPr>
            <p:cNvPr name="TextBox 14" id="14"/>
            <p:cNvSpPr txBox="true"/>
            <p:nvPr/>
          </p:nvSpPr>
          <p:spPr>
            <a:xfrm>
              <a:off x="0" y="57150"/>
              <a:ext cx="2458669" cy="632826"/>
            </a:xfrm>
            <a:prstGeom prst="rect">
              <a:avLst/>
            </a:prstGeom>
          </p:spPr>
          <p:txBody>
            <a:bodyPr anchor="ctr" rtlCol="false" tIns="50800" lIns="50800" bIns="50800" rIns="50800"/>
            <a:lstStyle/>
            <a:p>
              <a:pPr algn="ctr">
                <a:lnSpc>
                  <a:spcPts val="1660"/>
                </a:lnSpc>
              </a:pPr>
            </a:p>
          </p:txBody>
        </p:sp>
      </p:grpSp>
      <p:sp>
        <p:nvSpPr>
          <p:cNvPr name="TextBox 15" id="15"/>
          <p:cNvSpPr txBox="true"/>
          <p:nvPr/>
        </p:nvSpPr>
        <p:spPr>
          <a:xfrm rot="0">
            <a:off x="4015609" y="952298"/>
            <a:ext cx="12679721" cy="542701"/>
          </a:xfrm>
          <a:prstGeom prst="rect">
            <a:avLst/>
          </a:prstGeom>
        </p:spPr>
        <p:txBody>
          <a:bodyPr anchor="t" rtlCol="false" tIns="0" lIns="0" bIns="0" rIns="0">
            <a:spAutoFit/>
          </a:bodyPr>
          <a:lstStyle/>
          <a:p>
            <a:pPr algn="ctr" marL="0" indent="0" lvl="0">
              <a:lnSpc>
                <a:spcPts val="3801"/>
              </a:lnSpc>
            </a:pPr>
            <a:r>
              <a:rPr lang="en-US" b="true" sz="4580">
                <a:solidFill>
                  <a:srgbClr val="FFFBF7"/>
                </a:solidFill>
                <a:latin typeface="TT Chocolates Bold"/>
                <a:ea typeface="TT Chocolates Bold"/>
                <a:cs typeface="TT Chocolates Bold"/>
                <a:sym typeface="TT Chocolates Bold"/>
              </a:rPr>
              <a:t>MISE EN PLACE DE L’ENVIRONNEMENT</a:t>
            </a:r>
          </a:p>
        </p:txBody>
      </p:sp>
      <p:sp>
        <p:nvSpPr>
          <p:cNvPr name="TextBox 16" id="16"/>
          <p:cNvSpPr txBox="true"/>
          <p:nvPr/>
        </p:nvSpPr>
        <p:spPr>
          <a:xfrm rot="0">
            <a:off x="2185573" y="819045"/>
            <a:ext cx="2740195" cy="741849"/>
          </a:xfrm>
          <a:prstGeom prst="rect">
            <a:avLst/>
          </a:prstGeom>
        </p:spPr>
        <p:txBody>
          <a:bodyPr anchor="t" rtlCol="false" tIns="0" lIns="0" bIns="0" rIns="0">
            <a:spAutoFit/>
          </a:bodyPr>
          <a:lstStyle/>
          <a:p>
            <a:pPr algn="l" marL="0" indent="0" lvl="0">
              <a:lnSpc>
                <a:spcPts val="5203"/>
              </a:lnSpc>
            </a:pPr>
            <a:r>
              <a:rPr lang="en-US" b="true" sz="6268">
                <a:solidFill>
                  <a:srgbClr val="E93CB0"/>
                </a:solidFill>
                <a:latin typeface="TT Chocolates Bold"/>
                <a:ea typeface="TT Chocolates Bold"/>
                <a:cs typeface="TT Chocolates Bold"/>
                <a:sym typeface="TT Chocolates Bold"/>
              </a:rPr>
              <a:t>phase 1</a:t>
            </a:r>
          </a:p>
        </p:txBody>
      </p:sp>
      <p:sp>
        <p:nvSpPr>
          <p:cNvPr name="TextBox 17" id="17"/>
          <p:cNvSpPr txBox="true"/>
          <p:nvPr/>
        </p:nvSpPr>
        <p:spPr>
          <a:xfrm rot="0">
            <a:off x="2561803" y="3923460"/>
            <a:ext cx="16390143" cy="2772504"/>
          </a:xfrm>
          <a:prstGeom prst="rect">
            <a:avLst/>
          </a:prstGeom>
        </p:spPr>
        <p:txBody>
          <a:bodyPr anchor="t" rtlCol="false" tIns="0" lIns="0" bIns="0" rIns="0">
            <a:spAutoFit/>
          </a:bodyPr>
          <a:lstStyle/>
          <a:p>
            <a:pPr algn="just">
              <a:lnSpc>
                <a:spcPts val="4381"/>
              </a:lnSpc>
            </a:pPr>
            <a:r>
              <a:rPr lang="en-US" sz="3982">
                <a:solidFill>
                  <a:srgbClr val="FFFBF7"/>
                </a:solidFill>
                <a:latin typeface="TT Chocolates"/>
                <a:ea typeface="TT Chocolates"/>
                <a:cs typeface="TT Chocolates"/>
                <a:sym typeface="TT Chocolates"/>
              </a:rPr>
              <a:t>Tr</a:t>
            </a:r>
            <a:r>
              <a:rPr lang="en-US" sz="3982">
                <a:solidFill>
                  <a:srgbClr val="FFFBF7"/>
                </a:solidFill>
                <a:latin typeface="TT Chocolates"/>
                <a:ea typeface="TT Chocolates"/>
                <a:cs typeface="TT Chocolates"/>
                <a:sym typeface="TT Chocolates"/>
              </a:rPr>
              <a:t>avaux réalisés :</a:t>
            </a:r>
          </a:p>
          <a:p>
            <a:pPr algn="just" marL="859926" indent="-429963" lvl="1">
              <a:lnSpc>
                <a:spcPts val="4381"/>
              </a:lnSpc>
              <a:buFont typeface="Arial"/>
              <a:buChar char="•"/>
            </a:pPr>
            <a:r>
              <a:rPr lang="en-US" sz="3982">
                <a:solidFill>
                  <a:srgbClr val="FFFBF7"/>
                </a:solidFill>
                <a:latin typeface="TT Chocolates"/>
                <a:ea typeface="TT Chocolates"/>
                <a:cs typeface="TT Chocolates"/>
                <a:sym typeface="TT Chocolates"/>
              </a:rPr>
              <a:t>Création d’une VM Linux (Kali ou autre)</a:t>
            </a:r>
          </a:p>
          <a:p>
            <a:pPr algn="just" marL="859926" indent="-429963" lvl="1">
              <a:lnSpc>
                <a:spcPts val="4381"/>
              </a:lnSpc>
              <a:buFont typeface="Arial"/>
              <a:buChar char="•"/>
            </a:pPr>
            <a:r>
              <a:rPr lang="en-US" sz="3982">
                <a:solidFill>
                  <a:srgbClr val="FFFBF7"/>
                </a:solidFill>
                <a:latin typeface="TT Chocolates"/>
                <a:ea typeface="TT Chocolates"/>
                <a:cs typeface="TT Chocolates"/>
                <a:sym typeface="TT Chocolates"/>
              </a:rPr>
              <a:t>Installation d’Apache</a:t>
            </a:r>
          </a:p>
          <a:p>
            <a:pPr algn="just" marL="859926" indent="-429963" lvl="1">
              <a:lnSpc>
                <a:spcPts val="4381"/>
              </a:lnSpc>
              <a:buFont typeface="Arial"/>
              <a:buChar char="•"/>
            </a:pPr>
            <a:r>
              <a:rPr lang="en-US" sz="3982">
                <a:solidFill>
                  <a:srgbClr val="FFFBF7"/>
                </a:solidFill>
                <a:latin typeface="TT Chocolates"/>
                <a:ea typeface="TT Chocolates"/>
                <a:cs typeface="TT Chocolates"/>
                <a:sym typeface="TT Chocolates"/>
              </a:rPr>
              <a:t>Déploiement d’un site web basique ou DVWA</a:t>
            </a:r>
          </a:p>
          <a:p>
            <a:pPr algn="just" marL="0" indent="0" lvl="0">
              <a:lnSpc>
                <a:spcPts val="4381"/>
              </a:lnSpc>
            </a:pPr>
          </a:p>
        </p:txBody>
      </p:sp>
      <p:sp>
        <p:nvSpPr>
          <p:cNvPr name="TextBox 18" id="18"/>
          <p:cNvSpPr txBox="true"/>
          <p:nvPr/>
        </p:nvSpPr>
        <p:spPr>
          <a:xfrm rot="0">
            <a:off x="2120243" y="7846634"/>
            <a:ext cx="7737516" cy="306753"/>
          </a:xfrm>
          <a:prstGeom prst="rect">
            <a:avLst/>
          </a:prstGeom>
        </p:spPr>
        <p:txBody>
          <a:bodyPr anchor="t" rtlCol="false" tIns="0" lIns="0" bIns="0" rIns="0">
            <a:spAutoFit/>
          </a:bodyPr>
          <a:lstStyle/>
          <a:p>
            <a:pPr algn="just" marL="0" indent="0" lvl="0">
              <a:lnSpc>
                <a:spcPts val="2376"/>
              </a:lnSpc>
            </a:pPr>
            <a:r>
              <a:rPr lang="en-US" sz="2160">
                <a:solidFill>
                  <a:srgbClr val="FFFBF7"/>
                </a:solidFill>
                <a:latin typeface="TT Chocolates"/>
                <a:ea typeface="TT Chocolates"/>
                <a:cs typeface="TT Chocolates"/>
                <a:sym typeface="TT Chocolates"/>
              </a:rPr>
              <a:t>Objectif : Dis</a:t>
            </a:r>
            <a:r>
              <a:rPr lang="en-US" sz="2160">
                <a:solidFill>
                  <a:srgbClr val="FFFBF7"/>
                </a:solidFill>
                <a:latin typeface="TT Chocolates"/>
                <a:ea typeface="TT Chocolates"/>
                <a:cs typeface="TT Chocolates"/>
                <a:sym typeface="TT Chocolates"/>
              </a:rPr>
              <a:t>poser d’un serveur web fonctionnel et contrôlable</a:t>
            </a:r>
          </a:p>
        </p:txBody>
      </p:sp>
      <p:grpSp>
        <p:nvGrpSpPr>
          <p:cNvPr name="Group 19" id="19"/>
          <p:cNvGrpSpPr/>
          <p:nvPr/>
        </p:nvGrpSpPr>
        <p:grpSpPr>
          <a:xfrm rot="0">
            <a:off x="865506" y="2935417"/>
            <a:ext cx="1570279" cy="1570279"/>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B40D1">
                    <a:alpha val="100000"/>
                  </a:srgbClr>
                </a:gs>
                <a:gs pos="100000">
                  <a:srgbClr val="FC35A5">
                    <a:alpha val="100000"/>
                  </a:srgbClr>
                </a:gs>
              </a:gsLst>
              <a:lin ang="2700000"/>
            </a:gradFill>
          </p:spPr>
        </p:sp>
        <p:sp>
          <p:nvSpPr>
            <p:cNvPr name="TextBox 21" id="21"/>
            <p:cNvSpPr txBox="true"/>
            <p:nvPr/>
          </p:nvSpPr>
          <p:spPr>
            <a:xfrm>
              <a:off x="76200" y="133350"/>
              <a:ext cx="660400" cy="603250"/>
            </a:xfrm>
            <a:prstGeom prst="rect">
              <a:avLst/>
            </a:prstGeom>
          </p:spPr>
          <p:txBody>
            <a:bodyPr anchor="ctr" rtlCol="false" tIns="50800" lIns="50800" bIns="50800" rIns="50800"/>
            <a:lstStyle/>
            <a:p>
              <a:pPr algn="ctr">
                <a:lnSpc>
                  <a:spcPts val="1660"/>
                </a:lnSpc>
              </a:pPr>
            </a:p>
          </p:txBody>
        </p:sp>
      </p:grpSp>
      <p:grpSp>
        <p:nvGrpSpPr>
          <p:cNvPr name="Group 22" id="22"/>
          <p:cNvGrpSpPr/>
          <p:nvPr/>
        </p:nvGrpSpPr>
        <p:grpSpPr>
          <a:xfrm rot="0">
            <a:off x="16474160" y="6745007"/>
            <a:ext cx="1570279" cy="1570279"/>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B40D1">
                    <a:alpha val="100000"/>
                  </a:srgbClr>
                </a:gs>
                <a:gs pos="100000">
                  <a:srgbClr val="FC35A5">
                    <a:alpha val="100000"/>
                  </a:srgbClr>
                </a:gs>
              </a:gsLst>
              <a:lin ang="2700000"/>
            </a:gradFill>
          </p:spPr>
        </p:sp>
        <p:sp>
          <p:nvSpPr>
            <p:cNvPr name="TextBox 24" id="24"/>
            <p:cNvSpPr txBox="true"/>
            <p:nvPr/>
          </p:nvSpPr>
          <p:spPr>
            <a:xfrm>
              <a:off x="76200" y="133350"/>
              <a:ext cx="660400" cy="603250"/>
            </a:xfrm>
            <a:prstGeom prst="rect">
              <a:avLst/>
            </a:prstGeom>
          </p:spPr>
          <p:txBody>
            <a:bodyPr anchor="ctr" rtlCol="false" tIns="50800" lIns="50800" bIns="50800" rIns="50800"/>
            <a:lstStyle/>
            <a:p>
              <a:pPr algn="ctr">
                <a:lnSpc>
                  <a:spcPts val="1660"/>
                </a:lnSpc>
              </a:pPr>
            </a:p>
          </p:txBody>
        </p:sp>
      </p:grpSp>
      <p:sp>
        <p:nvSpPr>
          <p:cNvPr name="TextBox 25" id="25"/>
          <p:cNvSpPr txBox="true"/>
          <p:nvPr/>
        </p:nvSpPr>
        <p:spPr>
          <a:xfrm rot="0">
            <a:off x="17008830" y="1437849"/>
            <a:ext cx="8230096" cy="1416050"/>
          </a:xfrm>
          <a:prstGeom prst="rect">
            <a:avLst/>
          </a:prstGeom>
        </p:spPr>
        <p:txBody>
          <a:bodyPr anchor="t" rtlCol="false" tIns="0" lIns="0" bIns="0" rIns="0">
            <a:spAutoFit/>
          </a:bodyPr>
          <a:lstStyle/>
          <a:p>
            <a:pPr algn="ctr">
              <a:lnSpc>
                <a:spcPts val="2800"/>
              </a:lnSpc>
              <a:spcBef>
                <a:spcPct val="0"/>
              </a:spcBef>
            </a:pPr>
            <a:r>
              <a:rPr lang="en-US" sz="2000">
                <a:solidFill>
                  <a:srgbClr val="FFFFFF"/>
                </a:solidFill>
                <a:latin typeface="TT Chocolates"/>
                <a:ea typeface="TT Chocolates"/>
                <a:cs typeface="TT Chocolates"/>
                <a:sym typeface="TT Chocolates"/>
              </a:rPr>
              <a:t>TRAVAUX RÉALISÉS :</a:t>
            </a:r>
          </a:p>
          <a:p>
            <a:pPr algn="ctr">
              <a:lnSpc>
                <a:spcPts val="2800"/>
              </a:lnSpc>
              <a:spcBef>
                <a:spcPct val="0"/>
              </a:spcBef>
            </a:pPr>
            <a:r>
              <a:rPr lang="en-US" sz="2000">
                <a:solidFill>
                  <a:srgbClr val="FFFFFF"/>
                </a:solidFill>
                <a:latin typeface="TT Chocolates"/>
                <a:ea typeface="TT Chocolates"/>
                <a:cs typeface="TT Chocolates"/>
                <a:sym typeface="TT Chocolates"/>
              </a:rPr>
              <a:t>CRÉATION D’UNE VM LINUX (KALI OU AUTRE)</a:t>
            </a:r>
          </a:p>
          <a:p>
            <a:pPr algn="ctr">
              <a:lnSpc>
                <a:spcPts val="2800"/>
              </a:lnSpc>
              <a:spcBef>
                <a:spcPct val="0"/>
              </a:spcBef>
            </a:pPr>
            <a:r>
              <a:rPr lang="en-US" sz="2000">
                <a:solidFill>
                  <a:srgbClr val="FFFFFF"/>
                </a:solidFill>
                <a:latin typeface="TT Chocolates"/>
                <a:ea typeface="TT Chocolates"/>
                <a:cs typeface="TT Chocolates"/>
                <a:sym typeface="TT Chocolates"/>
              </a:rPr>
              <a:t>INSTALLATION D’APACHE</a:t>
            </a:r>
          </a:p>
          <a:p>
            <a:pPr algn="ctr">
              <a:lnSpc>
                <a:spcPts val="2800"/>
              </a:lnSpc>
              <a:spcBef>
                <a:spcPct val="0"/>
              </a:spcBef>
            </a:pPr>
            <a:r>
              <a:rPr lang="en-US" sz="2000">
                <a:solidFill>
                  <a:srgbClr val="FFFFFF"/>
                </a:solidFill>
                <a:latin typeface="TT Chocolates"/>
                <a:ea typeface="TT Chocolates"/>
                <a:cs typeface="TT Chocolates"/>
                <a:sym typeface="TT Chocolates"/>
              </a:rPr>
              <a:t>DÉPLOIEMENT D’UN SITE WEB BASIQUE OU DVWA</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10D1B">
                <a:alpha val="100000"/>
              </a:srgbClr>
            </a:gs>
            <a:gs pos="100000">
              <a:srgbClr val="041E3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5451493" y="5719318"/>
            <a:ext cx="6465224" cy="6465224"/>
          </a:xfrm>
          <a:custGeom>
            <a:avLst/>
            <a:gdLst/>
            <a:ahLst/>
            <a:cxnLst/>
            <a:rect r="r" b="b" t="t" l="l"/>
            <a:pathLst>
              <a:path h="6465224" w="6465224">
                <a:moveTo>
                  <a:pt x="0" y="0"/>
                </a:moveTo>
                <a:lnTo>
                  <a:pt x="6465224" y="0"/>
                </a:lnTo>
                <a:lnTo>
                  <a:pt x="6465224" y="6465224"/>
                </a:lnTo>
                <a:lnTo>
                  <a:pt x="0" y="6465224"/>
                </a:lnTo>
                <a:lnTo>
                  <a:pt x="0" y="0"/>
                </a:lnTo>
                <a:close/>
              </a:path>
            </a:pathLst>
          </a:custGeom>
          <a:blipFill>
            <a:blip r:embed="rId2">
              <a:alphaModFix amt="6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628717" y="-1053038"/>
            <a:ext cx="6465224" cy="6465224"/>
          </a:xfrm>
          <a:custGeom>
            <a:avLst/>
            <a:gdLst/>
            <a:ahLst/>
            <a:cxnLst/>
            <a:rect r="r" b="b" t="t" l="l"/>
            <a:pathLst>
              <a:path h="6465224" w="6465224">
                <a:moveTo>
                  <a:pt x="0" y="0"/>
                </a:moveTo>
                <a:lnTo>
                  <a:pt x="6465224" y="0"/>
                </a:lnTo>
                <a:lnTo>
                  <a:pt x="6465224" y="6465224"/>
                </a:lnTo>
                <a:lnTo>
                  <a:pt x="0" y="6465224"/>
                </a:lnTo>
                <a:lnTo>
                  <a:pt x="0" y="0"/>
                </a:lnTo>
                <a:close/>
              </a:path>
            </a:pathLst>
          </a:custGeom>
          <a:blipFill>
            <a:blip r:embed="rId2">
              <a:alphaModFix amt="61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1787" y="5412186"/>
            <a:ext cx="5973819" cy="5800035"/>
          </a:xfrm>
          <a:custGeom>
            <a:avLst/>
            <a:gdLst/>
            <a:ahLst/>
            <a:cxnLst/>
            <a:rect r="r" b="b" t="t" l="l"/>
            <a:pathLst>
              <a:path h="5800035" w="5973819">
                <a:moveTo>
                  <a:pt x="0" y="0"/>
                </a:moveTo>
                <a:lnTo>
                  <a:pt x="5973819" y="0"/>
                </a:lnTo>
                <a:lnTo>
                  <a:pt x="5973819" y="5800035"/>
                </a:lnTo>
                <a:lnTo>
                  <a:pt x="0" y="5800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746431" y="-2571032"/>
            <a:ext cx="5973819" cy="5800035"/>
          </a:xfrm>
          <a:custGeom>
            <a:avLst/>
            <a:gdLst/>
            <a:ahLst/>
            <a:cxnLst/>
            <a:rect r="r" b="b" t="t" l="l"/>
            <a:pathLst>
              <a:path h="5800035" w="5973819">
                <a:moveTo>
                  <a:pt x="0" y="0"/>
                </a:moveTo>
                <a:lnTo>
                  <a:pt x="5973819" y="0"/>
                </a:lnTo>
                <a:lnTo>
                  <a:pt x="5973819" y="5800035"/>
                </a:lnTo>
                <a:lnTo>
                  <a:pt x="0" y="58000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741592" y="609495"/>
            <a:ext cx="16804816" cy="1042225"/>
            <a:chOff x="0" y="0"/>
            <a:chExt cx="8145755" cy="505195"/>
          </a:xfrm>
        </p:grpSpPr>
        <p:sp>
          <p:nvSpPr>
            <p:cNvPr name="Freeform 7" id="7"/>
            <p:cNvSpPr/>
            <p:nvPr/>
          </p:nvSpPr>
          <p:spPr>
            <a:xfrm flipH="false" flipV="false" rot="0">
              <a:off x="0" y="0"/>
              <a:ext cx="8145755" cy="505195"/>
            </a:xfrm>
            <a:custGeom>
              <a:avLst/>
              <a:gdLst/>
              <a:ahLst/>
              <a:cxnLst/>
              <a:rect r="r" b="b" t="t" l="l"/>
              <a:pathLst>
                <a:path h="505195" w="8145755">
                  <a:moveTo>
                    <a:pt x="7942555" y="0"/>
                  </a:moveTo>
                  <a:cubicBezTo>
                    <a:pt x="8054779" y="0"/>
                    <a:pt x="8145755" y="113092"/>
                    <a:pt x="8145755" y="252598"/>
                  </a:cubicBezTo>
                  <a:cubicBezTo>
                    <a:pt x="8145755" y="392103"/>
                    <a:pt x="8054779" y="505195"/>
                    <a:pt x="7942555" y="505195"/>
                  </a:cubicBezTo>
                  <a:lnTo>
                    <a:pt x="203200" y="505195"/>
                  </a:lnTo>
                  <a:cubicBezTo>
                    <a:pt x="90976" y="505195"/>
                    <a:pt x="0" y="392103"/>
                    <a:pt x="0" y="252598"/>
                  </a:cubicBezTo>
                  <a:cubicBezTo>
                    <a:pt x="0" y="113092"/>
                    <a:pt x="90976" y="0"/>
                    <a:pt x="203200" y="0"/>
                  </a:cubicBezTo>
                  <a:close/>
                </a:path>
              </a:pathLst>
            </a:custGeom>
            <a:solidFill>
              <a:srgbClr val="020F1E"/>
            </a:solidFill>
          </p:spPr>
        </p:sp>
        <p:sp>
          <p:nvSpPr>
            <p:cNvPr name="TextBox 8" id="8"/>
            <p:cNvSpPr txBox="true"/>
            <p:nvPr/>
          </p:nvSpPr>
          <p:spPr>
            <a:xfrm>
              <a:off x="0" y="57150"/>
              <a:ext cx="8145755" cy="448045"/>
            </a:xfrm>
            <a:prstGeom prst="rect">
              <a:avLst/>
            </a:prstGeom>
          </p:spPr>
          <p:txBody>
            <a:bodyPr anchor="ctr" rtlCol="false" tIns="50800" lIns="50800" bIns="50800" rIns="50800"/>
            <a:lstStyle/>
            <a:p>
              <a:pPr algn="ctr">
                <a:lnSpc>
                  <a:spcPts val="1660"/>
                </a:lnSpc>
              </a:pPr>
            </a:p>
          </p:txBody>
        </p:sp>
      </p:grpSp>
      <p:grpSp>
        <p:nvGrpSpPr>
          <p:cNvPr name="Group 9" id="9"/>
          <p:cNvGrpSpPr/>
          <p:nvPr/>
        </p:nvGrpSpPr>
        <p:grpSpPr>
          <a:xfrm rot="0">
            <a:off x="8560414" y="3907080"/>
            <a:ext cx="7097899" cy="3196454"/>
            <a:chOff x="0" y="0"/>
            <a:chExt cx="1869405" cy="841864"/>
          </a:xfrm>
        </p:grpSpPr>
        <p:sp>
          <p:nvSpPr>
            <p:cNvPr name="Freeform 10" id="10"/>
            <p:cNvSpPr/>
            <p:nvPr/>
          </p:nvSpPr>
          <p:spPr>
            <a:xfrm flipH="false" flipV="false" rot="0">
              <a:off x="0" y="0"/>
              <a:ext cx="1869405" cy="841864"/>
            </a:xfrm>
            <a:custGeom>
              <a:avLst/>
              <a:gdLst/>
              <a:ahLst/>
              <a:cxnLst/>
              <a:rect r="r" b="b" t="t" l="l"/>
              <a:pathLst>
                <a:path h="841864" w="1869405">
                  <a:moveTo>
                    <a:pt x="27268" y="0"/>
                  </a:moveTo>
                  <a:lnTo>
                    <a:pt x="1842137" y="0"/>
                  </a:lnTo>
                  <a:cubicBezTo>
                    <a:pt x="1857197" y="0"/>
                    <a:pt x="1869405" y="12208"/>
                    <a:pt x="1869405" y="27268"/>
                  </a:cubicBezTo>
                  <a:lnTo>
                    <a:pt x="1869405" y="814596"/>
                  </a:lnTo>
                  <a:cubicBezTo>
                    <a:pt x="1869405" y="829656"/>
                    <a:pt x="1857197" y="841864"/>
                    <a:pt x="1842137" y="841864"/>
                  </a:cubicBezTo>
                  <a:lnTo>
                    <a:pt x="27268" y="841864"/>
                  </a:lnTo>
                  <a:cubicBezTo>
                    <a:pt x="12208" y="841864"/>
                    <a:pt x="0" y="829656"/>
                    <a:pt x="0" y="814596"/>
                  </a:cubicBezTo>
                  <a:lnTo>
                    <a:pt x="0" y="27268"/>
                  </a:lnTo>
                  <a:cubicBezTo>
                    <a:pt x="0" y="12208"/>
                    <a:pt x="12208" y="0"/>
                    <a:pt x="27268" y="0"/>
                  </a:cubicBezTo>
                  <a:close/>
                </a:path>
              </a:pathLst>
            </a:custGeom>
            <a:gradFill rotWithShape="true">
              <a:gsLst>
                <a:gs pos="0">
                  <a:srgbClr val="010D1B">
                    <a:alpha val="68000"/>
                  </a:srgbClr>
                </a:gs>
                <a:gs pos="100000">
                  <a:srgbClr val="041E3D">
                    <a:alpha val="68000"/>
                  </a:srgbClr>
                </a:gs>
              </a:gsLst>
              <a:lin ang="0"/>
            </a:gradFill>
            <a:ln w="38100" cap="rnd">
              <a:solidFill>
                <a:srgbClr val="E93CB0">
                  <a:alpha val="67843"/>
                </a:srgbClr>
              </a:solidFill>
              <a:prstDash val="solid"/>
              <a:round/>
            </a:ln>
          </p:spPr>
        </p:sp>
        <p:sp>
          <p:nvSpPr>
            <p:cNvPr name="TextBox 11" id="11"/>
            <p:cNvSpPr txBox="true"/>
            <p:nvPr/>
          </p:nvSpPr>
          <p:spPr>
            <a:xfrm>
              <a:off x="0" y="57150"/>
              <a:ext cx="1869405" cy="784714"/>
            </a:xfrm>
            <a:prstGeom prst="rect">
              <a:avLst/>
            </a:prstGeom>
          </p:spPr>
          <p:txBody>
            <a:bodyPr anchor="ctr" rtlCol="false" tIns="50800" lIns="50800" bIns="50800" rIns="50800"/>
            <a:lstStyle/>
            <a:p>
              <a:pPr algn="ctr">
                <a:lnSpc>
                  <a:spcPts val="1660"/>
                </a:lnSpc>
              </a:pPr>
            </a:p>
          </p:txBody>
        </p:sp>
      </p:grpSp>
      <p:grpSp>
        <p:nvGrpSpPr>
          <p:cNvPr name="Group 12" id="12"/>
          <p:cNvGrpSpPr/>
          <p:nvPr/>
        </p:nvGrpSpPr>
        <p:grpSpPr>
          <a:xfrm rot="0">
            <a:off x="1906692" y="2931271"/>
            <a:ext cx="6216453" cy="4382705"/>
            <a:chOff x="0" y="0"/>
            <a:chExt cx="963091" cy="678996"/>
          </a:xfrm>
        </p:grpSpPr>
        <p:sp>
          <p:nvSpPr>
            <p:cNvPr name="Freeform 13" id="13"/>
            <p:cNvSpPr/>
            <p:nvPr/>
          </p:nvSpPr>
          <p:spPr>
            <a:xfrm flipH="false" flipV="false" rot="0">
              <a:off x="0" y="0"/>
              <a:ext cx="963091" cy="678996"/>
            </a:xfrm>
            <a:custGeom>
              <a:avLst/>
              <a:gdLst/>
              <a:ahLst/>
              <a:cxnLst/>
              <a:rect r="r" b="b" t="t" l="l"/>
              <a:pathLst>
                <a:path h="678996" w="963091">
                  <a:moveTo>
                    <a:pt x="28644" y="0"/>
                  </a:moveTo>
                  <a:lnTo>
                    <a:pt x="934447" y="0"/>
                  </a:lnTo>
                  <a:cubicBezTo>
                    <a:pt x="942044" y="0"/>
                    <a:pt x="949330" y="3018"/>
                    <a:pt x="954702" y="8390"/>
                  </a:cubicBezTo>
                  <a:cubicBezTo>
                    <a:pt x="960073" y="13761"/>
                    <a:pt x="963091" y="21047"/>
                    <a:pt x="963091" y="28644"/>
                  </a:cubicBezTo>
                  <a:lnTo>
                    <a:pt x="963091" y="650352"/>
                  </a:lnTo>
                  <a:cubicBezTo>
                    <a:pt x="963091" y="666171"/>
                    <a:pt x="950267" y="678996"/>
                    <a:pt x="934447" y="678996"/>
                  </a:cubicBezTo>
                  <a:lnTo>
                    <a:pt x="28644" y="678996"/>
                  </a:lnTo>
                  <a:cubicBezTo>
                    <a:pt x="21047" y="678996"/>
                    <a:pt x="13761" y="675978"/>
                    <a:pt x="8390" y="670606"/>
                  </a:cubicBezTo>
                  <a:cubicBezTo>
                    <a:pt x="3018" y="665234"/>
                    <a:pt x="0" y="657949"/>
                    <a:pt x="0" y="650352"/>
                  </a:cubicBezTo>
                  <a:lnTo>
                    <a:pt x="0" y="28644"/>
                  </a:lnTo>
                  <a:cubicBezTo>
                    <a:pt x="0" y="12824"/>
                    <a:pt x="12824" y="0"/>
                    <a:pt x="28644" y="0"/>
                  </a:cubicBezTo>
                  <a:close/>
                </a:path>
              </a:pathLst>
            </a:custGeom>
            <a:blipFill>
              <a:blip r:embed="rId8"/>
              <a:stretch>
                <a:fillRect l="-2810" t="0" r="-2810" b="0"/>
              </a:stretch>
            </a:blipFill>
          </p:spPr>
        </p:sp>
      </p:grpSp>
      <p:grpSp>
        <p:nvGrpSpPr>
          <p:cNvPr name="Group 14" id="14"/>
          <p:cNvGrpSpPr/>
          <p:nvPr/>
        </p:nvGrpSpPr>
        <p:grpSpPr>
          <a:xfrm rot="0">
            <a:off x="-541579" y="3995473"/>
            <a:ext cx="1570279" cy="157027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B40D1">
                    <a:alpha val="100000"/>
                  </a:srgbClr>
                </a:gs>
                <a:gs pos="100000">
                  <a:srgbClr val="FC35A5">
                    <a:alpha val="100000"/>
                  </a:srgbClr>
                </a:gs>
              </a:gsLst>
              <a:lin ang="2700000"/>
            </a:gradFill>
          </p:spPr>
        </p:sp>
        <p:sp>
          <p:nvSpPr>
            <p:cNvPr name="TextBox 16" id="16"/>
            <p:cNvSpPr txBox="true"/>
            <p:nvPr/>
          </p:nvSpPr>
          <p:spPr>
            <a:xfrm>
              <a:off x="76200" y="133350"/>
              <a:ext cx="660400" cy="603250"/>
            </a:xfrm>
            <a:prstGeom prst="rect">
              <a:avLst/>
            </a:prstGeom>
          </p:spPr>
          <p:txBody>
            <a:bodyPr anchor="ctr" rtlCol="false" tIns="50800" lIns="50800" bIns="50800" rIns="50800"/>
            <a:lstStyle/>
            <a:p>
              <a:pPr algn="ctr">
                <a:lnSpc>
                  <a:spcPts val="1660"/>
                </a:lnSpc>
              </a:pPr>
            </a:p>
          </p:txBody>
        </p:sp>
      </p:grpSp>
      <p:grpSp>
        <p:nvGrpSpPr>
          <p:cNvPr name="Group 17" id="17"/>
          <p:cNvGrpSpPr/>
          <p:nvPr/>
        </p:nvGrpSpPr>
        <p:grpSpPr>
          <a:xfrm rot="0">
            <a:off x="17502860" y="1447905"/>
            <a:ext cx="1570279" cy="157027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B40D1">
                    <a:alpha val="100000"/>
                  </a:srgbClr>
                </a:gs>
                <a:gs pos="100000">
                  <a:srgbClr val="FC35A5">
                    <a:alpha val="100000"/>
                  </a:srgbClr>
                </a:gs>
              </a:gsLst>
              <a:lin ang="2700000"/>
            </a:gradFill>
          </p:spPr>
        </p:sp>
        <p:sp>
          <p:nvSpPr>
            <p:cNvPr name="TextBox 19" id="19"/>
            <p:cNvSpPr txBox="true"/>
            <p:nvPr/>
          </p:nvSpPr>
          <p:spPr>
            <a:xfrm>
              <a:off x="76200" y="133350"/>
              <a:ext cx="660400" cy="603250"/>
            </a:xfrm>
            <a:prstGeom prst="rect">
              <a:avLst/>
            </a:prstGeom>
          </p:spPr>
          <p:txBody>
            <a:bodyPr anchor="ctr" rtlCol="false" tIns="50800" lIns="50800" bIns="50800" rIns="50800"/>
            <a:lstStyle/>
            <a:p>
              <a:pPr algn="ctr">
                <a:lnSpc>
                  <a:spcPts val="1660"/>
                </a:lnSpc>
              </a:pPr>
            </a:p>
          </p:txBody>
        </p:sp>
      </p:grpSp>
      <p:sp>
        <p:nvSpPr>
          <p:cNvPr name="TextBox 20" id="20"/>
          <p:cNvSpPr txBox="true"/>
          <p:nvPr/>
        </p:nvSpPr>
        <p:spPr>
          <a:xfrm rot="0">
            <a:off x="5195182" y="985440"/>
            <a:ext cx="8362229" cy="404637"/>
          </a:xfrm>
          <a:prstGeom prst="rect">
            <a:avLst/>
          </a:prstGeom>
        </p:spPr>
        <p:txBody>
          <a:bodyPr anchor="t" rtlCol="false" tIns="0" lIns="0" bIns="0" rIns="0">
            <a:spAutoFit/>
          </a:bodyPr>
          <a:lstStyle/>
          <a:p>
            <a:pPr algn="ctr" marL="0" indent="0" lvl="0">
              <a:lnSpc>
                <a:spcPts val="2838"/>
              </a:lnSpc>
            </a:pPr>
            <a:r>
              <a:rPr lang="en-US" b="true" sz="3419">
                <a:solidFill>
                  <a:srgbClr val="FFFBF7"/>
                </a:solidFill>
                <a:latin typeface="TT Chocolates Bold"/>
                <a:ea typeface="TT Chocolates Bold"/>
                <a:cs typeface="TT Chocolates Bold"/>
                <a:sym typeface="TT Chocolates Bold"/>
              </a:rPr>
              <a:t>  AUDIT DE SÉCURITÉ INITIAL</a:t>
            </a:r>
          </a:p>
        </p:txBody>
      </p:sp>
      <p:sp>
        <p:nvSpPr>
          <p:cNvPr name="TextBox 21" id="21"/>
          <p:cNvSpPr txBox="true"/>
          <p:nvPr/>
        </p:nvSpPr>
        <p:spPr>
          <a:xfrm rot="0">
            <a:off x="8631845" y="1991172"/>
            <a:ext cx="8795386" cy="1443925"/>
          </a:xfrm>
          <a:prstGeom prst="rect">
            <a:avLst/>
          </a:prstGeom>
        </p:spPr>
        <p:txBody>
          <a:bodyPr anchor="t" rtlCol="false" tIns="0" lIns="0" bIns="0" rIns="0">
            <a:spAutoFit/>
          </a:bodyPr>
          <a:lstStyle/>
          <a:p>
            <a:pPr algn="l" marL="0" indent="0" lvl="0">
              <a:lnSpc>
                <a:spcPts val="5640"/>
              </a:lnSpc>
            </a:pPr>
            <a:r>
              <a:rPr lang="en-US" b="true" sz="4862">
                <a:solidFill>
                  <a:srgbClr val="E93CB0"/>
                </a:solidFill>
                <a:latin typeface="TT Chocolates Bold"/>
                <a:ea typeface="TT Chocolates Bold"/>
                <a:cs typeface="TT Chocolates Bold"/>
                <a:sym typeface="TT Chocolates Bold"/>
              </a:rPr>
              <a:t>Objectif : </a:t>
            </a:r>
            <a:r>
              <a:rPr lang="en-US" b="true" sz="4862">
                <a:solidFill>
                  <a:srgbClr val="FFFBF7"/>
                </a:solidFill>
                <a:latin typeface="TT Chocolates Bold"/>
                <a:ea typeface="TT Chocolates Bold"/>
                <a:cs typeface="TT Chocolates Bold"/>
                <a:sym typeface="TT Chocolates Bold"/>
              </a:rPr>
              <a:t>identifier les vulnérabilités du serveur</a:t>
            </a:r>
          </a:p>
        </p:txBody>
      </p:sp>
      <p:sp>
        <p:nvSpPr>
          <p:cNvPr name="TextBox 22" id="22"/>
          <p:cNvSpPr txBox="true"/>
          <p:nvPr/>
        </p:nvSpPr>
        <p:spPr>
          <a:xfrm rot="0">
            <a:off x="9441860" y="4279932"/>
            <a:ext cx="2226781" cy="575991"/>
          </a:xfrm>
          <a:prstGeom prst="rect">
            <a:avLst/>
          </a:prstGeom>
        </p:spPr>
        <p:txBody>
          <a:bodyPr anchor="t" rtlCol="false" tIns="0" lIns="0" bIns="0" rIns="0">
            <a:spAutoFit/>
          </a:bodyPr>
          <a:lstStyle/>
          <a:p>
            <a:pPr algn="l" marL="0" indent="0" lvl="0">
              <a:lnSpc>
                <a:spcPts val="4035"/>
              </a:lnSpc>
            </a:pPr>
            <a:r>
              <a:rPr lang="en-US" b="true" sz="4862">
                <a:solidFill>
                  <a:srgbClr val="E93CB0"/>
                </a:solidFill>
                <a:latin typeface="TT Chocolates Bold"/>
                <a:ea typeface="TT Chocolates Bold"/>
                <a:cs typeface="TT Chocolates Bold"/>
                <a:sym typeface="TT Chocolates Bold"/>
              </a:rPr>
              <a:t>Mission</a:t>
            </a:r>
          </a:p>
        </p:txBody>
      </p:sp>
      <p:sp>
        <p:nvSpPr>
          <p:cNvPr name="TextBox 23" id="23"/>
          <p:cNvSpPr txBox="true"/>
          <p:nvPr/>
        </p:nvSpPr>
        <p:spPr>
          <a:xfrm rot="0">
            <a:off x="9001137" y="5132148"/>
            <a:ext cx="6216453" cy="1629385"/>
          </a:xfrm>
          <a:prstGeom prst="rect">
            <a:avLst/>
          </a:prstGeom>
        </p:spPr>
        <p:txBody>
          <a:bodyPr anchor="t" rtlCol="false" tIns="0" lIns="0" bIns="0" rIns="0">
            <a:spAutoFit/>
          </a:bodyPr>
          <a:lstStyle/>
          <a:p>
            <a:pPr algn="just" marL="503142" indent="-251571" lvl="1">
              <a:lnSpc>
                <a:spcPts val="2563"/>
              </a:lnSpc>
              <a:buFont typeface="Arial"/>
              <a:buChar char="•"/>
            </a:pPr>
            <a:r>
              <a:rPr lang="en-US" sz="2330">
                <a:solidFill>
                  <a:srgbClr val="FFFBF7"/>
                </a:solidFill>
                <a:latin typeface="TT Chocolates"/>
                <a:ea typeface="TT Chocolates"/>
                <a:cs typeface="TT Chocolates"/>
                <a:sym typeface="TT Chocolates"/>
              </a:rPr>
              <a:t>Collecte d’infos : ports</a:t>
            </a:r>
            <a:r>
              <a:rPr lang="en-US" sz="2330">
                <a:solidFill>
                  <a:srgbClr val="FFFBF7"/>
                </a:solidFill>
                <a:latin typeface="TT Chocolates"/>
                <a:ea typeface="TT Chocolates"/>
                <a:cs typeface="TT Chocolates"/>
                <a:sym typeface="TT Chocolates"/>
              </a:rPr>
              <a:t>, services, version serveur</a:t>
            </a:r>
          </a:p>
          <a:p>
            <a:pPr algn="just" marL="503142" indent="-251571" lvl="1">
              <a:lnSpc>
                <a:spcPts val="2563"/>
              </a:lnSpc>
              <a:buFont typeface="Arial"/>
              <a:buChar char="•"/>
            </a:pPr>
            <a:r>
              <a:rPr lang="en-US" sz="2330">
                <a:solidFill>
                  <a:srgbClr val="FFFBF7"/>
                </a:solidFill>
                <a:latin typeface="TT Chocolates"/>
                <a:ea typeface="TT Chocolates"/>
                <a:cs typeface="TT Chocolates"/>
                <a:sym typeface="TT Chocolates"/>
              </a:rPr>
              <a:t>Scan de vulnérabilités (Nmap)</a:t>
            </a:r>
          </a:p>
          <a:p>
            <a:pPr algn="just" marL="503142" indent="-251571" lvl="1">
              <a:lnSpc>
                <a:spcPts val="2563"/>
              </a:lnSpc>
              <a:buFont typeface="Arial"/>
              <a:buChar char="•"/>
            </a:pPr>
            <a:r>
              <a:rPr lang="en-US" sz="2330">
                <a:solidFill>
                  <a:srgbClr val="FFFBF7"/>
                </a:solidFill>
                <a:latin typeface="TT Chocolates"/>
                <a:ea typeface="TT Chocolates"/>
                <a:cs typeface="TT Chocolates"/>
                <a:sym typeface="TT Chocolates"/>
              </a:rPr>
              <a:t>Identification des configurations par défaut</a:t>
            </a:r>
          </a:p>
          <a:p>
            <a:pPr algn="just" marL="0" indent="0" lvl="0">
              <a:lnSpc>
                <a:spcPts val="2563"/>
              </a:lnSpc>
            </a:pPr>
          </a:p>
        </p:txBody>
      </p:sp>
      <p:grpSp>
        <p:nvGrpSpPr>
          <p:cNvPr name="Group 24" id="24"/>
          <p:cNvGrpSpPr/>
          <p:nvPr/>
        </p:nvGrpSpPr>
        <p:grpSpPr>
          <a:xfrm rot="0">
            <a:off x="2046101" y="8155918"/>
            <a:ext cx="13171488" cy="1122252"/>
            <a:chOff x="0" y="0"/>
            <a:chExt cx="3469034" cy="295573"/>
          </a:xfrm>
        </p:grpSpPr>
        <p:sp>
          <p:nvSpPr>
            <p:cNvPr name="Freeform 25" id="25"/>
            <p:cNvSpPr/>
            <p:nvPr/>
          </p:nvSpPr>
          <p:spPr>
            <a:xfrm flipH="false" flipV="false" rot="0">
              <a:off x="0" y="0"/>
              <a:ext cx="3469034" cy="295573"/>
            </a:xfrm>
            <a:custGeom>
              <a:avLst/>
              <a:gdLst/>
              <a:ahLst/>
              <a:cxnLst/>
              <a:rect r="r" b="b" t="t" l="l"/>
              <a:pathLst>
                <a:path h="295573" w="3469034">
                  <a:moveTo>
                    <a:pt x="14694" y="0"/>
                  </a:moveTo>
                  <a:lnTo>
                    <a:pt x="3454340" y="0"/>
                  </a:lnTo>
                  <a:cubicBezTo>
                    <a:pt x="3462455" y="0"/>
                    <a:pt x="3469034" y="6579"/>
                    <a:pt x="3469034" y="14694"/>
                  </a:cubicBezTo>
                  <a:lnTo>
                    <a:pt x="3469034" y="280878"/>
                  </a:lnTo>
                  <a:cubicBezTo>
                    <a:pt x="3469034" y="288994"/>
                    <a:pt x="3462455" y="295573"/>
                    <a:pt x="3454340" y="295573"/>
                  </a:cubicBezTo>
                  <a:lnTo>
                    <a:pt x="14694" y="295573"/>
                  </a:lnTo>
                  <a:cubicBezTo>
                    <a:pt x="6579" y="295573"/>
                    <a:pt x="0" y="288994"/>
                    <a:pt x="0" y="280878"/>
                  </a:cubicBezTo>
                  <a:lnTo>
                    <a:pt x="0" y="14694"/>
                  </a:lnTo>
                  <a:cubicBezTo>
                    <a:pt x="0" y="6579"/>
                    <a:pt x="6579" y="0"/>
                    <a:pt x="14694" y="0"/>
                  </a:cubicBezTo>
                  <a:close/>
                </a:path>
              </a:pathLst>
            </a:custGeom>
            <a:gradFill rotWithShape="true">
              <a:gsLst>
                <a:gs pos="0">
                  <a:srgbClr val="010D1B">
                    <a:alpha val="68000"/>
                  </a:srgbClr>
                </a:gs>
                <a:gs pos="100000">
                  <a:srgbClr val="041E3D">
                    <a:alpha val="68000"/>
                  </a:srgbClr>
                </a:gs>
              </a:gsLst>
              <a:lin ang="0"/>
            </a:gradFill>
            <a:ln w="38100" cap="rnd">
              <a:solidFill>
                <a:srgbClr val="E93CB0">
                  <a:alpha val="67843"/>
                </a:srgbClr>
              </a:solidFill>
              <a:prstDash val="solid"/>
              <a:round/>
            </a:ln>
          </p:spPr>
        </p:sp>
        <p:sp>
          <p:nvSpPr>
            <p:cNvPr name="TextBox 26" id="26"/>
            <p:cNvSpPr txBox="true"/>
            <p:nvPr/>
          </p:nvSpPr>
          <p:spPr>
            <a:xfrm>
              <a:off x="0" y="57150"/>
              <a:ext cx="3469034" cy="238423"/>
            </a:xfrm>
            <a:prstGeom prst="rect">
              <a:avLst/>
            </a:prstGeom>
          </p:spPr>
          <p:txBody>
            <a:bodyPr anchor="ctr" rtlCol="false" tIns="50800" lIns="50800" bIns="50800" rIns="50800"/>
            <a:lstStyle/>
            <a:p>
              <a:pPr algn="ctr">
                <a:lnSpc>
                  <a:spcPts val="1660"/>
                </a:lnSpc>
              </a:pPr>
            </a:p>
          </p:txBody>
        </p:sp>
      </p:grpSp>
      <p:sp>
        <p:nvSpPr>
          <p:cNvPr name="TextBox 27" id="27"/>
          <p:cNvSpPr txBox="true"/>
          <p:nvPr/>
        </p:nvSpPr>
        <p:spPr>
          <a:xfrm rot="0">
            <a:off x="2474794" y="8340272"/>
            <a:ext cx="12271638" cy="937899"/>
          </a:xfrm>
          <a:prstGeom prst="rect">
            <a:avLst/>
          </a:prstGeom>
        </p:spPr>
        <p:txBody>
          <a:bodyPr anchor="t" rtlCol="false" tIns="0" lIns="0" bIns="0" rIns="0">
            <a:spAutoFit/>
          </a:bodyPr>
          <a:lstStyle/>
          <a:p>
            <a:pPr algn="just" marL="0" indent="0" lvl="0">
              <a:lnSpc>
                <a:spcPts val="3685"/>
              </a:lnSpc>
            </a:pPr>
            <a:r>
              <a:rPr lang="en-US" b="true" sz="3350">
                <a:solidFill>
                  <a:srgbClr val="FF3131"/>
                </a:solidFill>
                <a:latin typeface="TT Chocolates Bold"/>
                <a:ea typeface="TT Chocolates Bold"/>
                <a:cs typeface="TT Chocolates Bold"/>
                <a:sym typeface="TT Chocolates Bold"/>
              </a:rPr>
              <a:t>Importance : </a:t>
            </a:r>
            <a:r>
              <a:rPr lang="en-US" b="true" sz="3350">
                <a:solidFill>
                  <a:srgbClr val="FFFFFF"/>
                </a:solidFill>
                <a:latin typeface="TT Chocolates Bold"/>
                <a:ea typeface="TT Chocolates Bold"/>
                <a:cs typeface="TT Chocolates Bold"/>
                <a:sym typeface="TT Chocolates Bold"/>
              </a:rPr>
              <a:t>Connaître les faiblesses existantes avant durcissement</a:t>
            </a:r>
          </a:p>
        </p:txBody>
      </p:sp>
      <p:sp>
        <p:nvSpPr>
          <p:cNvPr name="TextBox 28" id="28"/>
          <p:cNvSpPr txBox="true"/>
          <p:nvPr/>
        </p:nvSpPr>
        <p:spPr>
          <a:xfrm rot="0">
            <a:off x="1378094" y="910560"/>
            <a:ext cx="2916827" cy="630595"/>
          </a:xfrm>
          <a:prstGeom prst="rect">
            <a:avLst/>
          </a:prstGeom>
        </p:spPr>
        <p:txBody>
          <a:bodyPr anchor="t" rtlCol="false" tIns="0" lIns="0" bIns="0" rIns="0">
            <a:spAutoFit/>
          </a:bodyPr>
          <a:lstStyle/>
          <a:p>
            <a:pPr algn="l" marL="0" indent="0" lvl="0">
              <a:lnSpc>
                <a:spcPts val="4490"/>
              </a:lnSpc>
            </a:pPr>
            <a:r>
              <a:rPr lang="en-US" b="true" sz="5410">
                <a:solidFill>
                  <a:srgbClr val="E93CB0"/>
                </a:solidFill>
                <a:latin typeface="TT Chocolates Bold"/>
                <a:ea typeface="TT Chocolates Bold"/>
                <a:cs typeface="TT Chocolates Bold"/>
                <a:sym typeface="TT Chocolates Bold"/>
              </a:rPr>
              <a:t>phase 2: </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E3D">
                <a:alpha val="100000"/>
              </a:srgbClr>
            </a:gs>
            <a:gs pos="100000">
              <a:srgbClr val="010D1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5578766" y="-2623117"/>
            <a:ext cx="6465224" cy="6465224"/>
          </a:xfrm>
          <a:custGeom>
            <a:avLst/>
            <a:gdLst/>
            <a:ahLst/>
            <a:cxnLst/>
            <a:rect r="r" b="b" t="t" l="l"/>
            <a:pathLst>
              <a:path h="6465224" w="6465224">
                <a:moveTo>
                  <a:pt x="0" y="0"/>
                </a:moveTo>
                <a:lnTo>
                  <a:pt x="6465224" y="0"/>
                </a:lnTo>
                <a:lnTo>
                  <a:pt x="6465224" y="6465224"/>
                </a:lnTo>
                <a:lnTo>
                  <a:pt x="0" y="6465224"/>
                </a:lnTo>
                <a:lnTo>
                  <a:pt x="0" y="0"/>
                </a:lnTo>
                <a:close/>
              </a:path>
            </a:pathLst>
          </a:custGeom>
          <a:blipFill>
            <a:blip r:embed="rId2">
              <a:alphaModFix amt="6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969108" y="6426063"/>
            <a:ext cx="6465224" cy="6465224"/>
          </a:xfrm>
          <a:custGeom>
            <a:avLst/>
            <a:gdLst/>
            <a:ahLst/>
            <a:cxnLst/>
            <a:rect r="r" b="b" t="t" l="l"/>
            <a:pathLst>
              <a:path h="6465224" w="6465224">
                <a:moveTo>
                  <a:pt x="0" y="0"/>
                </a:moveTo>
                <a:lnTo>
                  <a:pt x="6465224" y="0"/>
                </a:lnTo>
                <a:lnTo>
                  <a:pt x="6465224" y="6465224"/>
                </a:lnTo>
                <a:lnTo>
                  <a:pt x="0" y="6465224"/>
                </a:lnTo>
                <a:lnTo>
                  <a:pt x="0" y="0"/>
                </a:lnTo>
                <a:close/>
              </a:path>
            </a:pathLst>
          </a:custGeom>
          <a:blipFill>
            <a:blip r:embed="rId2">
              <a:alphaModFix amt="61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463691" y="-1452113"/>
            <a:ext cx="5973819" cy="5800035"/>
          </a:xfrm>
          <a:custGeom>
            <a:avLst/>
            <a:gdLst/>
            <a:ahLst/>
            <a:cxnLst/>
            <a:rect r="r" b="b" t="t" l="l"/>
            <a:pathLst>
              <a:path h="5800035" w="5973819">
                <a:moveTo>
                  <a:pt x="0" y="0"/>
                </a:moveTo>
                <a:lnTo>
                  <a:pt x="5973819" y="0"/>
                </a:lnTo>
                <a:lnTo>
                  <a:pt x="5973819" y="5800035"/>
                </a:lnTo>
                <a:lnTo>
                  <a:pt x="0" y="5800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578766" y="5394595"/>
            <a:ext cx="5973819" cy="5800035"/>
          </a:xfrm>
          <a:custGeom>
            <a:avLst/>
            <a:gdLst/>
            <a:ahLst/>
            <a:cxnLst/>
            <a:rect r="r" b="b" t="t" l="l"/>
            <a:pathLst>
              <a:path h="5800035" w="5973819">
                <a:moveTo>
                  <a:pt x="0" y="0"/>
                </a:moveTo>
                <a:lnTo>
                  <a:pt x="5973819" y="0"/>
                </a:lnTo>
                <a:lnTo>
                  <a:pt x="5973819" y="5800035"/>
                </a:lnTo>
                <a:lnTo>
                  <a:pt x="0" y="58000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6" id="6"/>
          <p:cNvSpPr/>
          <p:nvPr/>
        </p:nvSpPr>
        <p:spPr>
          <a:xfrm>
            <a:off x="7660992" y="4250306"/>
            <a:ext cx="6929985" cy="0"/>
          </a:xfrm>
          <a:prstGeom prst="line">
            <a:avLst/>
          </a:prstGeom>
          <a:ln cap="flat" w="28575">
            <a:gradFill>
              <a:gsLst>
                <a:gs pos="0">
                  <a:srgbClr val="9B40D1">
                    <a:alpha val="100000"/>
                  </a:srgbClr>
                </a:gs>
                <a:gs pos="100000">
                  <a:srgbClr val="FC35A5">
                    <a:alpha val="100000"/>
                  </a:srgbClr>
                </a:gs>
              </a:gsLst>
              <a:lin ang="2700000"/>
            </a:gradFill>
            <a:prstDash val="solid"/>
            <a:headEnd type="none" len="sm" w="sm"/>
            <a:tailEnd type="none" len="sm" w="sm"/>
          </a:ln>
        </p:spPr>
      </p:sp>
      <p:sp>
        <p:nvSpPr>
          <p:cNvPr name="AutoShape 7" id="7"/>
          <p:cNvSpPr/>
          <p:nvPr/>
        </p:nvSpPr>
        <p:spPr>
          <a:xfrm>
            <a:off x="7660992" y="6029904"/>
            <a:ext cx="6929985" cy="0"/>
          </a:xfrm>
          <a:prstGeom prst="line">
            <a:avLst/>
          </a:prstGeom>
          <a:ln cap="flat" w="28575">
            <a:gradFill>
              <a:gsLst>
                <a:gs pos="0">
                  <a:srgbClr val="9B40D1">
                    <a:alpha val="100000"/>
                  </a:srgbClr>
                </a:gs>
                <a:gs pos="100000">
                  <a:srgbClr val="FC35A5">
                    <a:alpha val="100000"/>
                  </a:srgbClr>
                </a:gs>
              </a:gsLst>
              <a:lin ang="2700000"/>
            </a:gradFill>
            <a:prstDash val="solid"/>
            <a:headEnd type="none" len="sm" w="sm"/>
            <a:tailEnd type="none" len="sm" w="sm"/>
          </a:ln>
        </p:spPr>
      </p:sp>
      <p:sp>
        <p:nvSpPr>
          <p:cNvPr name="AutoShape 8" id="8"/>
          <p:cNvSpPr/>
          <p:nvPr/>
        </p:nvSpPr>
        <p:spPr>
          <a:xfrm>
            <a:off x="7660992" y="7811687"/>
            <a:ext cx="6929985" cy="0"/>
          </a:xfrm>
          <a:prstGeom prst="line">
            <a:avLst/>
          </a:prstGeom>
          <a:ln cap="flat" w="28575">
            <a:gradFill>
              <a:gsLst>
                <a:gs pos="0">
                  <a:srgbClr val="9B40D1">
                    <a:alpha val="100000"/>
                  </a:srgbClr>
                </a:gs>
                <a:gs pos="100000">
                  <a:srgbClr val="FC35A5">
                    <a:alpha val="100000"/>
                  </a:srgbClr>
                </a:gs>
              </a:gsLst>
              <a:lin ang="2700000"/>
            </a:gradFill>
            <a:prstDash val="solid"/>
            <a:headEnd type="none" len="sm" w="sm"/>
            <a:tailEnd type="none" len="sm" w="sm"/>
          </a:ln>
        </p:spPr>
      </p:sp>
      <p:sp>
        <p:nvSpPr>
          <p:cNvPr name="Freeform 9" id="9"/>
          <p:cNvSpPr/>
          <p:nvPr/>
        </p:nvSpPr>
        <p:spPr>
          <a:xfrm flipH="false" flipV="false" rot="0">
            <a:off x="8196048" y="8216499"/>
            <a:ext cx="747050" cy="1184085"/>
          </a:xfrm>
          <a:custGeom>
            <a:avLst/>
            <a:gdLst/>
            <a:ahLst/>
            <a:cxnLst/>
            <a:rect r="r" b="b" t="t" l="l"/>
            <a:pathLst>
              <a:path h="1184085" w="747050">
                <a:moveTo>
                  <a:pt x="0" y="0"/>
                </a:moveTo>
                <a:lnTo>
                  <a:pt x="747049" y="0"/>
                </a:lnTo>
                <a:lnTo>
                  <a:pt x="747049" y="1184085"/>
                </a:lnTo>
                <a:lnTo>
                  <a:pt x="0" y="11840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7929320" y="6529966"/>
            <a:ext cx="997237" cy="944193"/>
          </a:xfrm>
          <a:custGeom>
            <a:avLst/>
            <a:gdLst/>
            <a:ahLst/>
            <a:cxnLst/>
            <a:rect r="r" b="b" t="t" l="l"/>
            <a:pathLst>
              <a:path h="944193" w="997237">
                <a:moveTo>
                  <a:pt x="0" y="0"/>
                </a:moveTo>
                <a:lnTo>
                  <a:pt x="997238" y="0"/>
                </a:lnTo>
                <a:lnTo>
                  <a:pt x="997238" y="944193"/>
                </a:lnTo>
                <a:lnTo>
                  <a:pt x="0" y="9441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7911551" y="4753543"/>
            <a:ext cx="939212" cy="939212"/>
          </a:xfrm>
          <a:custGeom>
            <a:avLst/>
            <a:gdLst/>
            <a:ahLst/>
            <a:cxnLst/>
            <a:rect r="r" b="b" t="t" l="l"/>
            <a:pathLst>
              <a:path h="939212" w="939212">
                <a:moveTo>
                  <a:pt x="0" y="0"/>
                </a:moveTo>
                <a:lnTo>
                  <a:pt x="939212" y="0"/>
                </a:lnTo>
                <a:lnTo>
                  <a:pt x="939212" y="939212"/>
                </a:lnTo>
                <a:lnTo>
                  <a:pt x="0" y="93921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2" id="12"/>
          <p:cNvGrpSpPr/>
          <p:nvPr/>
        </p:nvGrpSpPr>
        <p:grpSpPr>
          <a:xfrm rot="0">
            <a:off x="17546408" y="-693901"/>
            <a:ext cx="1570279" cy="157027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B40D1">
                    <a:alpha val="100000"/>
                  </a:srgbClr>
                </a:gs>
                <a:gs pos="100000">
                  <a:srgbClr val="FC35A5">
                    <a:alpha val="100000"/>
                  </a:srgbClr>
                </a:gs>
              </a:gsLst>
              <a:lin ang="2700000"/>
            </a:gradFill>
          </p:spPr>
        </p:sp>
        <p:sp>
          <p:nvSpPr>
            <p:cNvPr name="TextBox 14" id="14"/>
            <p:cNvSpPr txBox="true"/>
            <p:nvPr/>
          </p:nvSpPr>
          <p:spPr>
            <a:xfrm>
              <a:off x="76200" y="133350"/>
              <a:ext cx="660400" cy="603250"/>
            </a:xfrm>
            <a:prstGeom prst="rect">
              <a:avLst/>
            </a:prstGeom>
          </p:spPr>
          <p:txBody>
            <a:bodyPr anchor="ctr" rtlCol="false" tIns="50800" lIns="50800" bIns="50800" rIns="50800"/>
            <a:lstStyle/>
            <a:p>
              <a:pPr algn="ctr">
                <a:lnSpc>
                  <a:spcPts val="1660"/>
                </a:lnSpc>
              </a:pPr>
            </a:p>
          </p:txBody>
        </p:sp>
      </p:grpSp>
      <p:grpSp>
        <p:nvGrpSpPr>
          <p:cNvPr name="Group 15" id="15"/>
          <p:cNvGrpSpPr/>
          <p:nvPr/>
        </p:nvGrpSpPr>
        <p:grpSpPr>
          <a:xfrm rot="0">
            <a:off x="751117" y="609495"/>
            <a:ext cx="16804816" cy="1354861"/>
            <a:chOff x="0" y="0"/>
            <a:chExt cx="8145755" cy="656738"/>
          </a:xfrm>
        </p:grpSpPr>
        <p:sp>
          <p:nvSpPr>
            <p:cNvPr name="Freeform 16" id="16"/>
            <p:cNvSpPr/>
            <p:nvPr/>
          </p:nvSpPr>
          <p:spPr>
            <a:xfrm flipH="false" flipV="false" rot="0">
              <a:off x="0" y="0"/>
              <a:ext cx="8145755" cy="656738"/>
            </a:xfrm>
            <a:custGeom>
              <a:avLst/>
              <a:gdLst/>
              <a:ahLst/>
              <a:cxnLst/>
              <a:rect r="r" b="b" t="t" l="l"/>
              <a:pathLst>
                <a:path h="656738" w="8145755">
                  <a:moveTo>
                    <a:pt x="7942555" y="0"/>
                  </a:moveTo>
                  <a:cubicBezTo>
                    <a:pt x="8054779" y="0"/>
                    <a:pt x="8145755" y="147016"/>
                    <a:pt x="8145755" y="328369"/>
                  </a:cubicBezTo>
                  <a:cubicBezTo>
                    <a:pt x="8145755" y="509722"/>
                    <a:pt x="8054779" y="656738"/>
                    <a:pt x="7942555" y="656738"/>
                  </a:cubicBezTo>
                  <a:lnTo>
                    <a:pt x="203200" y="656738"/>
                  </a:lnTo>
                  <a:cubicBezTo>
                    <a:pt x="90976" y="656738"/>
                    <a:pt x="0" y="509722"/>
                    <a:pt x="0" y="328369"/>
                  </a:cubicBezTo>
                  <a:cubicBezTo>
                    <a:pt x="0" y="147016"/>
                    <a:pt x="90976" y="0"/>
                    <a:pt x="203200" y="0"/>
                  </a:cubicBezTo>
                  <a:close/>
                </a:path>
              </a:pathLst>
            </a:custGeom>
            <a:solidFill>
              <a:srgbClr val="020F1E"/>
            </a:solidFill>
          </p:spPr>
        </p:sp>
        <p:sp>
          <p:nvSpPr>
            <p:cNvPr name="TextBox 17" id="17"/>
            <p:cNvSpPr txBox="true"/>
            <p:nvPr/>
          </p:nvSpPr>
          <p:spPr>
            <a:xfrm>
              <a:off x="0" y="57150"/>
              <a:ext cx="8145755" cy="599588"/>
            </a:xfrm>
            <a:prstGeom prst="rect">
              <a:avLst/>
            </a:prstGeom>
          </p:spPr>
          <p:txBody>
            <a:bodyPr anchor="ctr" rtlCol="false" tIns="50800" lIns="50800" bIns="50800" rIns="50800"/>
            <a:lstStyle/>
            <a:p>
              <a:pPr algn="ctr">
                <a:lnSpc>
                  <a:spcPts val="1660"/>
                </a:lnSpc>
              </a:pPr>
            </a:p>
          </p:txBody>
        </p:sp>
      </p:grpSp>
      <p:sp>
        <p:nvSpPr>
          <p:cNvPr name="Freeform 18" id="18"/>
          <p:cNvSpPr/>
          <p:nvPr/>
        </p:nvSpPr>
        <p:spPr>
          <a:xfrm flipH="false" flipV="false" rot="0">
            <a:off x="7834779" y="2661400"/>
            <a:ext cx="1091778" cy="1107893"/>
          </a:xfrm>
          <a:custGeom>
            <a:avLst/>
            <a:gdLst/>
            <a:ahLst/>
            <a:cxnLst/>
            <a:rect r="r" b="b" t="t" l="l"/>
            <a:pathLst>
              <a:path h="1107893" w="1091778">
                <a:moveTo>
                  <a:pt x="0" y="0"/>
                </a:moveTo>
                <a:lnTo>
                  <a:pt x="1091779" y="0"/>
                </a:lnTo>
                <a:lnTo>
                  <a:pt x="1091779" y="1107894"/>
                </a:lnTo>
                <a:lnTo>
                  <a:pt x="0" y="110789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9" id="19"/>
          <p:cNvSpPr txBox="true"/>
          <p:nvPr/>
        </p:nvSpPr>
        <p:spPr>
          <a:xfrm rot="0">
            <a:off x="741592" y="4997397"/>
            <a:ext cx="6355665" cy="1884685"/>
          </a:xfrm>
          <a:prstGeom prst="rect">
            <a:avLst/>
          </a:prstGeom>
        </p:spPr>
        <p:txBody>
          <a:bodyPr anchor="t" rtlCol="false" tIns="0" lIns="0" bIns="0" rIns="0">
            <a:spAutoFit/>
          </a:bodyPr>
          <a:lstStyle/>
          <a:p>
            <a:pPr algn="l">
              <a:lnSpc>
                <a:spcPts val="5004"/>
              </a:lnSpc>
            </a:pPr>
            <a:r>
              <a:rPr lang="en-US" sz="3849">
                <a:solidFill>
                  <a:srgbClr val="E93CB0"/>
                </a:solidFill>
                <a:latin typeface="TT Chocolates"/>
                <a:ea typeface="TT Chocolates"/>
                <a:cs typeface="TT Chocolates"/>
                <a:sym typeface="TT Chocolates"/>
              </a:rPr>
              <a:t>Objectif : </a:t>
            </a:r>
            <a:r>
              <a:rPr lang="en-US" sz="3849">
                <a:solidFill>
                  <a:srgbClr val="FFFBF7"/>
                </a:solidFill>
                <a:latin typeface="TT Chocolates"/>
                <a:ea typeface="TT Chocolates"/>
                <a:cs typeface="TT Chocolates"/>
                <a:sym typeface="TT Chocolates"/>
              </a:rPr>
              <a:t>Transformer les résultats en problèmes exploitables</a:t>
            </a:r>
          </a:p>
        </p:txBody>
      </p:sp>
      <p:sp>
        <p:nvSpPr>
          <p:cNvPr name="TextBox 20" id="20"/>
          <p:cNvSpPr txBox="true"/>
          <p:nvPr/>
        </p:nvSpPr>
        <p:spPr>
          <a:xfrm rot="0">
            <a:off x="9326803" y="2956494"/>
            <a:ext cx="5524301" cy="355600"/>
          </a:xfrm>
          <a:prstGeom prst="rect">
            <a:avLst/>
          </a:prstGeom>
        </p:spPr>
        <p:txBody>
          <a:bodyPr anchor="t" rtlCol="false" tIns="0" lIns="0" bIns="0" rIns="0">
            <a:spAutoFit/>
          </a:bodyPr>
          <a:lstStyle/>
          <a:p>
            <a:pPr algn="l" marL="539753" indent="-269876" lvl="1">
              <a:lnSpc>
                <a:spcPts val="2750"/>
              </a:lnSpc>
              <a:buFont typeface="Arial"/>
              <a:buChar char="•"/>
            </a:pPr>
            <a:r>
              <a:rPr lang="en-US" b="true" sz="2500">
                <a:solidFill>
                  <a:srgbClr val="FFFBF7"/>
                </a:solidFill>
                <a:latin typeface="TT Chocolates Bold"/>
                <a:ea typeface="TT Chocolates Bold"/>
                <a:cs typeface="TT Chocolates Bold"/>
                <a:sym typeface="TT Chocolates Bold"/>
              </a:rPr>
              <a:t>Cl</a:t>
            </a:r>
            <a:r>
              <a:rPr lang="en-US" b="true" sz="2500">
                <a:solidFill>
                  <a:srgbClr val="FFFBF7"/>
                </a:solidFill>
                <a:latin typeface="TT Chocolates Bold"/>
                <a:ea typeface="TT Chocolates Bold"/>
                <a:cs typeface="TT Chocolates Bold"/>
                <a:sym typeface="TT Chocolates Bold"/>
              </a:rPr>
              <a:t>assification des vulnérabilités</a:t>
            </a:r>
          </a:p>
        </p:txBody>
      </p:sp>
      <p:sp>
        <p:nvSpPr>
          <p:cNvPr name="TextBox 21" id="21"/>
          <p:cNvSpPr txBox="true"/>
          <p:nvPr/>
        </p:nvSpPr>
        <p:spPr>
          <a:xfrm rot="0">
            <a:off x="9326803" y="4823306"/>
            <a:ext cx="4616353" cy="1041400"/>
          </a:xfrm>
          <a:prstGeom prst="rect">
            <a:avLst/>
          </a:prstGeom>
        </p:spPr>
        <p:txBody>
          <a:bodyPr anchor="t" rtlCol="false" tIns="0" lIns="0" bIns="0" rIns="0">
            <a:spAutoFit/>
          </a:bodyPr>
          <a:lstStyle/>
          <a:p>
            <a:pPr algn="l" marL="539753" indent="-269876" lvl="1">
              <a:lnSpc>
                <a:spcPts val="2750"/>
              </a:lnSpc>
              <a:buFont typeface="Arial"/>
              <a:buChar char="•"/>
            </a:pPr>
            <a:r>
              <a:rPr lang="en-US" b="true" sz="2500">
                <a:solidFill>
                  <a:srgbClr val="FFFBF7"/>
                </a:solidFill>
                <a:latin typeface="TT Chocolates Bold"/>
                <a:ea typeface="TT Chocolates Bold"/>
                <a:cs typeface="TT Chocolates Bold"/>
                <a:sym typeface="TT Chocolates Bold"/>
              </a:rPr>
              <a:t>Évaluation du risque (faible, moyen, él</a:t>
            </a:r>
            <a:r>
              <a:rPr lang="en-US" b="true" sz="2500">
                <a:solidFill>
                  <a:srgbClr val="FFFBF7"/>
                </a:solidFill>
                <a:latin typeface="TT Chocolates Bold"/>
                <a:ea typeface="TT Chocolates Bold"/>
                <a:cs typeface="TT Chocolates Bold"/>
                <a:sym typeface="TT Chocolates Bold"/>
              </a:rPr>
              <a:t>evé)</a:t>
            </a:r>
          </a:p>
          <a:p>
            <a:pPr algn="l">
              <a:lnSpc>
                <a:spcPts val="2750"/>
              </a:lnSpc>
            </a:pPr>
          </a:p>
        </p:txBody>
      </p:sp>
      <p:sp>
        <p:nvSpPr>
          <p:cNvPr name="TextBox 22" id="22"/>
          <p:cNvSpPr txBox="true"/>
          <p:nvPr/>
        </p:nvSpPr>
        <p:spPr>
          <a:xfrm rot="0">
            <a:off x="9326803" y="6632174"/>
            <a:ext cx="4066431" cy="355600"/>
          </a:xfrm>
          <a:prstGeom prst="rect">
            <a:avLst/>
          </a:prstGeom>
        </p:spPr>
        <p:txBody>
          <a:bodyPr anchor="t" rtlCol="false" tIns="0" lIns="0" bIns="0" rIns="0">
            <a:spAutoFit/>
          </a:bodyPr>
          <a:lstStyle/>
          <a:p>
            <a:pPr algn="l" marL="539753" indent="-269876" lvl="1">
              <a:lnSpc>
                <a:spcPts val="2750"/>
              </a:lnSpc>
              <a:buFont typeface="Arial"/>
              <a:buChar char="•"/>
            </a:pPr>
            <a:r>
              <a:rPr lang="en-US" b="true" sz="2500">
                <a:solidFill>
                  <a:srgbClr val="FFFBF7"/>
                </a:solidFill>
                <a:latin typeface="TT Chocolates Bold"/>
                <a:ea typeface="TT Chocolates Bold"/>
                <a:cs typeface="TT Chocolates Bold"/>
                <a:sym typeface="TT Chocolates Bold"/>
              </a:rPr>
              <a:t>Déf</a:t>
            </a:r>
            <a:r>
              <a:rPr lang="en-US" b="true" sz="2500">
                <a:solidFill>
                  <a:srgbClr val="FFFBF7"/>
                </a:solidFill>
                <a:latin typeface="TT Chocolates Bold"/>
                <a:ea typeface="TT Chocolates Bold"/>
                <a:cs typeface="TT Chocolates Bold"/>
                <a:sym typeface="TT Chocolates Bold"/>
              </a:rPr>
              <a:t>inition des priorités</a:t>
            </a:r>
          </a:p>
        </p:txBody>
      </p:sp>
      <p:sp>
        <p:nvSpPr>
          <p:cNvPr name="TextBox 23" id="23"/>
          <p:cNvSpPr txBox="true"/>
          <p:nvPr/>
        </p:nvSpPr>
        <p:spPr>
          <a:xfrm rot="0">
            <a:off x="9499759" y="8597499"/>
            <a:ext cx="6375746" cy="1041400"/>
          </a:xfrm>
          <a:prstGeom prst="rect">
            <a:avLst/>
          </a:prstGeom>
        </p:spPr>
        <p:txBody>
          <a:bodyPr anchor="t" rtlCol="false" tIns="0" lIns="0" bIns="0" rIns="0">
            <a:spAutoFit/>
          </a:bodyPr>
          <a:lstStyle/>
          <a:p>
            <a:pPr algn="l" marL="539753" indent="-269876" lvl="1">
              <a:lnSpc>
                <a:spcPts val="2750"/>
              </a:lnSpc>
              <a:buFont typeface="Arial"/>
              <a:buChar char="•"/>
            </a:pPr>
            <a:r>
              <a:rPr lang="en-US" b="true" sz="2500">
                <a:solidFill>
                  <a:srgbClr val="FFFBF7"/>
                </a:solidFill>
                <a:latin typeface="TT Chocolates Bold"/>
                <a:ea typeface="TT Chocolates Bold"/>
                <a:cs typeface="TT Chocolates Bold"/>
                <a:sym typeface="TT Chocolates Bold"/>
              </a:rPr>
              <a:t>Comprendre les enjeux de</a:t>
            </a:r>
            <a:r>
              <a:rPr lang="en-US" b="true" sz="2500">
                <a:solidFill>
                  <a:srgbClr val="FFFBF7"/>
                </a:solidFill>
                <a:latin typeface="TT Chocolates Bold"/>
                <a:ea typeface="TT Chocolates Bold"/>
                <a:cs typeface="TT Chocolates Bold"/>
                <a:sym typeface="TT Chocolates Bold"/>
              </a:rPr>
              <a:t> sécurité, pas seulement les résultats techniques</a:t>
            </a:r>
          </a:p>
          <a:p>
            <a:pPr algn="l" marL="0" indent="0" lvl="0">
              <a:lnSpc>
                <a:spcPts val="2750"/>
              </a:lnSpc>
            </a:pPr>
          </a:p>
        </p:txBody>
      </p:sp>
      <p:sp>
        <p:nvSpPr>
          <p:cNvPr name="TextBox 24" id="24"/>
          <p:cNvSpPr txBox="true"/>
          <p:nvPr/>
        </p:nvSpPr>
        <p:spPr>
          <a:xfrm rot="0">
            <a:off x="5204707" y="899715"/>
            <a:ext cx="10522075" cy="952643"/>
          </a:xfrm>
          <a:prstGeom prst="rect">
            <a:avLst/>
          </a:prstGeom>
        </p:spPr>
        <p:txBody>
          <a:bodyPr anchor="t" rtlCol="false" tIns="0" lIns="0" bIns="0" rIns="0">
            <a:spAutoFit/>
          </a:bodyPr>
          <a:lstStyle/>
          <a:p>
            <a:pPr algn="ctr" marL="0" indent="0" lvl="0">
              <a:lnSpc>
                <a:spcPts val="3727"/>
              </a:lnSpc>
            </a:pPr>
            <a:r>
              <a:rPr lang="en-US" b="true" sz="3419">
                <a:solidFill>
                  <a:srgbClr val="FFFBF7"/>
                </a:solidFill>
                <a:latin typeface="TT Chocolates Bold"/>
                <a:ea typeface="TT Chocolates Bold"/>
                <a:cs typeface="TT Chocolates Bold"/>
                <a:sym typeface="TT Chocolates Bold"/>
              </a:rPr>
              <a:t>ANALYSE DES RÉSULTATS ET ÉVALUATION DES RISQUES</a:t>
            </a:r>
          </a:p>
        </p:txBody>
      </p:sp>
      <p:sp>
        <p:nvSpPr>
          <p:cNvPr name="TextBox 25" id="25"/>
          <p:cNvSpPr txBox="true"/>
          <p:nvPr/>
        </p:nvSpPr>
        <p:spPr>
          <a:xfrm rot="0">
            <a:off x="1298352" y="1066878"/>
            <a:ext cx="2916827" cy="630595"/>
          </a:xfrm>
          <a:prstGeom prst="rect">
            <a:avLst/>
          </a:prstGeom>
        </p:spPr>
        <p:txBody>
          <a:bodyPr anchor="t" rtlCol="false" tIns="0" lIns="0" bIns="0" rIns="0">
            <a:spAutoFit/>
          </a:bodyPr>
          <a:lstStyle/>
          <a:p>
            <a:pPr algn="l" marL="0" indent="0" lvl="0">
              <a:lnSpc>
                <a:spcPts val="4490"/>
              </a:lnSpc>
            </a:pPr>
            <a:r>
              <a:rPr lang="en-US" b="true" sz="5410">
                <a:solidFill>
                  <a:srgbClr val="E93CB0"/>
                </a:solidFill>
                <a:latin typeface="TT Chocolates Bold"/>
                <a:ea typeface="TT Chocolates Bold"/>
                <a:cs typeface="TT Chocolates Bold"/>
                <a:sym typeface="TT Chocolates Bold"/>
              </a:rPr>
              <a:t>phase 3: </a:t>
            </a:r>
          </a:p>
        </p:txBody>
      </p:sp>
      <p:grpSp>
        <p:nvGrpSpPr>
          <p:cNvPr name="Group 26" id="26"/>
          <p:cNvGrpSpPr/>
          <p:nvPr/>
        </p:nvGrpSpPr>
        <p:grpSpPr>
          <a:xfrm rot="0">
            <a:off x="263504" y="8473160"/>
            <a:ext cx="1570279" cy="1570279"/>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B40D1">
                    <a:alpha val="100000"/>
                  </a:srgbClr>
                </a:gs>
                <a:gs pos="100000">
                  <a:srgbClr val="FC35A5">
                    <a:alpha val="100000"/>
                  </a:srgbClr>
                </a:gs>
              </a:gsLst>
              <a:lin ang="2700000"/>
            </a:gradFill>
          </p:spPr>
        </p:sp>
        <p:sp>
          <p:nvSpPr>
            <p:cNvPr name="TextBox 28" id="28"/>
            <p:cNvSpPr txBox="true"/>
            <p:nvPr/>
          </p:nvSpPr>
          <p:spPr>
            <a:xfrm>
              <a:off x="76200" y="133350"/>
              <a:ext cx="660400" cy="603250"/>
            </a:xfrm>
            <a:prstGeom prst="rect">
              <a:avLst/>
            </a:prstGeom>
          </p:spPr>
          <p:txBody>
            <a:bodyPr anchor="ctr" rtlCol="false" tIns="50800" lIns="50800" bIns="50800" rIns="50800"/>
            <a:lstStyle/>
            <a:p>
              <a:pPr algn="ctr">
                <a:lnSpc>
                  <a:spcPts val="1660"/>
                </a:lnSpc>
              </a:pPr>
            </a:p>
          </p:txBody>
        </p:sp>
      </p:gr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E3D">
                <a:alpha val="100000"/>
              </a:srgbClr>
            </a:gs>
            <a:gs pos="100000">
              <a:srgbClr val="010D1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5578766" y="-2623117"/>
            <a:ext cx="6465224" cy="6465224"/>
          </a:xfrm>
          <a:custGeom>
            <a:avLst/>
            <a:gdLst/>
            <a:ahLst/>
            <a:cxnLst/>
            <a:rect r="r" b="b" t="t" l="l"/>
            <a:pathLst>
              <a:path h="6465224" w="6465224">
                <a:moveTo>
                  <a:pt x="0" y="0"/>
                </a:moveTo>
                <a:lnTo>
                  <a:pt x="6465224" y="0"/>
                </a:lnTo>
                <a:lnTo>
                  <a:pt x="6465224" y="6465224"/>
                </a:lnTo>
                <a:lnTo>
                  <a:pt x="0" y="6465224"/>
                </a:lnTo>
                <a:lnTo>
                  <a:pt x="0" y="0"/>
                </a:lnTo>
                <a:close/>
              </a:path>
            </a:pathLst>
          </a:custGeom>
          <a:blipFill>
            <a:blip r:embed="rId2">
              <a:alphaModFix amt="6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36007" y="2864624"/>
            <a:ext cx="6465224" cy="6465224"/>
          </a:xfrm>
          <a:custGeom>
            <a:avLst/>
            <a:gdLst/>
            <a:ahLst/>
            <a:cxnLst/>
            <a:rect r="r" b="b" t="t" l="l"/>
            <a:pathLst>
              <a:path h="6465224" w="6465224">
                <a:moveTo>
                  <a:pt x="0" y="0"/>
                </a:moveTo>
                <a:lnTo>
                  <a:pt x="6465224" y="0"/>
                </a:lnTo>
                <a:lnTo>
                  <a:pt x="6465224" y="6465224"/>
                </a:lnTo>
                <a:lnTo>
                  <a:pt x="0" y="6465224"/>
                </a:lnTo>
                <a:lnTo>
                  <a:pt x="0" y="0"/>
                </a:lnTo>
                <a:close/>
              </a:path>
            </a:pathLst>
          </a:custGeom>
          <a:blipFill>
            <a:blip r:embed="rId2">
              <a:alphaModFix amt="61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958209" y="-2864618"/>
            <a:ext cx="5973819" cy="5800035"/>
          </a:xfrm>
          <a:custGeom>
            <a:avLst/>
            <a:gdLst/>
            <a:ahLst/>
            <a:cxnLst/>
            <a:rect r="r" b="b" t="t" l="l"/>
            <a:pathLst>
              <a:path h="5800035" w="5973819">
                <a:moveTo>
                  <a:pt x="0" y="0"/>
                </a:moveTo>
                <a:lnTo>
                  <a:pt x="5973818" y="0"/>
                </a:lnTo>
                <a:lnTo>
                  <a:pt x="5973818" y="5800035"/>
                </a:lnTo>
                <a:lnTo>
                  <a:pt x="0" y="5800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578766" y="5394595"/>
            <a:ext cx="5973819" cy="5800035"/>
          </a:xfrm>
          <a:custGeom>
            <a:avLst/>
            <a:gdLst/>
            <a:ahLst/>
            <a:cxnLst/>
            <a:rect r="r" b="b" t="t" l="l"/>
            <a:pathLst>
              <a:path h="5800035" w="5973819">
                <a:moveTo>
                  <a:pt x="0" y="0"/>
                </a:moveTo>
                <a:lnTo>
                  <a:pt x="5973819" y="0"/>
                </a:lnTo>
                <a:lnTo>
                  <a:pt x="5973819" y="5800035"/>
                </a:lnTo>
                <a:lnTo>
                  <a:pt x="0" y="58000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6669097" y="2421362"/>
            <a:ext cx="2154018" cy="2687475"/>
            <a:chOff x="0" y="0"/>
            <a:chExt cx="758212" cy="945988"/>
          </a:xfrm>
        </p:grpSpPr>
        <p:sp>
          <p:nvSpPr>
            <p:cNvPr name="Freeform 7" id="7"/>
            <p:cNvSpPr/>
            <p:nvPr/>
          </p:nvSpPr>
          <p:spPr>
            <a:xfrm flipH="false" flipV="false" rot="0">
              <a:off x="0" y="0"/>
              <a:ext cx="758212" cy="945988"/>
            </a:xfrm>
            <a:custGeom>
              <a:avLst/>
              <a:gdLst/>
              <a:ahLst/>
              <a:cxnLst/>
              <a:rect r="r" b="b" t="t" l="l"/>
              <a:pathLst>
                <a:path h="945988" w="758212">
                  <a:moveTo>
                    <a:pt x="89854" y="0"/>
                  </a:moveTo>
                  <a:lnTo>
                    <a:pt x="668357" y="0"/>
                  </a:lnTo>
                  <a:cubicBezTo>
                    <a:pt x="717982" y="0"/>
                    <a:pt x="758212" y="40229"/>
                    <a:pt x="758212" y="89854"/>
                  </a:cubicBezTo>
                  <a:lnTo>
                    <a:pt x="758212" y="856133"/>
                  </a:lnTo>
                  <a:cubicBezTo>
                    <a:pt x="758212" y="905759"/>
                    <a:pt x="717982" y="945988"/>
                    <a:pt x="668357" y="945988"/>
                  </a:cubicBezTo>
                  <a:lnTo>
                    <a:pt x="89854" y="945988"/>
                  </a:lnTo>
                  <a:cubicBezTo>
                    <a:pt x="66024" y="945988"/>
                    <a:pt x="43169" y="936521"/>
                    <a:pt x="26318" y="919670"/>
                  </a:cubicBezTo>
                  <a:cubicBezTo>
                    <a:pt x="9467" y="902819"/>
                    <a:pt x="0" y="879964"/>
                    <a:pt x="0" y="856133"/>
                  </a:cubicBezTo>
                  <a:lnTo>
                    <a:pt x="0" y="89854"/>
                  </a:lnTo>
                  <a:cubicBezTo>
                    <a:pt x="0" y="40229"/>
                    <a:pt x="40229" y="0"/>
                    <a:pt x="89854" y="0"/>
                  </a:cubicBezTo>
                  <a:close/>
                </a:path>
              </a:pathLst>
            </a:custGeom>
            <a:gradFill rotWithShape="true">
              <a:gsLst>
                <a:gs pos="0">
                  <a:srgbClr val="010D1B">
                    <a:alpha val="68000"/>
                  </a:srgbClr>
                </a:gs>
                <a:gs pos="100000">
                  <a:srgbClr val="041E3D">
                    <a:alpha val="68000"/>
                  </a:srgbClr>
                </a:gs>
              </a:gsLst>
              <a:lin ang="0"/>
            </a:gradFill>
            <a:ln w="38100" cap="rnd">
              <a:solidFill>
                <a:srgbClr val="E93CB0">
                  <a:alpha val="67843"/>
                </a:srgbClr>
              </a:solidFill>
              <a:prstDash val="solid"/>
              <a:round/>
            </a:ln>
          </p:spPr>
        </p:sp>
        <p:sp>
          <p:nvSpPr>
            <p:cNvPr name="TextBox 8" id="8"/>
            <p:cNvSpPr txBox="true"/>
            <p:nvPr/>
          </p:nvSpPr>
          <p:spPr>
            <a:xfrm>
              <a:off x="0" y="57150"/>
              <a:ext cx="758212" cy="888838"/>
            </a:xfrm>
            <a:prstGeom prst="rect">
              <a:avLst/>
            </a:prstGeom>
          </p:spPr>
          <p:txBody>
            <a:bodyPr anchor="ctr" rtlCol="false" tIns="50800" lIns="50800" bIns="50800" rIns="50800"/>
            <a:lstStyle/>
            <a:p>
              <a:pPr algn="ctr">
                <a:lnSpc>
                  <a:spcPts val="1660"/>
                </a:lnSpc>
              </a:pPr>
            </a:p>
          </p:txBody>
        </p:sp>
      </p:grpSp>
      <p:grpSp>
        <p:nvGrpSpPr>
          <p:cNvPr name="Group 9" id="9"/>
          <p:cNvGrpSpPr/>
          <p:nvPr/>
        </p:nvGrpSpPr>
        <p:grpSpPr>
          <a:xfrm rot="0">
            <a:off x="8984868" y="2421362"/>
            <a:ext cx="2154018" cy="2687475"/>
            <a:chOff x="0" y="0"/>
            <a:chExt cx="758212" cy="945988"/>
          </a:xfrm>
        </p:grpSpPr>
        <p:sp>
          <p:nvSpPr>
            <p:cNvPr name="Freeform 10" id="10"/>
            <p:cNvSpPr/>
            <p:nvPr/>
          </p:nvSpPr>
          <p:spPr>
            <a:xfrm flipH="false" flipV="false" rot="0">
              <a:off x="0" y="0"/>
              <a:ext cx="758212" cy="945988"/>
            </a:xfrm>
            <a:custGeom>
              <a:avLst/>
              <a:gdLst/>
              <a:ahLst/>
              <a:cxnLst/>
              <a:rect r="r" b="b" t="t" l="l"/>
              <a:pathLst>
                <a:path h="945988" w="758212">
                  <a:moveTo>
                    <a:pt x="89854" y="0"/>
                  </a:moveTo>
                  <a:lnTo>
                    <a:pt x="668357" y="0"/>
                  </a:lnTo>
                  <a:cubicBezTo>
                    <a:pt x="717982" y="0"/>
                    <a:pt x="758212" y="40229"/>
                    <a:pt x="758212" y="89854"/>
                  </a:cubicBezTo>
                  <a:lnTo>
                    <a:pt x="758212" y="856133"/>
                  </a:lnTo>
                  <a:cubicBezTo>
                    <a:pt x="758212" y="905759"/>
                    <a:pt x="717982" y="945988"/>
                    <a:pt x="668357" y="945988"/>
                  </a:cubicBezTo>
                  <a:lnTo>
                    <a:pt x="89854" y="945988"/>
                  </a:lnTo>
                  <a:cubicBezTo>
                    <a:pt x="66024" y="945988"/>
                    <a:pt x="43169" y="936521"/>
                    <a:pt x="26318" y="919670"/>
                  </a:cubicBezTo>
                  <a:cubicBezTo>
                    <a:pt x="9467" y="902819"/>
                    <a:pt x="0" y="879964"/>
                    <a:pt x="0" y="856133"/>
                  </a:cubicBezTo>
                  <a:lnTo>
                    <a:pt x="0" y="89854"/>
                  </a:lnTo>
                  <a:cubicBezTo>
                    <a:pt x="0" y="40229"/>
                    <a:pt x="40229" y="0"/>
                    <a:pt x="89854" y="0"/>
                  </a:cubicBezTo>
                  <a:close/>
                </a:path>
              </a:pathLst>
            </a:custGeom>
            <a:gradFill rotWithShape="true">
              <a:gsLst>
                <a:gs pos="0">
                  <a:srgbClr val="010D1B">
                    <a:alpha val="68000"/>
                  </a:srgbClr>
                </a:gs>
                <a:gs pos="100000">
                  <a:srgbClr val="041E3D">
                    <a:alpha val="68000"/>
                  </a:srgbClr>
                </a:gs>
              </a:gsLst>
              <a:lin ang="0"/>
            </a:gradFill>
            <a:ln w="38100" cap="rnd">
              <a:solidFill>
                <a:srgbClr val="E93CB0">
                  <a:alpha val="67843"/>
                </a:srgbClr>
              </a:solidFill>
              <a:prstDash val="solid"/>
              <a:round/>
            </a:ln>
          </p:spPr>
        </p:sp>
        <p:sp>
          <p:nvSpPr>
            <p:cNvPr name="TextBox 11" id="11"/>
            <p:cNvSpPr txBox="true"/>
            <p:nvPr/>
          </p:nvSpPr>
          <p:spPr>
            <a:xfrm>
              <a:off x="0" y="57150"/>
              <a:ext cx="758212" cy="888838"/>
            </a:xfrm>
            <a:prstGeom prst="rect">
              <a:avLst/>
            </a:prstGeom>
          </p:spPr>
          <p:txBody>
            <a:bodyPr anchor="ctr" rtlCol="false" tIns="50800" lIns="50800" bIns="50800" rIns="50800"/>
            <a:lstStyle/>
            <a:p>
              <a:pPr algn="ctr">
                <a:lnSpc>
                  <a:spcPts val="1660"/>
                </a:lnSpc>
              </a:pPr>
            </a:p>
          </p:txBody>
        </p:sp>
      </p:grpSp>
      <p:sp>
        <p:nvSpPr>
          <p:cNvPr name="Freeform 12" id="12"/>
          <p:cNvSpPr/>
          <p:nvPr/>
        </p:nvSpPr>
        <p:spPr>
          <a:xfrm flipH="false" flipV="false" rot="0">
            <a:off x="9462447" y="2950204"/>
            <a:ext cx="1198861" cy="1177063"/>
          </a:xfrm>
          <a:custGeom>
            <a:avLst/>
            <a:gdLst/>
            <a:ahLst/>
            <a:cxnLst/>
            <a:rect r="r" b="b" t="t" l="l"/>
            <a:pathLst>
              <a:path h="1177063" w="1198861">
                <a:moveTo>
                  <a:pt x="0" y="0"/>
                </a:moveTo>
                <a:lnTo>
                  <a:pt x="1198860" y="0"/>
                </a:lnTo>
                <a:lnTo>
                  <a:pt x="1198860" y="1177063"/>
                </a:lnTo>
                <a:lnTo>
                  <a:pt x="0" y="11770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7262790" y="2877189"/>
            <a:ext cx="917015" cy="1215321"/>
          </a:xfrm>
          <a:custGeom>
            <a:avLst/>
            <a:gdLst/>
            <a:ahLst/>
            <a:cxnLst/>
            <a:rect r="r" b="b" t="t" l="l"/>
            <a:pathLst>
              <a:path h="1215321" w="917015">
                <a:moveTo>
                  <a:pt x="0" y="0"/>
                </a:moveTo>
                <a:lnTo>
                  <a:pt x="917015" y="0"/>
                </a:lnTo>
                <a:lnTo>
                  <a:pt x="917015" y="1215321"/>
                </a:lnTo>
                <a:lnTo>
                  <a:pt x="0" y="121532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4" id="14"/>
          <p:cNvSpPr txBox="true"/>
          <p:nvPr/>
        </p:nvSpPr>
        <p:spPr>
          <a:xfrm rot="0">
            <a:off x="2415137" y="5813298"/>
            <a:ext cx="12815955" cy="3516551"/>
          </a:xfrm>
          <a:prstGeom prst="rect">
            <a:avLst/>
          </a:prstGeom>
        </p:spPr>
        <p:txBody>
          <a:bodyPr anchor="t" rtlCol="false" tIns="0" lIns="0" bIns="0" rIns="0">
            <a:spAutoFit/>
          </a:bodyPr>
          <a:lstStyle/>
          <a:p>
            <a:pPr algn="l" marL="0" indent="0" lvl="0">
              <a:lnSpc>
                <a:spcPts val="3458"/>
              </a:lnSpc>
            </a:pPr>
            <a:r>
              <a:rPr lang="en-US" b="true" sz="3143">
                <a:solidFill>
                  <a:srgbClr val="E93CB0"/>
                </a:solidFill>
                <a:latin typeface="TT Chocolates Bold"/>
                <a:ea typeface="TT Chocolates Bold"/>
                <a:cs typeface="TT Chocolates Bold"/>
                <a:sym typeface="TT Chocolates Bold"/>
              </a:rPr>
              <a:t>La phase de durcissement du système d’exploitation vise à réduire la surface d’attaque du serveur en renforçant sa sécurité globale. Cela inclut la mise à jour du système et des paquets, la désactivation des services inutiles, la configuration du pare-feu, une gestion rigoureuse des utilisateurs et des permissions, ainsi que la sécurisation des accès S</a:t>
            </a:r>
            <a:r>
              <a:rPr lang="en-US" b="true" sz="3143">
                <a:solidFill>
                  <a:srgbClr val="E93CB0"/>
                </a:solidFill>
                <a:latin typeface="TT Chocolates Bold"/>
                <a:ea typeface="TT Chocolates Bold"/>
                <a:cs typeface="TT Chocolates Bold"/>
                <a:sym typeface="TT Chocolates Bold"/>
              </a:rPr>
              <a:t>SH. Cette étape est cruciale car, même si le serveur web Apache est sécurisé, un système d’exploitation vulnérable peut compromettre l’ensemble du serveur.</a:t>
            </a:r>
          </a:p>
        </p:txBody>
      </p:sp>
      <p:grpSp>
        <p:nvGrpSpPr>
          <p:cNvPr name="Group 15" id="15"/>
          <p:cNvGrpSpPr/>
          <p:nvPr/>
        </p:nvGrpSpPr>
        <p:grpSpPr>
          <a:xfrm rot="0">
            <a:off x="-541579" y="7759569"/>
            <a:ext cx="1570279" cy="157027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B40D1">
                    <a:alpha val="100000"/>
                  </a:srgbClr>
                </a:gs>
                <a:gs pos="100000">
                  <a:srgbClr val="FC35A5">
                    <a:alpha val="100000"/>
                  </a:srgbClr>
                </a:gs>
              </a:gsLst>
              <a:lin ang="2700000"/>
            </a:gradFill>
          </p:spPr>
        </p:sp>
        <p:sp>
          <p:nvSpPr>
            <p:cNvPr name="TextBox 17" id="17"/>
            <p:cNvSpPr txBox="true"/>
            <p:nvPr/>
          </p:nvSpPr>
          <p:spPr>
            <a:xfrm>
              <a:off x="76200" y="133350"/>
              <a:ext cx="660400" cy="603250"/>
            </a:xfrm>
            <a:prstGeom prst="rect">
              <a:avLst/>
            </a:prstGeom>
          </p:spPr>
          <p:txBody>
            <a:bodyPr anchor="ctr" rtlCol="false" tIns="50800" lIns="50800" bIns="50800" rIns="50800"/>
            <a:lstStyle/>
            <a:p>
              <a:pPr algn="ctr">
                <a:lnSpc>
                  <a:spcPts val="1660"/>
                </a:lnSpc>
              </a:pPr>
            </a:p>
          </p:txBody>
        </p:sp>
      </p:grpSp>
      <p:grpSp>
        <p:nvGrpSpPr>
          <p:cNvPr name="Group 18" id="18"/>
          <p:cNvGrpSpPr/>
          <p:nvPr/>
        </p:nvGrpSpPr>
        <p:grpSpPr>
          <a:xfrm rot="0">
            <a:off x="17259300" y="2636110"/>
            <a:ext cx="1570279" cy="1570279"/>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B40D1">
                    <a:alpha val="100000"/>
                  </a:srgbClr>
                </a:gs>
                <a:gs pos="100000">
                  <a:srgbClr val="FC35A5">
                    <a:alpha val="100000"/>
                  </a:srgbClr>
                </a:gs>
              </a:gsLst>
              <a:lin ang="2700000"/>
            </a:gradFill>
          </p:spPr>
        </p:sp>
        <p:sp>
          <p:nvSpPr>
            <p:cNvPr name="TextBox 20" id="20"/>
            <p:cNvSpPr txBox="true"/>
            <p:nvPr/>
          </p:nvSpPr>
          <p:spPr>
            <a:xfrm>
              <a:off x="76200" y="133350"/>
              <a:ext cx="660400" cy="603250"/>
            </a:xfrm>
            <a:prstGeom prst="rect">
              <a:avLst/>
            </a:prstGeom>
          </p:spPr>
          <p:txBody>
            <a:bodyPr anchor="ctr" rtlCol="false" tIns="50800" lIns="50800" bIns="50800" rIns="50800"/>
            <a:lstStyle/>
            <a:p>
              <a:pPr algn="ctr">
                <a:lnSpc>
                  <a:spcPts val="1660"/>
                </a:lnSpc>
              </a:pPr>
            </a:p>
          </p:txBody>
        </p:sp>
      </p:grpSp>
      <p:grpSp>
        <p:nvGrpSpPr>
          <p:cNvPr name="Group 21" id="21"/>
          <p:cNvGrpSpPr/>
          <p:nvPr/>
        </p:nvGrpSpPr>
        <p:grpSpPr>
          <a:xfrm rot="0">
            <a:off x="741592" y="609495"/>
            <a:ext cx="16804816" cy="1167451"/>
            <a:chOff x="0" y="0"/>
            <a:chExt cx="8145755" cy="565896"/>
          </a:xfrm>
        </p:grpSpPr>
        <p:sp>
          <p:nvSpPr>
            <p:cNvPr name="Freeform 22" id="22"/>
            <p:cNvSpPr/>
            <p:nvPr/>
          </p:nvSpPr>
          <p:spPr>
            <a:xfrm flipH="false" flipV="false" rot="0">
              <a:off x="0" y="0"/>
              <a:ext cx="8145755" cy="565896"/>
            </a:xfrm>
            <a:custGeom>
              <a:avLst/>
              <a:gdLst/>
              <a:ahLst/>
              <a:cxnLst/>
              <a:rect r="r" b="b" t="t" l="l"/>
              <a:pathLst>
                <a:path h="565896" w="8145755">
                  <a:moveTo>
                    <a:pt x="7942555" y="0"/>
                  </a:moveTo>
                  <a:cubicBezTo>
                    <a:pt x="8054779" y="0"/>
                    <a:pt x="8145755" y="126680"/>
                    <a:pt x="8145755" y="282948"/>
                  </a:cubicBezTo>
                  <a:cubicBezTo>
                    <a:pt x="8145755" y="439216"/>
                    <a:pt x="8054779" y="565896"/>
                    <a:pt x="7942555" y="565896"/>
                  </a:cubicBezTo>
                  <a:lnTo>
                    <a:pt x="203200" y="565896"/>
                  </a:lnTo>
                  <a:cubicBezTo>
                    <a:pt x="90976" y="565896"/>
                    <a:pt x="0" y="439216"/>
                    <a:pt x="0" y="282948"/>
                  </a:cubicBezTo>
                  <a:cubicBezTo>
                    <a:pt x="0" y="126680"/>
                    <a:pt x="90976" y="0"/>
                    <a:pt x="203200" y="0"/>
                  </a:cubicBezTo>
                  <a:close/>
                </a:path>
              </a:pathLst>
            </a:custGeom>
            <a:gradFill rotWithShape="true">
              <a:gsLst>
                <a:gs pos="0">
                  <a:srgbClr val="004AAD">
                    <a:alpha val="100000"/>
                  </a:srgbClr>
                </a:gs>
                <a:gs pos="100000">
                  <a:srgbClr val="CB6CE6">
                    <a:alpha val="100000"/>
                  </a:srgbClr>
                </a:gs>
              </a:gsLst>
              <a:lin ang="0"/>
            </a:gradFill>
          </p:spPr>
        </p:sp>
        <p:sp>
          <p:nvSpPr>
            <p:cNvPr name="TextBox 23" id="23"/>
            <p:cNvSpPr txBox="true"/>
            <p:nvPr/>
          </p:nvSpPr>
          <p:spPr>
            <a:xfrm>
              <a:off x="0" y="57150"/>
              <a:ext cx="8145755" cy="508746"/>
            </a:xfrm>
            <a:prstGeom prst="rect">
              <a:avLst/>
            </a:prstGeom>
          </p:spPr>
          <p:txBody>
            <a:bodyPr anchor="ctr" rtlCol="false" tIns="50800" lIns="50800" bIns="50800" rIns="50800"/>
            <a:lstStyle/>
            <a:p>
              <a:pPr algn="ctr">
                <a:lnSpc>
                  <a:spcPts val="1660"/>
                </a:lnSpc>
              </a:pPr>
            </a:p>
          </p:txBody>
        </p:sp>
      </p:grpSp>
      <p:sp>
        <p:nvSpPr>
          <p:cNvPr name="TextBox 24" id="24"/>
          <p:cNvSpPr txBox="true"/>
          <p:nvPr/>
        </p:nvSpPr>
        <p:spPr>
          <a:xfrm rot="0">
            <a:off x="5142888" y="1057275"/>
            <a:ext cx="10522075" cy="485918"/>
          </a:xfrm>
          <a:prstGeom prst="rect">
            <a:avLst/>
          </a:prstGeom>
        </p:spPr>
        <p:txBody>
          <a:bodyPr anchor="t" rtlCol="false" tIns="0" lIns="0" bIns="0" rIns="0">
            <a:spAutoFit/>
          </a:bodyPr>
          <a:lstStyle/>
          <a:p>
            <a:pPr algn="ctr" marL="0" indent="0" lvl="0">
              <a:lnSpc>
                <a:spcPts val="3727"/>
              </a:lnSpc>
            </a:pPr>
            <a:r>
              <a:rPr lang="en-US" b="true" sz="3419">
                <a:solidFill>
                  <a:srgbClr val="FFFBF7"/>
                </a:solidFill>
                <a:latin typeface="TT Chocolates Bold"/>
                <a:ea typeface="TT Chocolates Bold"/>
                <a:cs typeface="TT Chocolates Bold"/>
                <a:sym typeface="TT Chocolates Bold"/>
              </a:rPr>
              <a:t>DURCISSEMENT DU SYSTÈME D’EXPLOITATION</a:t>
            </a:r>
          </a:p>
        </p:txBody>
      </p:sp>
      <p:sp>
        <p:nvSpPr>
          <p:cNvPr name="TextBox 25" id="25"/>
          <p:cNvSpPr txBox="true"/>
          <p:nvPr/>
        </p:nvSpPr>
        <p:spPr>
          <a:xfrm rot="0">
            <a:off x="1311094" y="973173"/>
            <a:ext cx="2916827" cy="630595"/>
          </a:xfrm>
          <a:prstGeom prst="rect">
            <a:avLst/>
          </a:prstGeom>
        </p:spPr>
        <p:txBody>
          <a:bodyPr anchor="t" rtlCol="false" tIns="0" lIns="0" bIns="0" rIns="0">
            <a:spAutoFit/>
          </a:bodyPr>
          <a:lstStyle/>
          <a:p>
            <a:pPr algn="l" marL="0" indent="0" lvl="0">
              <a:lnSpc>
                <a:spcPts val="4490"/>
              </a:lnSpc>
            </a:pPr>
            <a:r>
              <a:rPr lang="en-US" b="true" sz="5410">
                <a:solidFill>
                  <a:srgbClr val="E93CB0"/>
                </a:solidFill>
                <a:latin typeface="TT Chocolates Bold"/>
                <a:ea typeface="TT Chocolates Bold"/>
                <a:cs typeface="TT Chocolates Bold"/>
                <a:sym typeface="TT Chocolates Bold"/>
              </a:rPr>
              <a:t>phase 4: </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10D1B">
                <a:alpha val="100000"/>
              </a:srgbClr>
            </a:gs>
            <a:gs pos="100000">
              <a:srgbClr val="041E3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3774191" y="-2203912"/>
            <a:ext cx="6465224" cy="6465224"/>
          </a:xfrm>
          <a:custGeom>
            <a:avLst/>
            <a:gdLst/>
            <a:ahLst/>
            <a:cxnLst/>
            <a:rect r="r" b="b" t="t" l="l"/>
            <a:pathLst>
              <a:path h="6465224" w="6465224">
                <a:moveTo>
                  <a:pt x="0" y="0"/>
                </a:moveTo>
                <a:lnTo>
                  <a:pt x="6465224" y="0"/>
                </a:lnTo>
                <a:lnTo>
                  <a:pt x="6465224" y="6465224"/>
                </a:lnTo>
                <a:lnTo>
                  <a:pt x="0" y="6465224"/>
                </a:lnTo>
                <a:lnTo>
                  <a:pt x="0" y="0"/>
                </a:lnTo>
                <a:close/>
              </a:path>
            </a:pathLst>
          </a:custGeom>
          <a:blipFill>
            <a:blip r:embed="rId2">
              <a:alphaModFix amt="6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45898" y="8702345"/>
            <a:ext cx="5973819" cy="5800035"/>
          </a:xfrm>
          <a:custGeom>
            <a:avLst/>
            <a:gdLst/>
            <a:ahLst/>
            <a:cxnLst/>
            <a:rect r="r" b="b" t="t" l="l"/>
            <a:pathLst>
              <a:path h="5800035" w="5973819">
                <a:moveTo>
                  <a:pt x="0" y="0"/>
                </a:moveTo>
                <a:lnTo>
                  <a:pt x="5973819" y="0"/>
                </a:lnTo>
                <a:lnTo>
                  <a:pt x="5973819" y="5800035"/>
                </a:lnTo>
                <a:lnTo>
                  <a:pt x="0" y="5800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746431" y="-2571032"/>
            <a:ext cx="5973819" cy="5800035"/>
          </a:xfrm>
          <a:custGeom>
            <a:avLst/>
            <a:gdLst/>
            <a:ahLst/>
            <a:cxnLst/>
            <a:rect r="r" b="b" t="t" l="l"/>
            <a:pathLst>
              <a:path h="5800035" w="5973819">
                <a:moveTo>
                  <a:pt x="0" y="0"/>
                </a:moveTo>
                <a:lnTo>
                  <a:pt x="5973819" y="0"/>
                </a:lnTo>
                <a:lnTo>
                  <a:pt x="5973819" y="5800035"/>
                </a:lnTo>
                <a:lnTo>
                  <a:pt x="0" y="58000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785140" y="-456154"/>
            <a:ext cx="1570279" cy="157027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B40D1">
                    <a:alpha val="100000"/>
                  </a:srgbClr>
                </a:gs>
                <a:gs pos="100000">
                  <a:srgbClr val="FC35A5">
                    <a:alpha val="100000"/>
                  </a:srgbClr>
                </a:gs>
              </a:gsLst>
              <a:lin ang="2700000"/>
            </a:gradFill>
          </p:spPr>
        </p:sp>
        <p:sp>
          <p:nvSpPr>
            <p:cNvPr name="TextBox 7" id="7"/>
            <p:cNvSpPr txBox="true"/>
            <p:nvPr/>
          </p:nvSpPr>
          <p:spPr>
            <a:xfrm>
              <a:off x="76200" y="133350"/>
              <a:ext cx="660400" cy="603250"/>
            </a:xfrm>
            <a:prstGeom prst="rect">
              <a:avLst/>
            </a:prstGeom>
          </p:spPr>
          <p:txBody>
            <a:bodyPr anchor="ctr" rtlCol="false" tIns="50800" lIns="50800" bIns="50800" rIns="50800"/>
            <a:lstStyle/>
            <a:p>
              <a:pPr algn="ctr">
                <a:lnSpc>
                  <a:spcPts val="1660"/>
                </a:lnSpc>
              </a:pPr>
            </a:p>
          </p:txBody>
        </p:sp>
      </p:grpSp>
      <p:grpSp>
        <p:nvGrpSpPr>
          <p:cNvPr name="Group 8" id="8"/>
          <p:cNvGrpSpPr/>
          <p:nvPr/>
        </p:nvGrpSpPr>
        <p:grpSpPr>
          <a:xfrm rot="0">
            <a:off x="17259300" y="7968920"/>
            <a:ext cx="1570279" cy="157027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B40D1">
                    <a:alpha val="100000"/>
                  </a:srgbClr>
                </a:gs>
                <a:gs pos="100000">
                  <a:srgbClr val="FC35A5">
                    <a:alpha val="100000"/>
                  </a:srgbClr>
                </a:gs>
              </a:gsLst>
              <a:lin ang="2700000"/>
            </a:gradFill>
          </p:spPr>
        </p:sp>
        <p:sp>
          <p:nvSpPr>
            <p:cNvPr name="TextBox 10" id="10"/>
            <p:cNvSpPr txBox="true"/>
            <p:nvPr/>
          </p:nvSpPr>
          <p:spPr>
            <a:xfrm>
              <a:off x="76200" y="133350"/>
              <a:ext cx="660400" cy="603250"/>
            </a:xfrm>
            <a:prstGeom prst="rect">
              <a:avLst/>
            </a:prstGeom>
          </p:spPr>
          <p:txBody>
            <a:bodyPr anchor="ctr" rtlCol="false" tIns="50800" lIns="50800" bIns="50800" rIns="50800"/>
            <a:lstStyle/>
            <a:p>
              <a:pPr algn="ctr">
                <a:lnSpc>
                  <a:spcPts val="1660"/>
                </a:lnSpc>
              </a:pPr>
            </a:p>
          </p:txBody>
        </p:sp>
      </p:grpSp>
      <p:grpSp>
        <p:nvGrpSpPr>
          <p:cNvPr name="Group 11" id="11"/>
          <p:cNvGrpSpPr/>
          <p:nvPr/>
        </p:nvGrpSpPr>
        <p:grpSpPr>
          <a:xfrm rot="0">
            <a:off x="741592" y="609495"/>
            <a:ext cx="16804816" cy="1167451"/>
            <a:chOff x="0" y="0"/>
            <a:chExt cx="8145755" cy="565896"/>
          </a:xfrm>
        </p:grpSpPr>
        <p:sp>
          <p:nvSpPr>
            <p:cNvPr name="Freeform 12" id="12"/>
            <p:cNvSpPr/>
            <p:nvPr/>
          </p:nvSpPr>
          <p:spPr>
            <a:xfrm flipH="false" flipV="false" rot="0">
              <a:off x="0" y="0"/>
              <a:ext cx="8145755" cy="565896"/>
            </a:xfrm>
            <a:custGeom>
              <a:avLst/>
              <a:gdLst/>
              <a:ahLst/>
              <a:cxnLst/>
              <a:rect r="r" b="b" t="t" l="l"/>
              <a:pathLst>
                <a:path h="565896" w="8145755">
                  <a:moveTo>
                    <a:pt x="7942555" y="0"/>
                  </a:moveTo>
                  <a:cubicBezTo>
                    <a:pt x="8054779" y="0"/>
                    <a:pt x="8145755" y="126680"/>
                    <a:pt x="8145755" y="282948"/>
                  </a:cubicBezTo>
                  <a:cubicBezTo>
                    <a:pt x="8145755" y="439216"/>
                    <a:pt x="8054779" y="565896"/>
                    <a:pt x="7942555" y="565896"/>
                  </a:cubicBezTo>
                  <a:lnTo>
                    <a:pt x="203200" y="565896"/>
                  </a:lnTo>
                  <a:cubicBezTo>
                    <a:pt x="90976" y="565896"/>
                    <a:pt x="0" y="439216"/>
                    <a:pt x="0" y="282948"/>
                  </a:cubicBezTo>
                  <a:cubicBezTo>
                    <a:pt x="0" y="126680"/>
                    <a:pt x="90976" y="0"/>
                    <a:pt x="203200" y="0"/>
                  </a:cubicBezTo>
                  <a:close/>
                </a:path>
              </a:pathLst>
            </a:custGeom>
            <a:gradFill rotWithShape="true">
              <a:gsLst>
                <a:gs pos="0">
                  <a:srgbClr val="004AAD">
                    <a:alpha val="100000"/>
                  </a:srgbClr>
                </a:gs>
                <a:gs pos="100000">
                  <a:srgbClr val="CB6CE6">
                    <a:alpha val="100000"/>
                  </a:srgbClr>
                </a:gs>
              </a:gsLst>
              <a:lin ang="0"/>
            </a:gradFill>
          </p:spPr>
        </p:sp>
        <p:sp>
          <p:nvSpPr>
            <p:cNvPr name="TextBox 13" id="13"/>
            <p:cNvSpPr txBox="true"/>
            <p:nvPr/>
          </p:nvSpPr>
          <p:spPr>
            <a:xfrm>
              <a:off x="0" y="57150"/>
              <a:ext cx="8145755" cy="508746"/>
            </a:xfrm>
            <a:prstGeom prst="rect">
              <a:avLst/>
            </a:prstGeom>
          </p:spPr>
          <p:txBody>
            <a:bodyPr anchor="ctr" rtlCol="false" tIns="50800" lIns="50800" bIns="50800" rIns="50800"/>
            <a:lstStyle/>
            <a:p>
              <a:pPr algn="ctr">
                <a:lnSpc>
                  <a:spcPts val="1660"/>
                </a:lnSpc>
              </a:pPr>
            </a:p>
          </p:txBody>
        </p:sp>
      </p:grpSp>
      <p:sp>
        <p:nvSpPr>
          <p:cNvPr name="Freeform 14" id="14"/>
          <p:cNvSpPr/>
          <p:nvPr/>
        </p:nvSpPr>
        <p:spPr>
          <a:xfrm flipH="false" flipV="false" rot="0">
            <a:off x="-4476537" y="6817510"/>
            <a:ext cx="6465224" cy="6465224"/>
          </a:xfrm>
          <a:custGeom>
            <a:avLst/>
            <a:gdLst/>
            <a:ahLst/>
            <a:cxnLst/>
            <a:rect r="r" b="b" t="t" l="l"/>
            <a:pathLst>
              <a:path h="6465224" w="6465224">
                <a:moveTo>
                  <a:pt x="0" y="0"/>
                </a:moveTo>
                <a:lnTo>
                  <a:pt x="6465224" y="0"/>
                </a:lnTo>
                <a:lnTo>
                  <a:pt x="6465224" y="6465224"/>
                </a:lnTo>
                <a:lnTo>
                  <a:pt x="0" y="6465224"/>
                </a:lnTo>
                <a:lnTo>
                  <a:pt x="0" y="0"/>
                </a:lnTo>
                <a:close/>
              </a:path>
            </a:pathLst>
          </a:custGeom>
          <a:blipFill>
            <a:blip r:embed="rId2">
              <a:alphaModFix amt="61000"/>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2523082" y="2445457"/>
            <a:ext cx="995888" cy="1158009"/>
          </a:xfrm>
          <a:custGeom>
            <a:avLst/>
            <a:gdLst/>
            <a:ahLst/>
            <a:cxnLst/>
            <a:rect r="r" b="b" t="t" l="l"/>
            <a:pathLst>
              <a:path h="1158009" w="995888">
                <a:moveTo>
                  <a:pt x="0" y="0"/>
                </a:moveTo>
                <a:lnTo>
                  <a:pt x="995888" y="0"/>
                </a:lnTo>
                <a:lnTo>
                  <a:pt x="995888" y="1158010"/>
                </a:lnTo>
                <a:lnTo>
                  <a:pt x="0" y="115801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785140" y="4261312"/>
            <a:ext cx="6361801" cy="3943641"/>
          </a:xfrm>
          <a:custGeom>
            <a:avLst/>
            <a:gdLst/>
            <a:ahLst/>
            <a:cxnLst/>
            <a:rect r="r" b="b" t="t" l="l"/>
            <a:pathLst>
              <a:path h="3943641" w="6361801">
                <a:moveTo>
                  <a:pt x="0" y="0"/>
                </a:moveTo>
                <a:lnTo>
                  <a:pt x="6361801" y="0"/>
                </a:lnTo>
                <a:lnTo>
                  <a:pt x="6361801" y="3943641"/>
                </a:lnTo>
                <a:lnTo>
                  <a:pt x="0" y="3943641"/>
                </a:lnTo>
                <a:lnTo>
                  <a:pt x="0" y="0"/>
                </a:lnTo>
                <a:close/>
              </a:path>
            </a:pathLst>
          </a:custGeom>
          <a:blipFill>
            <a:blip r:embed="rId10"/>
            <a:stretch>
              <a:fillRect l="-6403" t="0" r="-7077" b="0"/>
            </a:stretch>
          </a:blipFill>
        </p:spPr>
      </p:sp>
      <p:sp>
        <p:nvSpPr>
          <p:cNvPr name="TextBox 17" id="17"/>
          <p:cNvSpPr txBox="true"/>
          <p:nvPr/>
        </p:nvSpPr>
        <p:spPr>
          <a:xfrm rot="0">
            <a:off x="3922493" y="2615884"/>
            <a:ext cx="9226882" cy="969556"/>
          </a:xfrm>
          <a:prstGeom prst="rect">
            <a:avLst/>
          </a:prstGeom>
        </p:spPr>
        <p:txBody>
          <a:bodyPr anchor="t" rtlCol="false" tIns="0" lIns="0" bIns="0" rIns="0">
            <a:spAutoFit/>
          </a:bodyPr>
          <a:lstStyle/>
          <a:p>
            <a:pPr algn="l" marL="0" indent="0" lvl="0">
              <a:lnSpc>
                <a:spcPts val="3666"/>
              </a:lnSpc>
            </a:pPr>
            <a:r>
              <a:rPr lang="en-US" b="true" sz="4417">
                <a:solidFill>
                  <a:srgbClr val="E93CB0"/>
                </a:solidFill>
                <a:latin typeface="TT Chocolates Bold"/>
                <a:ea typeface="TT Chocolates Bold"/>
                <a:cs typeface="TT Chocolates Bold"/>
                <a:sym typeface="TT Chocolates Bold"/>
              </a:rPr>
              <a:t>Objectif : </a:t>
            </a:r>
            <a:r>
              <a:rPr lang="en-US" b="true" sz="4417">
                <a:solidFill>
                  <a:srgbClr val="FFFBF7"/>
                </a:solidFill>
                <a:latin typeface="TT Chocolates Bold"/>
                <a:ea typeface="TT Chocolates Bold"/>
                <a:cs typeface="TT Chocolates Bold"/>
                <a:sym typeface="TT Chocolates Bold"/>
              </a:rPr>
              <a:t>Renforcer la sécurité du serveur web</a:t>
            </a:r>
          </a:p>
        </p:txBody>
      </p:sp>
      <p:sp>
        <p:nvSpPr>
          <p:cNvPr name="TextBox 18" id="18"/>
          <p:cNvSpPr txBox="true"/>
          <p:nvPr/>
        </p:nvSpPr>
        <p:spPr>
          <a:xfrm rot="0">
            <a:off x="1311094" y="973173"/>
            <a:ext cx="2916827" cy="630595"/>
          </a:xfrm>
          <a:prstGeom prst="rect">
            <a:avLst/>
          </a:prstGeom>
        </p:spPr>
        <p:txBody>
          <a:bodyPr anchor="t" rtlCol="false" tIns="0" lIns="0" bIns="0" rIns="0">
            <a:spAutoFit/>
          </a:bodyPr>
          <a:lstStyle/>
          <a:p>
            <a:pPr algn="l" marL="0" indent="0" lvl="0">
              <a:lnSpc>
                <a:spcPts val="4490"/>
              </a:lnSpc>
            </a:pPr>
            <a:r>
              <a:rPr lang="en-US" b="true" sz="5410">
                <a:solidFill>
                  <a:srgbClr val="E93CB0"/>
                </a:solidFill>
                <a:latin typeface="TT Chocolates Bold"/>
                <a:ea typeface="TT Chocolates Bold"/>
                <a:cs typeface="TT Chocolates Bold"/>
                <a:sym typeface="TT Chocolates Bold"/>
              </a:rPr>
              <a:t>phase 5: </a:t>
            </a:r>
          </a:p>
        </p:txBody>
      </p:sp>
      <p:sp>
        <p:nvSpPr>
          <p:cNvPr name="TextBox 19" id="19"/>
          <p:cNvSpPr txBox="true"/>
          <p:nvPr/>
        </p:nvSpPr>
        <p:spPr>
          <a:xfrm rot="0">
            <a:off x="5031556" y="964549"/>
            <a:ext cx="10522075" cy="485918"/>
          </a:xfrm>
          <a:prstGeom prst="rect">
            <a:avLst/>
          </a:prstGeom>
        </p:spPr>
        <p:txBody>
          <a:bodyPr anchor="t" rtlCol="false" tIns="0" lIns="0" bIns="0" rIns="0">
            <a:spAutoFit/>
          </a:bodyPr>
          <a:lstStyle/>
          <a:p>
            <a:pPr algn="ctr" marL="0" indent="0" lvl="0">
              <a:lnSpc>
                <a:spcPts val="3727"/>
              </a:lnSpc>
            </a:pPr>
            <a:r>
              <a:rPr lang="en-US" b="true" sz="3419">
                <a:solidFill>
                  <a:srgbClr val="FFFBF7"/>
                </a:solidFill>
                <a:latin typeface="TT Chocolates Bold"/>
                <a:ea typeface="TT Chocolates Bold"/>
                <a:cs typeface="TT Chocolates Bold"/>
                <a:sym typeface="TT Chocolates Bold"/>
              </a:rPr>
              <a:t>DURCISSEMENT DU SERVEUR WEB APACHE</a:t>
            </a:r>
          </a:p>
        </p:txBody>
      </p:sp>
      <p:sp>
        <p:nvSpPr>
          <p:cNvPr name="TextBox 20" id="20"/>
          <p:cNvSpPr txBox="true"/>
          <p:nvPr/>
        </p:nvSpPr>
        <p:spPr>
          <a:xfrm rot="0">
            <a:off x="7728905" y="4433165"/>
            <a:ext cx="8185429" cy="4712971"/>
          </a:xfrm>
          <a:prstGeom prst="rect">
            <a:avLst/>
          </a:prstGeom>
        </p:spPr>
        <p:txBody>
          <a:bodyPr anchor="t" rtlCol="false" tIns="0" lIns="0" bIns="0" rIns="0">
            <a:spAutoFit/>
          </a:bodyPr>
          <a:lstStyle/>
          <a:p>
            <a:pPr algn="l" marL="825808" indent="-412904" lvl="1">
              <a:lnSpc>
                <a:spcPts val="5354"/>
              </a:lnSpc>
              <a:buFont typeface="Arial"/>
              <a:buChar char="•"/>
            </a:pPr>
            <a:r>
              <a:rPr lang="en-US" b="true" sz="3824">
                <a:solidFill>
                  <a:srgbClr val="FFFBF7"/>
                </a:solidFill>
                <a:latin typeface="TT Chocolates Bold"/>
                <a:ea typeface="TT Chocolates Bold"/>
                <a:cs typeface="TT Chocolates Bold"/>
                <a:sym typeface="TT Chocolates Bold"/>
              </a:rPr>
              <a:t>Masquage des versions</a:t>
            </a:r>
          </a:p>
          <a:p>
            <a:pPr algn="l" marL="825808" indent="-412904" lvl="1">
              <a:lnSpc>
                <a:spcPts val="5354"/>
              </a:lnSpc>
              <a:buFont typeface="Arial"/>
              <a:buChar char="•"/>
            </a:pPr>
            <a:r>
              <a:rPr lang="en-US" b="true" sz="3824">
                <a:solidFill>
                  <a:srgbClr val="FFFBF7"/>
                </a:solidFill>
                <a:latin typeface="TT Chocolates Bold"/>
                <a:ea typeface="TT Chocolates Bold"/>
                <a:cs typeface="TT Chocolates Bold"/>
                <a:sym typeface="TT Chocolates Bold"/>
              </a:rPr>
              <a:t>Désactivation des modules inutilisés</a:t>
            </a:r>
          </a:p>
          <a:p>
            <a:pPr algn="l" marL="825808" indent="-412904" lvl="1">
              <a:lnSpc>
                <a:spcPts val="5354"/>
              </a:lnSpc>
              <a:buFont typeface="Arial"/>
              <a:buChar char="•"/>
            </a:pPr>
            <a:r>
              <a:rPr lang="en-US" b="true" sz="3824">
                <a:solidFill>
                  <a:srgbClr val="FFFBF7"/>
                </a:solidFill>
                <a:latin typeface="TT Chocolates Bold"/>
                <a:ea typeface="TT Chocolates Bold"/>
                <a:cs typeface="TT Chocolates Bold"/>
                <a:sym typeface="TT Chocolates Bold"/>
              </a:rPr>
              <a:t>Renforcement des perm</a:t>
            </a:r>
            <a:r>
              <a:rPr lang="en-US" b="true" sz="3824">
                <a:solidFill>
                  <a:srgbClr val="FFFBF7"/>
                </a:solidFill>
                <a:latin typeface="TT Chocolates Bold"/>
                <a:ea typeface="TT Chocolates Bold"/>
                <a:cs typeface="TT Chocolates Bold"/>
                <a:sym typeface="TT Chocolates Bold"/>
              </a:rPr>
              <a:t>issions</a:t>
            </a:r>
          </a:p>
          <a:p>
            <a:pPr algn="l" marL="825808" indent="-412904" lvl="1">
              <a:lnSpc>
                <a:spcPts val="5354"/>
              </a:lnSpc>
              <a:buFont typeface="Arial"/>
              <a:buChar char="•"/>
            </a:pPr>
            <a:r>
              <a:rPr lang="en-US" b="true" sz="3824">
                <a:solidFill>
                  <a:srgbClr val="FFFBF7"/>
                </a:solidFill>
                <a:latin typeface="TT Chocolates Bold"/>
                <a:ea typeface="TT Chocolates Bold"/>
                <a:cs typeface="TT Chocolates Bold"/>
                <a:sym typeface="TT Chocolates Bold"/>
              </a:rPr>
              <a:t>Protection contre DoS</a:t>
            </a:r>
          </a:p>
          <a:p>
            <a:pPr algn="l" marL="825808" indent="-412904" lvl="1">
              <a:lnSpc>
                <a:spcPts val="5354"/>
              </a:lnSpc>
              <a:buFont typeface="Arial"/>
              <a:buChar char="•"/>
            </a:pPr>
            <a:r>
              <a:rPr lang="en-US" b="true" sz="3824">
                <a:solidFill>
                  <a:srgbClr val="FFFBF7"/>
                </a:solidFill>
                <a:latin typeface="TT Chocolates Bold"/>
                <a:ea typeface="TT Chocolates Bold"/>
                <a:cs typeface="TT Chocolates Bold"/>
                <a:sym typeface="TT Chocolates Bold"/>
              </a:rPr>
              <a:t>Désactivation du Directory Listing</a:t>
            </a:r>
          </a:p>
          <a:p>
            <a:pPr algn="l" marL="0" indent="0" lvl="0">
              <a:lnSpc>
                <a:spcPts val="5354"/>
              </a:lnSpc>
            </a:pPr>
          </a:p>
        </p:txBody>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10D1B">
                <a:alpha val="100000"/>
              </a:srgbClr>
            </a:gs>
            <a:gs pos="100000">
              <a:srgbClr val="041E3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5596967" y="6097236"/>
            <a:ext cx="6465224" cy="6465224"/>
          </a:xfrm>
          <a:custGeom>
            <a:avLst/>
            <a:gdLst/>
            <a:ahLst/>
            <a:cxnLst/>
            <a:rect r="r" b="b" t="t" l="l"/>
            <a:pathLst>
              <a:path h="6465224" w="6465224">
                <a:moveTo>
                  <a:pt x="0" y="0"/>
                </a:moveTo>
                <a:lnTo>
                  <a:pt x="6465224" y="0"/>
                </a:lnTo>
                <a:lnTo>
                  <a:pt x="6465224" y="6465224"/>
                </a:lnTo>
                <a:lnTo>
                  <a:pt x="0" y="6465224"/>
                </a:lnTo>
                <a:lnTo>
                  <a:pt x="0" y="0"/>
                </a:lnTo>
                <a:close/>
              </a:path>
            </a:pathLst>
          </a:custGeom>
          <a:blipFill>
            <a:blip r:embed="rId2">
              <a:alphaModFix amt="6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451823" y="7770769"/>
            <a:ext cx="5973819" cy="5800035"/>
          </a:xfrm>
          <a:custGeom>
            <a:avLst/>
            <a:gdLst/>
            <a:ahLst/>
            <a:cxnLst/>
            <a:rect r="r" b="b" t="t" l="l"/>
            <a:pathLst>
              <a:path h="5800035" w="5973819">
                <a:moveTo>
                  <a:pt x="0" y="0"/>
                </a:moveTo>
                <a:lnTo>
                  <a:pt x="5973819" y="0"/>
                </a:lnTo>
                <a:lnTo>
                  <a:pt x="5973819" y="5800035"/>
                </a:lnTo>
                <a:lnTo>
                  <a:pt x="0" y="5800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2034117" y="2218439"/>
            <a:ext cx="4860537" cy="7039861"/>
            <a:chOff x="0" y="0"/>
            <a:chExt cx="753024" cy="1090659"/>
          </a:xfrm>
        </p:grpSpPr>
        <p:sp>
          <p:nvSpPr>
            <p:cNvPr name="Freeform 5" id="5"/>
            <p:cNvSpPr/>
            <p:nvPr/>
          </p:nvSpPr>
          <p:spPr>
            <a:xfrm flipH="false" flipV="false" rot="0">
              <a:off x="0" y="0"/>
              <a:ext cx="753024" cy="1090659"/>
            </a:xfrm>
            <a:custGeom>
              <a:avLst/>
              <a:gdLst/>
              <a:ahLst/>
              <a:cxnLst/>
              <a:rect r="r" b="b" t="t" l="l"/>
              <a:pathLst>
                <a:path h="1090659" w="753024">
                  <a:moveTo>
                    <a:pt x="36635" y="0"/>
                  </a:moveTo>
                  <a:lnTo>
                    <a:pt x="716390" y="0"/>
                  </a:lnTo>
                  <a:cubicBezTo>
                    <a:pt x="736622" y="0"/>
                    <a:pt x="753024" y="16402"/>
                    <a:pt x="753024" y="36635"/>
                  </a:cubicBezTo>
                  <a:lnTo>
                    <a:pt x="753024" y="1054024"/>
                  </a:lnTo>
                  <a:cubicBezTo>
                    <a:pt x="753024" y="1074257"/>
                    <a:pt x="736622" y="1090659"/>
                    <a:pt x="716390" y="1090659"/>
                  </a:cubicBezTo>
                  <a:lnTo>
                    <a:pt x="36635" y="1090659"/>
                  </a:lnTo>
                  <a:cubicBezTo>
                    <a:pt x="16402" y="1090659"/>
                    <a:pt x="0" y="1074257"/>
                    <a:pt x="0" y="1054024"/>
                  </a:cubicBezTo>
                  <a:lnTo>
                    <a:pt x="0" y="36635"/>
                  </a:lnTo>
                  <a:cubicBezTo>
                    <a:pt x="0" y="16402"/>
                    <a:pt x="16402" y="0"/>
                    <a:pt x="36635" y="0"/>
                  </a:cubicBezTo>
                  <a:close/>
                </a:path>
              </a:pathLst>
            </a:custGeom>
            <a:blipFill>
              <a:blip r:embed="rId6"/>
              <a:stretch>
                <a:fillRect l="-81950" t="0" r="-9569" b="0"/>
              </a:stretch>
            </a:blipFill>
          </p:spPr>
        </p:sp>
      </p:grpSp>
      <p:sp>
        <p:nvSpPr>
          <p:cNvPr name="Freeform 6" id="6"/>
          <p:cNvSpPr/>
          <p:nvPr/>
        </p:nvSpPr>
        <p:spPr>
          <a:xfrm flipH="false" flipV="false" rot="0">
            <a:off x="517416" y="3650791"/>
            <a:ext cx="2551485" cy="2087579"/>
          </a:xfrm>
          <a:custGeom>
            <a:avLst/>
            <a:gdLst/>
            <a:ahLst/>
            <a:cxnLst/>
            <a:rect r="r" b="b" t="t" l="l"/>
            <a:pathLst>
              <a:path h="2087579" w="2551485">
                <a:moveTo>
                  <a:pt x="0" y="0"/>
                </a:moveTo>
                <a:lnTo>
                  <a:pt x="2551485" y="0"/>
                </a:lnTo>
                <a:lnTo>
                  <a:pt x="2551485" y="2087579"/>
                </a:lnTo>
                <a:lnTo>
                  <a:pt x="0" y="208757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7" id="7"/>
          <p:cNvSpPr/>
          <p:nvPr/>
        </p:nvSpPr>
        <p:spPr>
          <a:xfrm>
            <a:off x="1709671" y="7745282"/>
            <a:ext cx="10135065" cy="0"/>
          </a:xfrm>
          <a:prstGeom prst="line">
            <a:avLst/>
          </a:prstGeom>
          <a:ln cap="flat" w="28575">
            <a:gradFill>
              <a:gsLst>
                <a:gs pos="0">
                  <a:srgbClr val="9B40D1">
                    <a:alpha val="100000"/>
                  </a:srgbClr>
                </a:gs>
                <a:gs pos="100000">
                  <a:srgbClr val="FC35A5">
                    <a:alpha val="100000"/>
                  </a:srgbClr>
                </a:gs>
              </a:gsLst>
              <a:lin ang="2700000"/>
            </a:gradFill>
            <a:prstDash val="solid"/>
            <a:headEnd type="none" len="sm" w="sm"/>
            <a:tailEnd type="none" len="sm" w="sm"/>
          </a:ln>
        </p:spPr>
      </p:sp>
      <p:grpSp>
        <p:nvGrpSpPr>
          <p:cNvPr name="Group 8" id="8"/>
          <p:cNvGrpSpPr/>
          <p:nvPr/>
        </p:nvGrpSpPr>
        <p:grpSpPr>
          <a:xfrm rot="0">
            <a:off x="-541579" y="7759569"/>
            <a:ext cx="1570279" cy="157027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B40D1">
                    <a:alpha val="100000"/>
                  </a:srgbClr>
                </a:gs>
                <a:gs pos="100000">
                  <a:srgbClr val="FC35A5">
                    <a:alpha val="100000"/>
                  </a:srgbClr>
                </a:gs>
              </a:gsLst>
              <a:lin ang="2700000"/>
            </a:gradFill>
          </p:spPr>
        </p:sp>
        <p:sp>
          <p:nvSpPr>
            <p:cNvPr name="TextBox 10" id="10"/>
            <p:cNvSpPr txBox="true"/>
            <p:nvPr/>
          </p:nvSpPr>
          <p:spPr>
            <a:xfrm>
              <a:off x="76200" y="133350"/>
              <a:ext cx="660400" cy="603250"/>
            </a:xfrm>
            <a:prstGeom prst="rect">
              <a:avLst/>
            </a:prstGeom>
          </p:spPr>
          <p:txBody>
            <a:bodyPr anchor="ctr" rtlCol="false" tIns="50800" lIns="50800" bIns="50800" rIns="50800"/>
            <a:lstStyle/>
            <a:p>
              <a:pPr algn="ctr">
                <a:lnSpc>
                  <a:spcPts val="1660"/>
                </a:lnSpc>
              </a:pPr>
            </a:p>
          </p:txBody>
        </p:sp>
      </p:grpSp>
      <p:grpSp>
        <p:nvGrpSpPr>
          <p:cNvPr name="Group 11" id="11"/>
          <p:cNvGrpSpPr/>
          <p:nvPr/>
        </p:nvGrpSpPr>
        <p:grpSpPr>
          <a:xfrm rot="0">
            <a:off x="17259300" y="2636110"/>
            <a:ext cx="1570279" cy="157027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B40D1">
                    <a:alpha val="100000"/>
                  </a:srgbClr>
                </a:gs>
                <a:gs pos="100000">
                  <a:srgbClr val="FC35A5">
                    <a:alpha val="100000"/>
                  </a:srgbClr>
                </a:gs>
              </a:gsLst>
              <a:lin ang="2700000"/>
            </a:gradFill>
          </p:spPr>
        </p:sp>
        <p:sp>
          <p:nvSpPr>
            <p:cNvPr name="TextBox 13" id="13"/>
            <p:cNvSpPr txBox="true"/>
            <p:nvPr/>
          </p:nvSpPr>
          <p:spPr>
            <a:xfrm>
              <a:off x="76200" y="133350"/>
              <a:ext cx="660400" cy="603250"/>
            </a:xfrm>
            <a:prstGeom prst="rect">
              <a:avLst/>
            </a:prstGeom>
          </p:spPr>
          <p:txBody>
            <a:bodyPr anchor="ctr" rtlCol="false" tIns="50800" lIns="50800" bIns="50800" rIns="50800"/>
            <a:lstStyle/>
            <a:p>
              <a:pPr algn="ctr">
                <a:lnSpc>
                  <a:spcPts val="1660"/>
                </a:lnSpc>
              </a:pPr>
            </a:p>
          </p:txBody>
        </p:sp>
      </p:grpSp>
      <p:sp>
        <p:nvSpPr>
          <p:cNvPr name="Freeform 14" id="14"/>
          <p:cNvSpPr/>
          <p:nvPr/>
        </p:nvSpPr>
        <p:spPr>
          <a:xfrm flipH="false" flipV="false" rot="0">
            <a:off x="-3684848" y="-4212051"/>
            <a:ext cx="5973819" cy="5800035"/>
          </a:xfrm>
          <a:custGeom>
            <a:avLst/>
            <a:gdLst/>
            <a:ahLst/>
            <a:cxnLst/>
            <a:rect r="r" b="b" t="t" l="l"/>
            <a:pathLst>
              <a:path h="5800035" w="5973819">
                <a:moveTo>
                  <a:pt x="0" y="0"/>
                </a:moveTo>
                <a:lnTo>
                  <a:pt x="5973819" y="0"/>
                </a:lnTo>
                <a:lnTo>
                  <a:pt x="5973819" y="5800035"/>
                </a:lnTo>
                <a:lnTo>
                  <a:pt x="0" y="5800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5" id="15"/>
          <p:cNvGrpSpPr/>
          <p:nvPr/>
        </p:nvGrpSpPr>
        <p:grpSpPr>
          <a:xfrm rot="0">
            <a:off x="741592" y="609495"/>
            <a:ext cx="16804816" cy="1167451"/>
            <a:chOff x="0" y="0"/>
            <a:chExt cx="8145755" cy="565896"/>
          </a:xfrm>
        </p:grpSpPr>
        <p:sp>
          <p:nvSpPr>
            <p:cNvPr name="Freeform 16" id="16"/>
            <p:cNvSpPr/>
            <p:nvPr/>
          </p:nvSpPr>
          <p:spPr>
            <a:xfrm flipH="false" flipV="false" rot="0">
              <a:off x="0" y="0"/>
              <a:ext cx="8145755" cy="565896"/>
            </a:xfrm>
            <a:custGeom>
              <a:avLst/>
              <a:gdLst/>
              <a:ahLst/>
              <a:cxnLst/>
              <a:rect r="r" b="b" t="t" l="l"/>
              <a:pathLst>
                <a:path h="565896" w="8145755">
                  <a:moveTo>
                    <a:pt x="7942555" y="0"/>
                  </a:moveTo>
                  <a:cubicBezTo>
                    <a:pt x="8054779" y="0"/>
                    <a:pt x="8145755" y="126680"/>
                    <a:pt x="8145755" y="282948"/>
                  </a:cubicBezTo>
                  <a:cubicBezTo>
                    <a:pt x="8145755" y="439216"/>
                    <a:pt x="8054779" y="565896"/>
                    <a:pt x="7942555" y="565896"/>
                  </a:cubicBezTo>
                  <a:lnTo>
                    <a:pt x="203200" y="565896"/>
                  </a:lnTo>
                  <a:cubicBezTo>
                    <a:pt x="90976" y="565896"/>
                    <a:pt x="0" y="439216"/>
                    <a:pt x="0" y="282948"/>
                  </a:cubicBezTo>
                  <a:cubicBezTo>
                    <a:pt x="0" y="126680"/>
                    <a:pt x="90976" y="0"/>
                    <a:pt x="203200" y="0"/>
                  </a:cubicBezTo>
                  <a:close/>
                </a:path>
              </a:pathLst>
            </a:custGeom>
            <a:gradFill rotWithShape="true">
              <a:gsLst>
                <a:gs pos="0">
                  <a:srgbClr val="004AAD">
                    <a:alpha val="100000"/>
                  </a:srgbClr>
                </a:gs>
                <a:gs pos="100000">
                  <a:srgbClr val="CB6CE6">
                    <a:alpha val="100000"/>
                  </a:srgbClr>
                </a:gs>
              </a:gsLst>
              <a:lin ang="0"/>
            </a:gradFill>
          </p:spPr>
        </p:sp>
        <p:sp>
          <p:nvSpPr>
            <p:cNvPr name="TextBox 17" id="17"/>
            <p:cNvSpPr txBox="true"/>
            <p:nvPr/>
          </p:nvSpPr>
          <p:spPr>
            <a:xfrm>
              <a:off x="0" y="57150"/>
              <a:ext cx="8145755" cy="508746"/>
            </a:xfrm>
            <a:prstGeom prst="rect">
              <a:avLst/>
            </a:prstGeom>
          </p:spPr>
          <p:txBody>
            <a:bodyPr anchor="ctr" rtlCol="false" tIns="50800" lIns="50800" bIns="50800" rIns="50800"/>
            <a:lstStyle/>
            <a:p>
              <a:pPr algn="ctr">
                <a:lnSpc>
                  <a:spcPts val="1660"/>
                </a:lnSpc>
              </a:pPr>
            </a:p>
          </p:txBody>
        </p:sp>
      </p:grpSp>
      <p:sp>
        <p:nvSpPr>
          <p:cNvPr name="TextBox 18" id="18"/>
          <p:cNvSpPr txBox="true"/>
          <p:nvPr/>
        </p:nvSpPr>
        <p:spPr>
          <a:xfrm rot="0">
            <a:off x="3259401" y="4225439"/>
            <a:ext cx="8585336" cy="2340255"/>
          </a:xfrm>
          <a:prstGeom prst="rect">
            <a:avLst/>
          </a:prstGeom>
        </p:spPr>
        <p:txBody>
          <a:bodyPr anchor="t" rtlCol="false" tIns="0" lIns="0" bIns="0" rIns="0">
            <a:spAutoFit/>
          </a:bodyPr>
          <a:lstStyle/>
          <a:p>
            <a:pPr algn="l">
              <a:lnSpc>
                <a:spcPts val="3105"/>
              </a:lnSpc>
            </a:pPr>
            <a:r>
              <a:rPr lang="en-US" sz="2823" b="true">
                <a:solidFill>
                  <a:srgbClr val="FFFBF7"/>
                </a:solidFill>
                <a:latin typeface="TT Chocolates Bold"/>
                <a:ea typeface="TT Chocolates Bold"/>
                <a:cs typeface="TT Chocolates Bold"/>
                <a:sym typeface="TT Chocolates Bold"/>
              </a:rPr>
              <a:t>Cette phase consiste à sécuriser les échanges entre le client et le serveur en activant HTTPS, en désactivant les protocoles obsolètes et en renforçant le ch</a:t>
            </a:r>
            <a:r>
              <a:rPr lang="en-US" sz="2823" b="true">
                <a:solidFill>
                  <a:srgbClr val="FFFBF7"/>
                </a:solidFill>
                <a:latin typeface="TT Chocolates Bold"/>
                <a:ea typeface="TT Chocolates Bold"/>
                <a:cs typeface="TT Chocolates Bold"/>
                <a:sym typeface="TT Chocolates Bold"/>
              </a:rPr>
              <a:t>iffrement, garantissant ainsi la confidentialité et l’intégrité des données.</a:t>
            </a:r>
          </a:p>
          <a:p>
            <a:pPr algn="l" marL="0" indent="0" lvl="0">
              <a:lnSpc>
                <a:spcPts val="3105"/>
              </a:lnSpc>
            </a:pPr>
          </a:p>
        </p:txBody>
      </p:sp>
      <p:sp>
        <p:nvSpPr>
          <p:cNvPr name="TextBox 19" id="19"/>
          <p:cNvSpPr txBox="true"/>
          <p:nvPr/>
        </p:nvSpPr>
        <p:spPr>
          <a:xfrm rot="0">
            <a:off x="1311094" y="973173"/>
            <a:ext cx="2916827" cy="630595"/>
          </a:xfrm>
          <a:prstGeom prst="rect">
            <a:avLst/>
          </a:prstGeom>
        </p:spPr>
        <p:txBody>
          <a:bodyPr anchor="t" rtlCol="false" tIns="0" lIns="0" bIns="0" rIns="0">
            <a:spAutoFit/>
          </a:bodyPr>
          <a:lstStyle/>
          <a:p>
            <a:pPr algn="l" marL="0" indent="0" lvl="0">
              <a:lnSpc>
                <a:spcPts val="4490"/>
              </a:lnSpc>
            </a:pPr>
            <a:r>
              <a:rPr lang="en-US" b="true" sz="5410">
                <a:solidFill>
                  <a:srgbClr val="E93CB0"/>
                </a:solidFill>
                <a:latin typeface="TT Chocolates Bold"/>
                <a:ea typeface="TT Chocolates Bold"/>
                <a:cs typeface="TT Chocolates Bold"/>
                <a:sym typeface="TT Chocolates Bold"/>
              </a:rPr>
              <a:t>phase 6: </a:t>
            </a:r>
          </a:p>
        </p:txBody>
      </p:sp>
      <p:sp>
        <p:nvSpPr>
          <p:cNvPr name="TextBox 20" id="20"/>
          <p:cNvSpPr txBox="true"/>
          <p:nvPr/>
        </p:nvSpPr>
        <p:spPr>
          <a:xfrm rot="0">
            <a:off x="5074892" y="989571"/>
            <a:ext cx="10522075" cy="485918"/>
          </a:xfrm>
          <a:prstGeom prst="rect">
            <a:avLst/>
          </a:prstGeom>
        </p:spPr>
        <p:txBody>
          <a:bodyPr anchor="t" rtlCol="false" tIns="0" lIns="0" bIns="0" rIns="0">
            <a:spAutoFit/>
          </a:bodyPr>
          <a:lstStyle/>
          <a:p>
            <a:pPr algn="ctr" marL="0" indent="0" lvl="0">
              <a:lnSpc>
                <a:spcPts val="3727"/>
              </a:lnSpc>
            </a:pPr>
            <a:r>
              <a:rPr lang="en-US" b="true" sz="3419">
                <a:solidFill>
                  <a:srgbClr val="FFFBF7"/>
                </a:solidFill>
                <a:latin typeface="TT Chocolates Bold"/>
                <a:ea typeface="TT Chocolates Bold"/>
                <a:cs typeface="TT Chocolates Bold"/>
                <a:sym typeface="TT Chocolates Bold"/>
              </a:rPr>
              <a:t>SÉCURISATION DES COMMUNICATIONS </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E3D">
                <a:alpha val="100000"/>
              </a:srgbClr>
            </a:gs>
            <a:gs pos="100000">
              <a:srgbClr val="010D1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3774594" y="6745007"/>
            <a:ext cx="6465224" cy="6465224"/>
          </a:xfrm>
          <a:custGeom>
            <a:avLst/>
            <a:gdLst/>
            <a:ahLst/>
            <a:cxnLst/>
            <a:rect r="r" b="b" t="t" l="l"/>
            <a:pathLst>
              <a:path h="6465224" w="6465224">
                <a:moveTo>
                  <a:pt x="0" y="0"/>
                </a:moveTo>
                <a:lnTo>
                  <a:pt x="6465225" y="0"/>
                </a:lnTo>
                <a:lnTo>
                  <a:pt x="6465225" y="6465224"/>
                </a:lnTo>
                <a:lnTo>
                  <a:pt x="0" y="6465224"/>
                </a:lnTo>
                <a:lnTo>
                  <a:pt x="0" y="0"/>
                </a:lnTo>
                <a:close/>
              </a:path>
            </a:pathLst>
          </a:custGeom>
          <a:blipFill>
            <a:blip r:embed="rId2">
              <a:alphaModFix amt="6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578766" y="5394595"/>
            <a:ext cx="5973819" cy="5800035"/>
          </a:xfrm>
          <a:custGeom>
            <a:avLst/>
            <a:gdLst/>
            <a:ahLst/>
            <a:cxnLst/>
            <a:rect r="r" b="b" t="t" l="l"/>
            <a:pathLst>
              <a:path h="5800035" w="5973819">
                <a:moveTo>
                  <a:pt x="0" y="0"/>
                </a:moveTo>
                <a:lnTo>
                  <a:pt x="5973819" y="0"/>
                </a:lnTo>
                <a:lnTo>
                  <a:pt x="5973819" y="5800035"/>
                </a:lnTo>
                <a:lnTo>
                  <a:pt x="0" y="5800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7459595" y="2362882"/>
            <a:ext cx="4458204" cy="6895418"/>
            <a:chOff x="0" y="0"/>
            <a:chExt cx="868081" cy="1342644"/>
          </a:xfrm>
        </p:grpSpPr>
        <p:sp>
          <p:nvSpPr>
            <p:cNvPr name="Freeform 5" id="5"/>
            <p:cNvSpPr/>
            <p:nvPr/>
          </p:nvSpPr>
          <p:spPr>
            <a:xfrm flipH="false" flipV="false" rot="0">
              <a:off x="0" y="0"/>
              <a:ext cx="868081" cy="1342644"/>
            </a:xfrm>
            <a:custGeom>
              <a:avLst/>
              <a:gdLst/>
              <a:ahLst/>
              <a:cxnLst/>
              <a:rect r="r" b="b" t="t" l="l"/>
              <a:pathLst>
                <a:path h="1342644" w="868081">
                  <a:moveTo>
                    <a:pt x="39941" y="0"/>
                  </a:moveTo>
                  <a:lnTo>
                    <a:pt x="828140" y="0"/>
                  </a:lnTo>
                  <a:cubicBezTo>
                    <a:pt x="850199" y="0"/>
                    <a:pt x="868081" y="17882"/>
                    <a:pt x="868081" y="39941"/>
                  </a:cubicBezTo>
                  <a:lnTo>
                    <a:pt x="868081" y="1302704"/>
                  </a:lnTo>
                  <a:cubicBezTo>
                    <a:pt x="868081" y="1324762"/>
                    <a:pt x="850199" y="1342644"/>
                    <a:pt x="828140" y="1342644"/>
                  </a:cubicBezTo>
                  <a:lnTo>
                    <a:pt x="39941" y="1342644"/>
                  </a:lnTo>
                  <a:cubicBezTo>
                    <a:pt x="17882" y="1342644"/>
                    <a:pt x="0" y="1324762"/>
                    <a:pt x="0" y="1302704"/>
                  </a:cubicBezTo>
                  <a:lnTo>
                    <a:pt x="0" y="39941"/>
                  </a:lnTo>
                  <a:cubicBezTo>
                    <a:pt x="0" y="17882"/>
                    <a:pt x="17882" y="0"/>
                    <a:pt x="39941" y="0"/>
                  </a:cubicBezTo>
                  <a:close/>
                </a:path>
              </a:pathLst>
            </a:custGeom>
            <a:blipFill>
              <a:blip r:embed="rId6"/>
              <a:stretch>
                <a:fillRect l="-159142" t="0" r="-159142" b="0"/>
              </a:stretch>
            </a:blipFill>
          </p:spPr>
        </p:sp>
      </p:grpSp>
      <p:sp>
        <p:nvSpPr>
          <p:cNvPr name="Freeform 6" id="6"/>
          <p:cNvSpPr/>
          <p:nvPr/>
        </p:nvSpPr>
        <p:spPr>
          <a:xfrm flipH="false" flipV="false" rot="0">
            <a:off x="1959383" y="4421149"/>
            <a:ext cx="995888" cy="1158009"/>
          </a:xfrm>
          <a:custGeom>
            <a:avLst/>
            <a:gdLst/>
            <a:ahLst/>
            <a:cxnLst/>
            <a:rect r="r" b="b" t="t" l="l"/>
            <a:pathLst>
              <a:path h="1158009" w="995888">
                <a:moveTo>
                  <a:pt x="0" y="0"/>
                </a:moveTo>
                <a:lnTo>
                  <a:pt x="995888" y="0"/>
                </a:lnTo>
                <a:lnTo>
                  <a:pt x="995888" y="1158009"/>
                </a:lnTo>
                <a:lnTo>
                  <a:pt x="0" y="11580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830807" y="7869538"/>
            <a:ext cx="1253041" cy="1025215"/>
          </a:xfrm>
          <a:custGeom>
            <a:avLst/>
            <a:gdLst/>
            <a:ahLst/>
            <a:cxnLst/>
            <a:rect r="r" b="b" t="t" l="l"/>
            <a:pathLst>
              <a:path h="1025215" w="1253041">
                <a:moveTo>
                  <a:pt x="0" y="0"/>
                </a:moveTo>
                <a:lnTo>
                  <a:pt x="1253041" y="0"/>
                </a:lnTo>
                <a:lnTo>
                  <a:pt x="1253041" y="1025216"/>
                </a:lnTo>
                <a:lnTo>
                  <a:pt x="0" y="102521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AutoShape 8" id="8"/>
          <p:cNvSpPr/>
          <p:nvPr/>
        </p:nvSpPr>
        <p:spPr>
          <a:xfrm flipV="true">
            <a:off x="1145004" y="4176124"/>
            <a:ext cx="5881665" cy="0"/>
          </a:xfrm>
          <a:prstGeom prst="line">
            <a:avLst/>
          </a:prstGeom>
          <a:ln cap="flat" w="28575">
            <a:gradFill>
              <a:gsLst>
                <a:gs pos="0">
                  <a:srgbClr val="9B40D1">
                    <a:alpha val="100000"/>
                  </a:srgbClr>
                </a:gs>
                <a:gs pos="100000">
                  <a:srgbClr val="FC35A5">
                    <a:alpha val="100000"/>
                  </a:srgbClr>
                </a:gs>
              </a:gsLst>
              <a:lin ang="2700000"/>
            </a:gradFill>
            <a:prstDash val="solid"/>
            <a:headEnd type="none" len="sm" w="sm"/>
            <a:tailEnd type="none" len="sm" w="sm"/>
          </a:ln>
        </p:spPr>
      </p:sp>
      <p:sp>
        <p:nvSpPr>
          <p:cNvPr name="Freeform 9" id="9"/>
          <p:cNvSpPr/>
          <p:nvPr/>
        </p:nvSpPr>
        <p:spPr>
          <a:xfrm flipH="false" flipV="false" rot="0">
            <a:off x="10842577" y="4732385"/>
            <a:ext cx="3007696" cy="3938063"/>
          </a:xfrm>
          <a:custGeom>
            <a:avLst/>
            <a:gdLst/>
            <a:ahLst/>
            <a:cxnLst/>
            <a:rect r="r" b="b" t="t" l="l"/>
            <a:pathLst>
              <a:path h="3938063" w="3007696">
                <a:moveTo>
                  <a:pt x="0" y="0"/>
                </a:moveTo>
                <a:lnTo>
                  <a:pt x="3007695" y="0"/>
                </a:lnTo>
                <a:lnTo>
                  <a:pt x="3007695" y="3938063"/>
                </a:lnTo>
                <a:lnTo>
                  <a:pt x="0" y="3938063"/>
                </a:lnTo>
                <a:lnTo>
                  <a:pt x="0" y="0"/>
                </a:lnTo>
                <a:close/>
              </a:path>
            </a:pathLst>
          </a:custGeom>
          <a:blipFill>
            <a:blip r:embed="rId11"/>
            <a:stretch>
              <a:fillRect l="0" t="0" r="0" b="0"/>
            </a:stretch>
          </a:blipFill>
        </p:spPr>
      </p:sp>
      <p:grpSp>
        <p:nvGrpSpPr>
          <p:cNvPr name="Group 10" id="10"/>
          <p:cNvGrpSpPr/>
          <p:nvPr/>
        </p:nvGrpSpPr>
        <p:grpSpPr>
          <a:xfrm rot="0">
            <a:off x="-541579" y="7759569"/>
            <a:ext cx="1570279" cy="157027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B40D1">
                    <a:alpha val="100000"/>
                  </a:srgbClr>
                </a:gs>
                <a:gs pos="100000">
                  <a:srgbClr val="FC35A5">
                    <a:alpha val="100000"/>
                  </a:srgbClr>
                </a:gs>
              </a:gsLst>
              <a:lin ang="2700000"/>
            </a:gradFill>
          </p:spPr>
        </p:sp>
        <p:sp>
          <p:nvSpPr>
            <p:cNvPr name="TextBox 12" id="12"/>
            <p:cNvSpPr txBox="true"/>
            <p:nvPr/>
          </p:nvSpPr>
          <p:spPr>
            <a:xfrm>
              <a:off x="76200" y="133350"/>
              <a:ext cx="660400" cy="603250"/>
            </a:xfrm>
            <a:prstGeom prst="rect">
              <a:avLst/>
            </a:prstGeom>
          </p:spPr>
          <p:txBody>
            <a:bodyPr anchor="ctr" rtlCol="false" tIns="50800" lIns="50800" bIns="50800" rIns="50800"/>
            <a:lstStyle/>
            <a:p>
              <a:pPr algn="ctr">
                <a:lnSpc>
                  <a:spcPts val="1660"/>
                </a:lnSpc>
              </a:pPr>
            </a:p>
          </p:txBody>
        </p:sp>
      </p:grpSp>
      <p:grpSp>
        <p:nvGrpSpPr>
          <p:cNvPr name="Group 13" id="13"/>
          <p:cNvGrpSpPr/>
          <p:nvPr/>
        </p:nvGrpSpPr>
        <p:grpSpPr>
          <a:xfrm rot="0">
            <a:off x="17259300" y="2078122"/>
            <a:ext cx="1570279" cy="157027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B40D1">
                    <a:alpha val="100000"/>
                  </a:srgbClr>
                </a:gs>
                <a:gs pos="100000">
                  <a:srgbClr val="FC35A5">
                    <a:alpha val="100000"/>
                  </a:srgbClr>
                </a:gs>
              </a:gsLst>
              <a:lin ang="2700000"/>
            </a:gradFill>
          </p:spPr>
        </p:sp>
        <p:sp>
          <p:nvSpPr>
            <p:cNvPr name="TextBox 15" id="15"/>
            <p:cNvSpPr txBox="true"/>
            <p:nvPr/>
          </p:nvSpPr>
          <p:spPr>
            <a:xfrm>
              <a:off x="76200" y="133350"/>
              <a:ext cx="660400" cy="603250"/>
            </a:xfrm>
            <a:prstGeom prst="rect">
              <a:avLst/>
            </a:prstGeom>
          </p:spPr>
          <p:txBody>
            <a:bodyPr anchor="ctr" rtlCol="false" tIns="50800" lIns="50800" bIns="50800" rIns="50800"/>
            <a:lstStyle/>
            <a:p>
              <a:pPr algn="ctr">
                <a:lnSpc>
                  <a:spcPts val="1660"/>
                </a:lnSpc>
              </a:pPr>
            </a:p>
          </p:txBody>
        </p:sp>
      </p:grpSp>
      <p:grpSp>
        <p:nvGrpSpPr>
          <p:cNvPr name="Group 16" id="16"/>
          <p:cNvGrpSpPr/>
          <p:nvPr/>
        </p:nvGrpSpPr>
        <p:grpSpPr>
          <a:xfrm rot="0">
            <a:off x="741592" y="609495"/>
            <a:ext cx="16804816" cy="1167451"/>
            <a:chOff x="0" y="0"/>
            <a:chExt cx="8145755" cy="565896"/>
          </a:xfrm>
        </p:grpSpPr>
        <p:sp>
          <p:nvSpPr>
            <p:cNvPr name="Freeform 17" id="17"/>
            <p:cNvSpPr/>
            <p:nvPr/>
          </p:nvSpPr>
          <p:spPr>
            <a:xfrm flipH="false" flipV="false" rot="0">
              <a:off x="0" y="0"/>
              <a:ext cx="8145755" cy="565896"/>
            </a:xfrm>
            <a:custGeom>
              <a:avLst/>
              <a:gdLst/>
              <a:ahLst/>
              <a:cxnLst/>
              <a:rect r="r" b="b" t="t" l="l"/>
              <a:pathLst>
                <a:path h="565896" w="8145755">
                  <a:moveTo>
                    <a:pt x="7942555" y="0"/>
                  </a:moveTo>
                  <a:cubicBezTo>
                    <a:pt x="8054779" y="0"/>
                    <a:pt x="8145755" y="126680"/>
                    <a:pt x="8145755" y="282948"/>
                  </a:cubicBezTo>
                  <a:cubicBezTo>
                    <a:pt x="8145755" y="439216"/>
                    <a:pt x="8054779" y="565896"/>
                    <a:pt x="7942555" y="565896"/>
                  </a:cubicBezTo>
                  <a:lnTo>
                    <a:pt x="203200" y="565896"/>
                  </a:lnTo>
                  <a:cubicBezTo>
                    <a:pt x="90976" y="565896"/>
                    <a:pt x="0" y="439216"/>
                    <a:pt x="0" y="282948"/>
                  </a:cubicBezTo>
                  <a:cubicBezTo>
                    <a:pt x="0" y="126680"/>
                    <a:pt x="90976" y="0"/>
                    <a:pt x="203200" y="0"/>
                  </a:cubicBezTo>
                  <a:close/>
                </a:path>
              </a:pathLst>
            </a:custGeom>
            <a:gradFill rotWithShape="true">
              <a:gsLst>
                <a:gs pos="0">
                  <a:srgbClr val="004AAD">
                    <a:alpha val="100000"/>
                  </a:srgbClr>
                </a:gs>
                <a:gs pos="100000">
                  <a:srgbClr val="CB6CE6">
                    <a:alpha val="100000"/>
                  </a:srgbClr>
                </a:gs>
              </a:gsLst>
              <a:lin ang="0"/>
            </a:gradFill>
          </p:spPr>
        </p:sp>
        <p:sp>
          <p:nvSpPr>
            <p:cNvPr name="TextBox 18" id="18"/>
            <p:cNvSpPr txBox="true"/>
            <p:nvPr/>
          </p:nvSpPr>
          <p:spPr>
            <a:xfrm>
              <a:off x="0" y="57150"/>
              <a:ext cx="8145755" cy="508746"/>
            </a:xfrm>
            <a:prstGeom prst="rect">
              <a:avLst/>
            </a:prstGeom>
          </p:spPr>
          <p:txBody>
            <a:bodyPr anchor="ctr" rtlCol="false" tIns="50800" lIns="50800" bIns="50800" rIns="50800"/>
            <a:lstStyle/>
            <a:p>
              <a:pPr algn="ctr">
                <a:lnSpc>
                  <a:spcPts val="1660"/>
                </a:lnSpc>
              </a:pPr>
            </a:p>
          </p:txBody>
        </p:sp>
      </p:grpSp>
      <p:sp>
        <p:nvSpPr>
          <p:cNvPr name="TextBox 19" id="19"/>
          <p:cNvSpPr txBox="true"/>
          <p:nvPr/>
        </p:nvSpPr>
        <p:spPr>
          <a:xfrm rot="0">
            <a:off x="1145004" y="3099333"/>
            <a:ext cx="6236259" cy="790916"/>
          </a:xfrm>
          <a:prstGeom prst="rect">
            <a:avLst/>
          </a:prstGeom>
        </p:spPr>
        <p:txBody>
          <a:bodyPr anchor="t" rtlCol="false" tIns="0" lIns="0" bIns="0" rIns="0">
            <a:spAutoFit/>
          </a:bodyPr>
          <a:lstStyle/>
          <a:p>
            <a:pPr algn="l">
              <a:lnSpc>
                <a:spcPts val="2959"/>
              </a:lnSpc>
            </a:pPr>
            <a:r>
              <a:rPr lang="en-US" sz="3565" b="true">
                <a:solidFill>
                  <a:srgbClr val="E93CB0"/>
                </a:solidFill>
                <a:latin typeface="TT Chocolates Bold"/>
                <a:ea typeface="TT Chocolates Bold"/>
                <a:cs typeface="TT Chocolates Bold"/>
                <a:sym typeface="TT Chocolates Bold"/>
              </a:rPr>
              <a:t>Objectif : Vérifier l’efficacité des mesures mises en place</a:t>
            </a:r>
          </a:p>
        </p:txBody>
      </p:sp>
      <p:sp>
        <p:nvSpPr>
          <p:cNvPr name="TextBox 20" id="20"/>
          <p:cNvSpPr txBox="true"/>
          <p:nvPr/>
        </p:nvSpPr>
        <p:spPr>
          <a:xfrm rot="0">
            <a:off x="3538672" y="4660429"/>
            <a:ext cx="3337522" cy="698500"/>
          </a:xfrm>
          <a:prstGeom prst="rect">
            <a:avLst/>
          </a:prstGeom>
        </p:spPr>
        <p:txBody>
          <a:bodyPr anchor="t" rtlCol="false" tIns="0" lIns="0" bIns="0" rIns="0">
            <a:spAutoFit/>
          </a:bodyPr>
          <a:lstStyle/>
          <a:p>
            <a:pPr algn="l" marL="0" indent="0" lvl="0">
              <a:lnSpc>
                <a:spcPts val="2750"/>
              </a:lnSpc>
            </a:pPr>
            <a:r>
              <a:rPr lang="en-US" b="true" sz="2500">
                <a:solidFill>
                  <a:srgbClr val="FFFBF7"/>
                </a:solidFill>
                <a:latin typeface="TT Chocolates Bold"/>
                <a:ea typeface="TT Chocolates Bold"/>
                <a:cs typeface="TT Chocolates Bold"/>
                <a:sym typeface="TT Chocolates Bold"/>
              </a:rPr>
              <a:t>Réexécu</a:t>
            </a:r>
            <a:r>
              <a:rPr lang="en-US" b="true" sz="2500">
                <a:solidFill>
                  <a:srgbClr val="FFFBF7"/>
                </a:solidFill>
                <a:latin typeface="TT Chocolates Bold"/>
                <a:ea typeface="TT Chocolates Bold"/>
                <a:cs typeface="TT Chocolates Bold"/>
                <a:sym typeface="TT Chocolates Bold"/>
              </a:rPr>
              <a:t>tion des outils d’audit</a:t>
            </a:r>
          </a:p>
        </p:txBody>
      </p:sp>
      <p:sp>
        <p:nvSpPr>
          <p:cNvPr name="TextBox 21" id="21"/>
          <p:cNvSpPr txBox="true"/>
          <p:nvPr/>
        </p:nvSpPr>
        <p:spPr>
          <a:xfrm rot="0">
            <a:off x="3569623" y="6351425"/>
            <a:ext cx="2900096" cy="698500"/>
          </a:xfrm>
          <a:prstGeom prst="rect">
            <a:avLst/>
          </a:prstGeom>
        </p:spPr>
        <p:txBody>
          <a:bodyPr anchor="t" rtlCol="false" tIns="0" lIns="0" bIns="0" rIns="0">
            <a:spAutoFit/>
          </a:bodyPr>
          <a:lstStyle/>
          <a:p>
            <a:pPr algn="l" marL="0" indent="0" lvl="0">
              <a:lnSpc>
                <a:spcPts val="2750"/>
              </a:lnSpc>
            </a:pPr>
            <a:r>
              <a:rPr lang="en-US" b="true" sz="2500">
                <a:solidFill>
                  <a:srgbClr val="FFFBF7"/>
                </a:solidFill>
                <a:latin typeface="TT Chocolates Bold"/>
                <a:ea typeface="TT Chocolates Bold"/>
                <a:cs typeface="TT Chocolates Bold"/>
                <a:sym typeface="TT Chocolates Bold"/>
              </a:rPr>
              <a:t>Comparais</a:t>
            </a:r>
            <a:r>
              <a:rPr lang="en-US" b="true" sz="2500">
                <a:solidFill>
                  <a:srgbClr val="FFFBF7"/>
                </a:solidFill>
                <a:latin typeface="TT Chocolates Bold"/>
                <a:ea typeface="TT Chocolates Bold"/>
                <a:cs typeface="TT Chocolates Bold"/>
                <a:sym typeface="TT Chocolates Bold"/>
              </a:rPr>
              <a:t>on avant/après</a:t>
            </a:r>
          </a:p>
        </p:txBody>
      </p:sp>
      <p:sp>
        <p:nvSpPr>
          <p:cNvPr name="TextBox 22" id="22"/>
          <p:cNvSpPr txBox="true"/>
          <p:nvPr/>
        </p:nvSpPr>
        <p:spPr>
          <a:xfrm rot="0">
            <a:off x="3569623" y="8042421"/>
            <a:ext cx="3457046" cy="698500"/>
          </a:xfrm>
          <a:prstGeom prst="rect">
            <a:avLst/>
          </a:prstGeom>
        </p:spPr>
        <p:txBody>
          <a:bodyPr anchor="t" rtlCol="false" tIns="0" lIns="0" bIns="0" rIns="0">
            <a:spAutoFit/>
          </a:bodyPr>
          <a:lstStyle/>
          <a:p>
            <a:pPr algn="l" marL="0" indent="0" lvl="0">
              <a:lnSpc>
                <a:spcPts val="2750"/>
              </a:lnSpc>
            </a:pPr>
            <a:r>
              <a:rPr lang="en-US" b="true" sz="2500">
                <a:solidFill>
                  <a:srgbClr val="FFFBF7"/>
                </a:solidFill>
                <a:latin typeface="TT Chocolates Bold"/>
                <a:ea typeface="TT Chocolates Bold"/>
                <a:cs typeface="TT Chocolates Bold"/>
                <a:sym typeface="TT Chocolates Bold"/>
              </a:rPr>
              <a:t>Iden</a:t>
            </a:r>
            <a:r>
              <a:rPr lang="en-US" b="true" sz="2500">
                <a:solidFill>
                  <a:srgbClr val="FFFBF7"/>
                </a:solidFill>
                <a:latin typeface="TT Chocolates Bold"/>
                <a:ea typeface="TT Chocolates Bold"/>
                <a:cs typeface="TT Chocolates Bold"/>
                <a:sym typeface="TT Chocolates Bold"/>
              </a:rPr>
              <a:t>tification des vulnérabilités corrigées</a:t>
            </a:r>
          </a:p>
        </p:txBody>
      </p:sp>
      <p:sp>
        <p:nvSpPr>
          <p:cNvPr name="TextBox 23" id="23"/>
          <p:cNvSpPr txBox="true"/>
          <p:nvPr/>
        </p:nvSpPr>
        <p:spPr>
          <a:xfrm rot="0">
            <a:off x="12346424" y="3936380"/>
            <a:ext cx="5332598" cy="698576"/>
          </a:xfrm>
          <a:prstGeom prst="rect">
            <a:avLst/>
          </a:prstGeom>
        </p:spPr>
        <p:txBody>
          <a:bodyPr anchor="t" rtlCol="false" tIns="0" lIns="0" bIns="0" rIns="0">
            <a:spAutoFit/>
          </a:bodyPr>
          <a:lstStyle/>
          <a:p>
            <a:pPr algn="just" marL="0" indent="0" lvl="0">
              <a:lnSpc>
                <a:spcPts val="2756"/>
              </a:lnSpc>
            </a:pPr>
            <a:r>
              <a:rPr lang="en-US" b="true" sz="2506">
                <a:solidFill>
                  <a:srgbClr val="FF3131"/>
                </a:solidFill>
                <a:latin typeface="TT Chocolates Bold"/>
                <a:ea typeface="TT Chocolates Bold"/>
                <a:cs typeface="TT Chocolates Bold"/>
                <a:sym typeface="TT Chocolates Bold"/>
              </a:rPr>
              <a:t>Importance </a:t>
            </a:r>
            <a:r>
              <a:rPr lang="en-US" b="true" sz="2506">
                <a:solidFill>
                  <a:srgbClr val="FFFBF7"/>
                </a:solidFill>
                <a:latin typeface="TT Chocolates Bold"/>
                <a:ea typeface="TT Chocolates Bold"/>
                <a:cs typeface="TT Chocolates Bold"/>
                <a:sym typeface="TT Chocolates Bold"/>
              </a:rPr>
              <a:t>: Mesurer l’efficacité du durcissement, preuve pratique</a:t>
            </a:r>
          </a:p>
        </p:txBody>
      </p:sp>
      <p:sp>
        <p:nvSpPr>
          <p:cNvPr name="TextBox 24" id="24"/>
          <p:cNvSpPr txBox="true"/>
          <p:nvPr/>
        </p:nvSpPr>
        <p:spPr>
          <a:xfrm rot="0">
            <a:off x="1311094" y="973173"/>
            <a:ext cx="2916827" cy="630595"/>
          </a:xfrm>
          <a:prstGeom prst="rect">
            <a:avLst/>
          </a:prstGeom>
        </p:spPr>
        <p:txBody>
          <a:bodyPr anchor="t" rtlCol="false" tIns="0" lIns="0" bIns="0" rIns="0">
            <a:spAutoFit/>
          </a:bodyPr>
          <a:lstStyle/>
          <a:p>
            <a:pPr algn="l" marL="0" indent="0" lvl="0">
              <a:lnSpc>
                <a:spcPts val="4490"/>
              </a:lnSpc>
            </a:pPr>
            <a:r>
              <a:rPr lang="en-US" b="true" sz="5410">
                <a:solidFill>
                  <a:srgbClr val="E93CB0"/>
                </a:solidFill>
                <a:latin typeface="TT Chocolates Bold"/>
                <a:ea typeface="TT Chocolates Bold"/>
                <a:cs typeface="TT Chocolates Bold"/>
                <a:sym typeface="TT Chocolates Bold"/>
              </a:rPr>
              <a:t>phase 7: </a:t>
            </a:r>
          </a:p>
        </p:txBody>
      </p:sp>
      <p:sp>
        <p:nvSpPr>
          <p:cNvPr name="TextBox 25" id="25"/>
          <p:cNvSpPr txBox="true"/>
          <p:nvPr/>
        </p:nvSpPr>
        <p:spPr>
          <a:xfrm rot="0">
            <a:off x="5031556" y="964549"/>
            <a:ext cx="10522075" cy="485918"/>
          </a:xfrm>
          <a:prstGeom prst="rect">
            <a:avLst/>
          </a:prstGeom>
        </p:spPr>
        <p:txBody>
          <a:bodyPr anchor="t" rtlCol="false" tIns="0" lIns="0" bIns="0" rIns="0">
            <a:spAutoFit/>
          </a:bodyPr>
          <a:lstStyle/>
          <a:p>
            <a:pPr algn="ctr" marL="0" indent="0" lvl="0">
              <a:lnSpc>
                <a:spcPts val="3727"/>
              </a:lnSpc>
            </a:pPr>
            <a:r>
              <a:rPr lang="en-US" b="true" sz="3419">
                <a:solidFill>
                  <a:srgbClr val="FFFBF7"/>
                </a:solidFill>
                <a:latin typeface="TT Chocolates Bold"/>
                <a:ea typeface="TT Chocolates Bold"/>
                <a:cs typeface="TT Chocolates Bold"/>
                <a:sym typeface="TT Chocolates Bold"/>
              </a:rPr>
              <a:t>AUDIT POST-DURCISSEMENT</a:t>
            </a:r>
          </a:p>
        </p:txBody>
      </p:sp>
      <p:sp>
        <p:nvSpPr>
          <p:cNvPr name="TextBox 26" id="26"/>
          <p:cNvSpPr txBox="true"/>
          <p:nvPr/>
        </p:nvSpPr>
        <p:spPr>
          <a:xfrm rot="0">
            <a:off x="18288000" y="2738399"/>
            <a:ext cx="4740480" cy="1682750"/>
          </a:xfrm>
          <a:prstGeom prst="rect">
            <a:avLst/>
          </a:prstGeom>
        </p:spPr>
        <p:txBody>
          <a:bodyPr anchor="t" rtlCol="false" tIns="0" lIns="0" bIns="0" rIns="0">
            <a:spAutoFit/>
          </a:bodyPr>
          <a:lstStyle/>
          <a:p>
            <a:pPr algn="just" marL="0" indent="0" lvl="0">
              <a:lnSpc>
                <a:spcPts val="2200"/>
              </a:lnSpc>
            </a:pPr>
            <a:r>
              <a:rPr lang="en-US" sz="2000">
                <a:solidFill>
                  <a:srgbClr val="FFFBF7"/>
                </a:solidFill>
                <a:latin typeface="TT Chocolates"/>
                <a:ea typeface="TT Chocolates"/>
                <a:cs typeface="TT Chocolates"/>
                <a:sym typeface="TT Chocolates"/>
              </a:rPr>
              <a:t>Lorem ipsum dolor sit </a:t>
            </a:r>
            <a:r>
              <a:rPr lang="en-US" sz="2000">
                <a:solidFill>
                  <a:srgbClr val="FFFBF7"/>
                </a:solidFill>
                <a:latin typeface="TT Chocolates"/>
                <a:ea typeface="TT Chocolates"/>
                <a:cs typeface="TT Chocolates"/>
                <a:sym typeface="TT Chocolates"/>
              </a:rPr>
              <a:t>amet, consectetur adipiscing elit, sed do eiusmod tempor incididunt ut labore et dolore magna aliqua. Ut enim ad minim veniam, quis nostrud exercitation ullamco laboris nisi ut aliquip ex ea commodo consequat.</a:t>
            </a:r>
          </a:p>
        </p:txBody>
      </p:sp>
      <p:sp>
        <p:nvSpPr>
          <p:cNvPr name="TextBox 27" id="27"/>
          <p:cNvSpPr txBox="true"/>
          <p:nvPr/>
        </p:nvSpPr>
        <p:spPr>
          <a:xfrm rot="0">
            <a:off x="1917393" y="6417507"/>
            <a:ext cx="1037878" cy="786893"/>
          </a:xfrm>
          <a:prstGeom prst="rect">
            <a:avLst/>
          </a:prstGeom>
        </p:spPr>
        <p:txBody>
          <a:bodyPr anchor="t" rtlCol="false" tIns="0" lIns="0" bIns="0" rIns="0">
            <a:spAutoFit/>
          </a:bodyPr>
          <a:lstStyle/>
          <a:p>
            <a:pPr algn="l">
              <a:lnSpc>
                <a:spcPts val="5501"/>
              </a:lnSpc>
            </a:pPr>
            <a:r>
              <a:rPr lang="en-US" b="true" sz="6628">
                <a:solidFill>
                  <a:srgbClr val="CB43D6"/>
                </a:solidFill>
                <a:latin typeface="TT Chocolates Bold"/>
                <a:ea typeface="TT Chocolates Bold"/>
                <a:cs typeface="TT Chocolates Bold"/>
                <a:sym typeface="TT Chocolates Bold"/>
              </a:rPr>
              <a:t>VS</a:t>
            </a:r>
          </a:p>
        </p:txBody>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10D1B">
                <a:alpha val="100000"/>
              </a:srgbClr>
            </a:gs>
            <a:gs pos="100000">
              <a:srgbClr val="041E3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5451493" y="5719318"/>
            <a:ext cx="6465224" cy="6465224"/>
          </a:xfrm>
          <a:custGeom>
            <a:avLst/>
            <a:gdLst/>
            <a:ahLst/>
            <a:cxnLst/>
            <a:rect r="r" b="b" t="t" l="l"/>
            <a:pathLst>
              <a:path h="6465224" w="6465224">
                <a:moveTo>
                  <a:pt x="0" y="0"/>
                </a:moveTo>
                <a:lnTo>
                  <a:pt x="6465224" y="0"/>
                </a:lnTo>
                <a:lnTo>
                  <a:pt x="6465224" y="6465224"/>
                </a:lnTo>
                <a:lnTo>
                  <a:pt x="0" y="6465224"/>
                </a:lnTo>
                <a:lnTo>
                  <a:pt x="0" y="0"/>
                </a:lnTo>
                <a:close/>
              </a:path>
            </a:pathLst>
          </a:custGeom>
          <a:blipFill>
            <a:blip r:embed="rId2">
              <a:alphaModFix amt="61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635971" y="-2203912"/>
            <a:ext cx="6465224" cy="6465224"/>
          </a:xfrm>
          <a:custGeom>
            <a:avLst/>
            <a:gdLst/>
            <a:ahLst/>
            <a:cxnLst/>
            <a:rect r="r" b="b" t="t" l="l"/>
            <a:pathLst>
              <a:path h="6465224" w="6465224">
                <a:moveTo>
                  <a:pt x="0" y="0"/>
                </a:moveTo>
                <a:lnTo>
                  <a:pt x="6465224" y="0"/>
                </a:lnTo>
                <a:lnTo>
                  <a:pt x="6465224" y="6465224"/>
                </a:lnTo>
                <a:lnTo>
                  <a:pt x="0" y="6465224"/>
                </a:lnTo>
                <a:lnTo>
                  <a:pt x="0" y="0"/>
                </a:lnTo>
                <a:close/>
              </a:path>
            </a:pathLst>
          </a:custGeom>
          <a:blipFill>
            <a:blip r:embed="rId2">
              <a:alphaModFix amt="61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432250" y="7057997"/>
            <a:ext cx="5973819" cy="5800035"/>
          </a:xfrm>
          <a:custGeom>
            <a:avLst/>
            <a:gdLst/>
            <a:ahLst/>
            <a:cxnLst/>
            <a:rect r="r" b="b" t="t" l="l"/>
            <a:pathLst>
              <a:path h="5800035" w="5973819">
                <a:moveTo>
                  <a:pt x="0" y="0"/>
                </a:moveTo>
                <a:lnTo>
                  <a:pt x="5973819" y="0"/>
                </a:lnTo>
                <a:lnTo>
                  <a:pt x="5973819" y="5800035"/>
                </a:lnTo>
                <a:lnTo>
                  <a:pt x="0" y="5800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746431" y="-2571032"/>
            <a:ext cx="5973819" cy="5800035"/>
          </a:xfrm>
          <a:custGeom>
            <a:avLst/>
            <a:gdLst/>
            <a:ahLst/>
            <a:cxnLst/>
            <a:rect r="r" b="b" t="t" l="l"/>
            <a:pathLst>
              <a:path h="5800035" w="5973819">
                <a:moveTo>
                  <a:pt x="0" y="0"/>
                </a:moveTo>
                <a:lnTo>
                  <a:pt x="5973819" y="0"/>
                </a:lnTo>
                <a:lnTo>
                  <a:pt x="5973819" y="5800035"/>
                </a:lnTo>
                <a:lnTo>
                  <a:pt x="0" y="58000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741592" y="609495"/>
            <a:ext cx="16804816" cy="1056926"/>
            <a:chOff x="0" y="0"/>
            <a:chExt cx="8145755" cy="512321"/>
          </a:xfrm>
        </p:grpSpPr>
        <p:sp>
          <p:nvSpPr>
            <p:cNvPr name="Freeform 7" id="7"/>
            <p:cNvSpPr/>
            <p:nvPr/>
          </p:nvSpPr>
          <p:spPr>
            <a:xfrm flipH="false" flipV="false" rot="0">
              <a:off x="0" y="0"/>
              <a:ext cx="8145755" cy="512321"/>
            </a:xfrm>
            <a:custGeom>
              <a:avLst/>
              <a:gdLst/>
              <a:ahLst/>
              <a:cxnLst/>
              <a:rect r="r" b="b" t="t" l="l"/>
              <a:pathLst>
                <a:path h="512321" w="8145755">
                  <a:moveTo>
                    <a:pt x="7942555" y="0"/>
                  </a:moveTo>
                  <a:cubicBezTo>
                    <a:pt x="8054779" y="0"/>
                    <a:pt x="8145755" y="114687"/>
                    <a:pt x="8145755" y="256160"/>
                  </a:cubicBezTo>
                  <a:cubicBezTo>
                    <a:pt x="8145755" y="397634"/>
                    <a:pt x="8054779" y="512321"/>
                    <a:pt x="7942555" y="512321"/>
                  </a:cubicBezTo>
                  <a:lnTo>
                    <a:pt x="203200" y="512321"/>
                  </a:lnTo>
                  <a:cubicBezTo>
                    <a:pt x="90976" y="512321"/>
                    <a:pt x="0" y="397634"/>
                    <a:pt x="0" y="256160"/>
                  </a:cubicBezTo>
                  <a:cubicBezTo>
                    <a:pt x="0" y="114687"/>
                    <a:pt x="90976" y="0"/>
                    <a:pt x="203200" y="0"/>
                  </a:cubicBezTo>
                  <a:close/>
                </a:path>
              </a:pathLst>
            </a:custGeom>
            <a:gradFill rotWithShape="true">
              <a:gsLst>
                <a:gs pos="0">
                  <a:srgbClr val="004AAD">
                    <a:alpha val="100000"/>
                  </a:srgbClr>
                </a:gs>
                <a:gs pos="100000">
                  <a:srgbClr val="CB6CE6">
                    <a:alpha val="100000"/>
                  </a:srgbClr>
                </a:gs>
              </a:gsLst>
              <a:lin ang="0"/>
            </a:gradFill>
          </p:spPr>
        </p:sp>
        <p:sp>
          <p:nvSpPr>
            <p:cNvPr name="TextBox 8" id="8"/>
            <p:cNvSpPr txBox="true"/>
            <p:nvPr/>
          </p:nvSpPr>
          <p:spPr>
            <a:xfrm>
              <a:off x="0" y="57150"/>
              <a:ext cx="8145755" cy="455171"/>
            </a:xfrm>
            <a:prstGeom prst="rect">
              <a:avLst/>
            </a:prstGeom>
          </p:spPr>
          <p:txBody>
            <a:bodyPr anchor="ctr" rtlCol="false" tIns="50800" lIns="50800" bIns="50800" rIns="50800"/>
            <a:lstStyle/>
            <a:p>
              <a:pPr algn="ctr">
                <a:lnSpc>
                  <a:spcPts val="1660"/>
                </a:lnSpc>
              </a:pPr>
            </a:p>
          </p:txBody>
        </p:sp>
      </p:grpSp>
      <p:grpSp>
        <p:nvGrpSpPr>
          <p:cNvPr name="Group 9" id="9"/>
          <p:cNvGrpSpPr/>
          <p:nvPr/>
        </p:nvGrpSpPr>
        <p:grpSpPr>
          <a:xfrm rot="0">
            <a:off x="1028700" y="5553075"/>
            <a:ext cx="16230600" cy="3705225"/>
            <a:chOff x="0" y="0"/>
            <a:chExt cx="6612936" cy="1509643"/>
          </a:xfrm>
        </p:grpSpPr>
        <p:sp>
          <p:nvSpPr>
            <p:cNvPr name="Freeform 10" id="10"/>
            <p:cNvSpPr/>
            <p:nvPr/>
          </p:nvSpPr>
          <p:spPr>
            <a:xfrm flipH="false" flipV="false" rot="0">
              <a:off x="0" y="0"/>
              <a:ext cx="6612936" cy="1509643"/>
            </a:xfrm>
            <a:custGeom>
              <a:avLst/>
              <a:gdLst/>
              <a:ahLst/>
              <a:cxnLst/>
              <a:rect r="r" b="b" t="t" l="l"/>
              <a:pathLst>
                <a:path h="1509643" w="6612936">
                  <a:moveTo>
                    <a:pt x="10971" y="0"/>
                  </a:moveTo>
                  <a:lnTo>
                    <a:pt x="6601965" y="0"/>
                  </a:lnTo>
                  <a:cubicBezTo>
                    <a:pt x="6608024" y="0"/>
                    <a:pt x="6612936" y="4912"/>
                    <a:pt x="6612936" y="10971"/>
                  </a:cubicBezTo>
                  <a:lnTo>
                    <a:pt x="6612936" y="1498672"/>
                  </a:lnTo>
                  <a:cubicBezTo>
                    <a:pt x="6612936" y="1504732"/>
                    <a:pt x="6608024" y="1509643"/>
                    <a:pt x="6601965" y="1509643"/>
                  </a:cubicBezTo>
                  <a:lnTo>
                    <a:pt x="10971" y="1509643"/>
                  </a:lnTo>
                  <a:cubicBezTo>
                    <a:pt x="4912" y="1509643"/>
                    <a:pt x="0" y="1504732"/>
                    <a:pt x="0" y="1498672"/>
                  </a:cubicBezTo>
                  <a:lnTo>
                    <a:pt x="0" y="10971"/>
                  </a:lnTo>
                  <a:cubicBezTo>
                    <a:pt x="0" y="4912"/>
                    <a:pt x="4912" y="0"/>
                    <a:pt x="10971" y="0"/>
                  </a:cubicBezTo>
                  <a:close/>
                </a:path>
              </a:pathLst>
            </a:custGeom>
            <a:blipFill>
              <a:blip r:embed="rId8"/>
              <a:stretch>
                <a:fillRect l="0" t="-63472" r="0" b="-128375"/>
              </a:stretch>
            </a:blipFill>
          </p:spPr>
        </p:sp>
      </p:grpSp>
      <p:grpSp>
        <p:nvGrpSpPr>
          <p:cNvPr name="Group 11" id="11"/>
          <p:cNvGrpSpPr/>
          <p:nvPr/>
        </p:nvGrpSpPr>
        <p:grpSpPr>
          <a:xfrm rot="0">
            <a:off x="-785140" y="2216285"/>
            <a:ext cx="1570279" cy="157027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B40D1">
                    <a:alpha val="100000"/>
                  </a:srgbClr>
                </a:gs>
                <a:gs pos="100000">
                  <a:srgbClr val="FC35A5">
                    <a:alpha val="100000"/>
                  </a:srgbClr>
                </a:gs>
              </a:gsLst>
              <a:lin ang="2700000"/>
            </a:gradFill>
          </p:spPr>
        </p:sp>
        <p:sp>
          <p:nvSpPr>
            <p:cNvPr name="TextBox 13" id="13"/>
            <p:cNvSpPr txBox="true"/>
            <p:nvPr/>
          </p:nvSpPr>
          <p:spPr>
            <a:xfrm>
              <a:off x="76200" y="133350"/>
              <a:ext cx="660400" cy="603250"/>
            </a:xfrm>
            <a:prstGeom prst="rect">
              <a:avLst/>
            </a:prstGeom>
          </p:spPr>
          <p:txBody>
            <a:bodyPr anchor="ctr" rtlCol="false" tIns="50800" lIns="50800" bIns="50800" rIns="50800"/>
            <a:lstStyle/>
            <a:p>
              <a:pPr algn="ctr">
                <a:lnSpc>
                  <a:spcPts val="1660"/>
                </a:lnSpc>
              </a:pPr>
            </a:p>
          </p:txBody>
        </p:sp>
      </p:grpSp>
      <p:grpSp>
        <p:nvGrpSpPr>
          <p:cNvPr name="Group 14" id="14"/>
          <p:cNvGrpSpPr/>
          <p:nvPr/>
        </p:nvGrpSpPr>
        <p:grpSpPr>
          <a:xfrm rot="0">
            <a:off x="17259300" y="8951930"/>
            <a:ext cx="1570279" cy="157027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B40D1">
                    <a:alpha val="100000"/>
                  </a:srgbClr>
                </a:gs>
                <a:gs pos="100000">
                  <a:srgbClr val="FC35A5">
                    <a:alpha val="100000"/>
                  </a:srgbClr>
                </a:gs>
              </a:gsLst>
              <a:lin ang="2700000"/>
            </a:gradFill>
          </p:spPr>
        </p:sp>
        <p:sp>
          <p:nvSpPr>
            <p:cNvPr name="TextBox 16" id="16"/>
            <p:cNvSpPr txBox="true"/>
            <p:nvPr/>
          </p:nvSpPr>
          <p:spPr>
            <a:xfrm>
              <a:off x="76200" y="133350"/>
              <a:ext cx="660400" cy="603250"/>
            </a:xfrm>
            <a:prstGeom prst="rect">
              <a:avLst/>
            </a:prstGeom>
          </p:spPr>
          <p:txBody>
            <a:bodyPr anchor="ctr" rtlCol="false" tIns="50800" lIns="50800" bIns="50800" rIns="50800"/>
            <a:lstStyle/>
            <a:p>
              <a:pPr algn="ctr">
                <a:lnSpc>
                  <a:spcPts val="1660"/>
                </a:lnSpc>
              </a:pPr>
            </a:p>
          </p:txBody>
        </p:sp>
      </p:grpSp>
      <p:sp>
        <p:nvSpPr>
          <p:cNvPr name="TextBox 17" id="17"/>
          <p:cNvSpPr txBox="true"/>
          <p:nvPr/>
        </p:nvSpPr>
        <p:spPr>
          <a:xfrm rot="0">
            <a:off x="5086350" y="797598"/>
            <a:ext cx="8115300" cy="947421"/>
          </a:xfrm>
          <a:prstGeom prst="rect">
            <a:avLst/>
          </a:prstGeom>
        </p:spPr>
        <p:txBody>
          <a:bodyPr anchor="t" rtlCol="false" tIns="0" lIns="0" bIns="0" rIns="0">
            <a:spAutoFit/>
          </a:bodyPr>
          <a:lstStyle/>
          <a:p>
            <a:pPr algn="ctr">
              <a:lnSpc>
                <a:spcPts val="6640"/>
              </a:lnSpc>
            </a:pPr>
            <a:r>
              <a:rPr lang="en-US" b="true" sz="8000">
                <a:solidFill>
                  <a:srgbClr val="E93CB0"/>
                </a:solidFill>
                <a:latin typeface="TT Chocolates Bold"/>
                <a:ea typeface="TT Chocolates Bold"/>
                <a:cs typeface="TT Chocolates Bold"/>
                <a:sym typeface="TT Chocolates Bold"/>
              </a:rPr>
              <a:t>Conclusion</a:t>
            </a:r>
          </a:p>
        </p:txBody>
      </p:sp>
      <p:sp>
        <p:nvSpPr>
          <p:cNvPr name="TextBox 18" id="18"/>
          <p:cNvSpPr txBox="true"/>
          <p:nvPr/>
        </p:nvSpPr>
        <p:spPr>
          <a:xfrm rot="0">
            <a:off x="1028700" y="2664685"/>
            <a:ext cx="15475233" cy="2647707"/>
          </a:xfrm>
          <a:prstGeom prst="rect">
            <a:avLst/>
          </a:prstGeom>
        </p:spPr>
        <p:txBody>
          <a:bodyPr anchor="t" rtlCol="false" tIns="0" lIns="0" bIns="0" rIns="0">
            <a:spAutoFit/>
          </a:bodyPr>
          <a:lstStyle/>
          <a:p>
            <a:pPr algn="ctr" marL="0" indent="0" lvl="0">
              <a:lnSpc>
                <a:spcPts val="3498"/>
              </a:lnSpc>
            </a:pPr>
            <a:r>
              <a:rPr lang="en-US" sz="3180">
                <a:solidFill>
                  <a:srgbClr val="FFFBF7"/>
                </a:solidFill>
                <a:latin typeface="TT Chocolates"/>
                <a:ea typeface="TT Chocolates"/>
                <a:cs typeface="TT Chocolates"/>
                <a:sym typeface="TT Chocolates"/>
              </a:rPr>
              <a:t>En conclusion, ce projet a permis de transformer un serveur web vulnér</a:t>
            </a:r>
            <a:r>
              <a:rPr lang="en-US" sz="3180">
                <a:solidFill>
                  <a:srgbClr val="FFFBF7"/>
                </a:solidFill>
                <a:latin typeface="TT Chocolates"/>
                <a:ea typeface="TT Chocolates"/>
                <a:cs typeface="TT Chocolates"/>
                <a:sym typeface="TT Chocolates"/>
              </a:rPr>
              <a:t>able en un serveur sécurisé en suivant une méthodologie en sept étapes, allant de la mise en place de l’environnement à l’audit post-durcissement. Chaque phase a contribué à identifier les vulnérabilités, réduire les risques et renforcer la sécurité, tout en garantissant un fonctionnement fiable du serveur. Cette démarche illustre l’importance d’une approche structurée et progressive pour assurer la sécurité des systèmes web.</a:t>
            </a:r>
          </a:p>
        </p:txBody>
      </p:sp>
    </p:spTree>
  </p:cSld>
  <p:clrMapOvr>
    <a:masterClrMapping/>
  </p:clrMapOvr>
  <p:transition spd="slow">
    <p:cover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41E3D">
                <a:alpha val="100000"/>
              </a:srgbClr>
            </a:gs>
            <a:gs pos="100000">
              <a:srgbClr val="010D1B">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2008424" y="-1508006"/>
            <a:ext cx="13805202" cy="13805202"/>
          </a:xfrm>
          <a:custGeom>
            <a:avLst/>
            <a:gdLst/>
            <a:ahLst/>
            <a:cxnLst/>
            <a:rect r="r" b="b" t="t" l="l"/>
            <a:pathLst>
              <a:path h="13805202" w="13805202">
                <a:moveTo>
                  <a:pt x="0" y="0"/>
                </a:moveTo>
                <a:lnTo>
                  <a:pt x="13805203" y="0"/>
                </a:lnTo>
                <a:lnTo>
                  <a:pt x="13805203" y="13805202"/>
                </a:lnTo>
                <a:lnTo>
                  <a:pt x="0" y="13805202"/>
                </a:lnTo>
                <a:lnTo>
                  <a:pt x="0" y="0"/>
                </a:lnTo>
                <a:close/>
              </a:path>
            </a:pathLst>
          </a:custGeom>
          <a:blipFill>
            <a:blip r:embed="rId2">
              <a:alphaModFix amt="37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774594" y="6745007"/>
            <a:ext cx="6465224" cy="6465224"/>
          </a:xfrm>
          <a:custGeom>
            <a:avLst/>
            <a:gdLst/>
            <a:ahLst/>
            <a:cxnLst/>
            <a:rect r="r" b="b" t="t" l="l"/>
            <a:pathLst>
              <a:path h="6465224" w="6465224">
                <a:moveTo>
                  <a:pt x="0" y="0"/>
                </a:moveTo>
                <a:lnTo>
                  <a:pt x="6465225" y="0"/>
                </a:lnTo>
                <a:lnTo>
                  <a:pt x="6465225" y="6465224"/>
                </a:lnTo>
                <a:lnTo>
                  <a:pt x="0" y="6465224"/>
                </a:lnTo>
                <a:lnTo>
                  <a:pt x="0" y="0"/>
                </a:lnTo>
                <a:close/>
              </a:path>
            </a:pathLst>
          </a:custGeom>
          <a:blipFill>
            <a:blip r:embed="rId2">
              <a:alphaModFix amt="61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7546408" y="-4079555"/>
            <a:ext cx="5973819" cy="5800035"/>
          </a:xfrm>
          <a:custGeom>
            <a:avLst/>
            <a:gdLst/>
            <a:ahLst/>
            <a:cxnLst/>
            <a:rect r="r" b="b" t="t" l="l"/>
            <a:pathLst>
              <a:path h="5800035" w="5973819">
                <a:moveTo>
                  <a:pt x="0" y="0"/>
                </a:moveTo>
                <a:lnTo>
                  <a:pt x="5973819" y="0"/>
                </a:lnTo>
                <a:lnTo>
                  <a:pt x="5973819" y="5800035"/>
                </a:lnTo>
                <a:lnTo>
                  <a:pt x="0" y="58000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578766" y="5394595"/>
            <a:ext cx="5973819" cy="5800035"/>
          </a:xfrm>
          <a:custGeom>
            <a:avLst/>
            <a:gdLst/>
            <a:ahLst/>
            <a:cxnLst/>
            <a:rect r="r" b="b" t="t" l="l"/>
            <a:pathLst>
              <a:path h="5800035" w="5973819">
                <a:moveTo>
                  <a:pt x="0" y="0"/>
                </a:moveTo>
                <a:lnTo>
                  <a:pt x="5973819" y="0"/>
                </a:lnTo>
                <a:lnTo>
                  <a:pt x="5973819" y="5800035"/>
                </a:lnTo>
                <a:lnTo>
                  <a:pt x="0" y="580003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649962" y="1985749"/>
            <a:ext cx="12937114" cy="7506127"/>
          </a:xfrm>
          <a:prstGeom prst="rect">
            <a:avLst/>
          </a:prstGeom>
        </p:spPr>
        <p:txBody>
          <a:bodyPr anchor="t" rtlCol="false" tIns="0" lIns="0" bIns="0" rIns="0">
            <a:spAutoFit/>
          </a:bodyPr>
          <a:lstStyle/>
          <a:p>
            <a:pPr algn="l" marL="0" indent="0" lvl="0">
              <a:lnSpc>
                <a:spcPts val="28144"/>
              </a:lnSpc>
            </a:pPr>
            <a:r>
              <a:rPr lang="en-US" b="true" sz="33909">
                <a:solidFill>
                  <a:srgbClr val="E93CB0"/>
                </a:solidFill>
                <a:latin typeface="TT Chocolates Bold"/>
                <a:ea typeface="TT Chocolates Bold"/>
                <a:cs typeface="TT Chocolates Bold"/>
                <a:sym typeface="TT Chocolates Bold"/>
              </a:rPr>
              <a:t>Thank You!</a:t>
            </a:r>
          </a:p>
        </p:txBody>
      </p:sp>
      <p:grpSp>
        <p:nvGrpSpPr>
          <p:cNvPr name="Group 7" id="7"/>
          <p:cNvGrpSpPr/>
          <p:nvPr/>
        </p:nvGrpSpPr>
        <p:grpSpPr>
          <a:xfrm rot="0">
            <a:off x="-1083832" y="7094541"/>
            <a:ext cx="2057324" cy="2057324"/>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B40D1">
                    <a:alpha val="100000"/>
                  </a:srgbClr>
                </a:gs>
                <a:gs pos="100000">
                  <a:srgbClr val="FC35A5">
                    <a:alpha val="100000"/>
                  </a:srgbClr>
                </a:gs>
              </a:gsLst>
              <a:lin ang="2700000"/>
            </a:gradFill>
          </p:spPr>
        </p:sp>
        <p:sp>
          <p:nvSpPr>
            <p:cNvPr name="TextBox 9" id="9"/>
            <p:cNvSpPr txBox="true"/>
            <p:nvPr/>
          </p:nvSpPr>
          <p:spPr>
            <a:xfrm>
              <a:off x="76200" y="133350"/>
              <a:ext cx="660400" cy="603250"/>
            </a:xfrm>
            <a:prstGeom prst="rect">
              <a:avLst/>
            </a:prstGeom>
          </p:spPr>
          <p:txBody>
            <a:bodyPr anchor="ctr" rtlCol="false" tIns="50800" lIns="50800" bIns="50800" rIns="50800"/>
            <a:lstStyle/>
            <a:p>
              <a:pPr algn="ctr">
                <a:lnSpc>
                  <a:spcPts val="1660"/>
                </a:lnSpc>
              </a:pPr>
            </a:p>
          </p:txBody>
        </p:sp>
      </p:grpSp>
      <p:grpSp>
        <p:nvGrpSpPr>
          <p:cNvPr name="Group 10" id="10"/>
          <p:cNvGrpSpPr/>
          <p:nvPr/>
        </p:nvGrpSpPr>
        <p:grpSpPr>
          <a:xfrm rot="0">
            <a:off x="16903075" y="-336844"/>
            <a:ext cx="2057324" cy="205732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B40D1">
                    <a:alpha val="100000"/>
                  </a:srgbClr>
                </a:gs>
                <a:gs pos="100000">
                  <a:srgbClr val="FC35A5">
                    <a:alpha val="100000"/>
                  </a:srgbClr>
                </a:gs>
              </a:gsLst>
              <a:lin ang="2700000"/>
            </a:gradFill>
          </p:spPr>
        </p:sp>
        <p:sp>
          <p:nvSpPr>
            <p:cNvPr name="TextBox 12" id="12"/>
            <p:cNvSpPr txBox="true"/>
            <p:nvPr/>
          </p:nvSpPr>
          <p:spPr>
            <a:xfrm>
              <a:off x="76200" y="133350"/>
              <a:ext cx="660400" cy="603250"/>
            </a:xfrm>
            <a:prstGeom prst="rect">
              <a:avLst/>
            </a:prstGeom>
          </p:spPr>
          <p:txBody>
            <a:bodyPr anchor="ctr" rtlCol="false" tIns="50800" lIns="50800" bIns="50800" rIns="50800"/>
            <a:lstStyle/>
            <a:p>
              <a:pPr algn="ctr">
                <a:lnSpc>
                  <a:spcPts val="1660"/>
                </a:lnSpc>
              </a:pPr>
            </a:p>
          </p:txBody>
        </p:sp>
      </p:gr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DAG8VyGbfOs</dc:identifier>
  <dcterms:modified xsi:type="dcterms:W3CDTF">2011-08-01T06:04:30Z</dcterms:modified>
  <cp:revision>1</cp:revision>
  <dc:title>serveur web</dc:title>
</cp:coreProperties>
</file>